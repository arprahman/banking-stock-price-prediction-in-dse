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9" r:id="rId1"/>
  </p:sldMasterIdLst>
  <p:notesMasterIdLst>
    <p:notesMasterId r:id="rId31"/>
  </p:notesMasterIdLst>
  <p:sldIdLst>
    <p:sldId id="256" r:id="rId2"/>
    <p:sldId id="264" r:id="rId3"/>
    <p:sldId id="280" r:id="rId4"/>
    <p:sldId id="293" r:id="rId5"/>
    <p:sldId id="296" r:id="rId6"/>
    <p:sldId id="308" r:id="rId7"/>
    <p:sldId id="309" r:id="rId8"/>
    <p:sldId id="310" r:id="rId9"/>
    <p:sldId id="312" r:id="rId10"/>
    <p:sldId id="311" r:id="rId11"/>
    <p:sldId id="294" r:id="rId12"/>
    <p:sldId id="313" r:id="rId13"/>
    <p:sldId id="316" r:id="rId14"/>
    <p:sldId id="314" r:id="rId15"/>
    <p:sldId id="315" r:id="rId16"/>
    <p:sldId id="320" r:id="rId17"/>
    <p:sldId id="298" r:id="rId18"/>
    <p:sldId id="319" r:id="rId19"/>
    <p:sldId id="306" r:id="rId20"/>
    <p:sldId id="321" r:id="rId21"/>
    <p:sldId id="322" r:id="rId22"/>
    <p:sldId id="300" r:id="rId23"/>
    <p:sldId id="305" r:id="rId24"/>
    <p:sldId id="291" r:id="rId25"/>
    <p:sldId id="299" r:id="rId26"/>
    <p:sldId id="323" r:id="rId27"/>
    <p:sldId id="324" r:id="rId28"/>
    <p:sldId id="325" r:id="rId29"/>
    <p:sldId id="295" r:id="rId30"/>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F81BD"/>
    <a:srgbClr val="215968"/>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p:cViewPr varScale="1">
        <p:scale>
          <a:sx n="78" d="100"/>
          <a:sy n="78" d="100"/>
        </p:scale>
        <p:origin x="869" y="62"/>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0F2D6876-F133-46D3-95E2-A34AD9BDC8CB}" type="datetimeFigureOut">
              <a:rPr lang="en-US"/>
              <a:pPr>
                <a:defRPr/>
              </a:pPr>
              <a:t>5/9/2026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1DA40400-4F5E-4E00-9BB5-F457594CE77A}" type="slidenum">
              <a:rPr lang="en-US"/>
              <a:pPr>
                <a:defRPr/>
              </a:pPr>
              <a:t>‹#›</a:t>
            </a:fld>
            <a:endParaRPr lang="en-US"/>
          </a:p>
        </p:txBody>
      </p:sp>
    </p:spTree>
    <p:extLst>
      <p:ext uri="{BB962C8B-B14F-4D97-AF65-F5344CB8AC3E}">
        <p14:creationId xmlns:p14="http://schemas.microsoft.com/office/powerpoint/2010/main" val="313356421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DA40400-4F5E-4E00-9BB5-F457594CE77A}" type="slidenum">
              <a:rPr lang="en-US" smtClean="0"/>
              <a:pPr>
                <a:defRPr/>
              </a:pPr>
              <a:t>6</a:t>
            </a:fld>
            <a:endParaRPr lang="en-US"/>
          </a:p>
        </p:txBody>
      </p:sp>
    </p:spTree>
    <p:extLst>
      <p:ext uri="{BB962C8B-B14F-4D97-AF65-F5344CB8AC3E}">
        <p14:creationId xmlns:p14="http://schemas.microsoft.com/office/powerpoint/2010/main" val="1303898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59F82-CA1F-8B1C-09AE-0E5BFE9087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898CCE-035C-F363-5268-80753DFAE2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AD3F65-D2CA-FCF2-6581-6126D89AFD8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5F6860-E2C3-7070-BA9E-D4F579F9B419}"/>
              </a:ext>
            </a:extLst>
          </p:cNvPr>
          <p:cNvSpPr>
            <a:spLocks noGrp="1"/>
          </p:cNvSpPr>
          <p:nvPr>
            <p:ph type="sldNum" sz="quarter" idx="5"/>
          </p:nvPr>
        </p:nvSpPr>
        <p:spPr/>
        <p:txBody>
          <a:bodyPr/>
          <a:lstStyle/>
          <a:p>
            <a:pPr>
              <a:defRPr/>
            </a:pPr>
            <a:fld id="{1DA40400-4F5E-4E00-9BB5-F457594CE77A}" type="slidenum">
              <a:rPr lang="en-US" smtClean="0"/>
              <a:pPr>
                <a:defRPr/>
              </a:pPr>
              <a:t>8</a:t>
            </a:fld>
            <a:endParaRPr lang="en-US"/>
          </a:p>
        </p:txBody>
      </p:sp>
    </p:spTree>
    <p:extLst>
      <p:ext uri="{BB962C8B-B14F-4D97-AF65-F5344CB8AC3E}">
        <p14:creationId xmlns:p14="http://schemas.microsoft.com/office/powerpoint/2010/main" val="1576439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F3AB5-0462-5268-E7F9-CA393D9043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48EE7F-BF27-C7C5-B28F-BBCC7040BA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6AB949-37DC-09B3-889C-8518F49B7F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6953FCA-27B8-ED90-926F-92345A1AB815}"/>
              </a:ext>
            </a:extLst>
          </p:cNvPr>
          <p:cNvSpPr>
            <a:spLocks noGrp="1"/>
          </p:cNvSpPr>
          <p:nvPr>
            <p:ph type="sldNum" sz="quarter" idx="5"/>
          </p:nvPr>
        </p:nvSpPr>
        <p:spPr/>
        <p:txBody>
          <a:bodyPr/>
          <a:lstStyle/>
          <a:p>
            <a:pPr>
              <a:defRPr/>
            </a:pPr>
            <a:fld id="{1DA40400-4F5E-4E00-9BB5-F457594CE77A}" type="slidenum">
              <a:rPr lang="en-US" smtClean="0"/>
              <a:pPr>
                <a:defRPr/>
              </a:pPr>
              <a:t>9</a:t>
            </a:fld>
            <a:endParaRPr lang="en-US"/>
          </a:p>
        </p:txBody>
      </p:sp>
    </p:spTree>
    <p:extLst>
      <p:ext uri="{BB962C8B-B14F-4D97-AF65-F5344CB8AC3E}">
        <p14:creationId xmlns:p14="http://schemas.microsoft.com/office/powerpoint/2010/main" val="18464272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5A823-AB60-766E-3FBB-4E3AF7C81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11FC51-DB1D-61C8-68B9-9C0DE519AC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D4256B-5624-CF11-328D-62FCD90F18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D2A424-E368-51EA-C641-126CD91A51F0}"/>
              </a:ext>
            </a:extLst>
          </p:cNvPr>
          <p:cNvSpPr>
            <a:spLocks noGrp="1"/>
          </p:cNvSpPr>
          <p:nvPr>
            <p:ph type="sldNum" sz="quarter" idx="5"/>
          </p:nvPr>
        </p:nvSpPr>
        <p:spPr/>
        <p:txBody>
          <a:bodyPr/>
          <a:lstStyle/>
          <a:p>
            <a:pPr>
              <a:defRPr/>
            </a:pPr>
            <a:fld id="{1DA40400-4F5E-4E00-9BB5-F457594CE77A}" type="slidenum">
              <a:rPr lang="en-US" smtClean="0"/>
              <a:pPr>
                <a:defRPr/>
              </a:pPr>
              <a:t>10</a:t>
            </a:fld>
            <a:endParaRPr lang="en-US"/>
          </a:p>
        </p:txBody>
      </p:sp>
    </p:spTree>
    <p:extLst>
      <p:ext uri="{BB962C8B-B14F-4D97-AF65-F5344CB8AC3E}">
        <p14:creationId xmlns:p14="http://schemas.microsoft.com/office/powerpoint/2010/main" val="42647730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DA40400-4F5E-4E00-9BB5-F457594CE77A}" type="slidenum">
              <a:rPr lang="en-US" smtClean="0"/>
              <a:pPr>
                <a:defRPr/>
              </a:pPr>
              <a:t>26</a:t>
            </a:fld>
            <a:endParaRPr lang="en-US"/>
          </a:p>
        </p:txBody>
      </p:sp>
    </p:spTree>
    <p:extLst>
      <p:ext uri="{BB962C8B-B14F-4D97-AF65-F5344CB8AC3E}">
        <p14:creationId xmlns:p14="http://schemas.microsoft.com/office/powerpoint/2010/main" val="16860579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5/9/2026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5/9/2026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5/9/2026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5/9/2026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fld id="{875161A3-B757-4210-8554-6B2250A4A5D7}" type="datetime1">
              <a:rPr lang="en-US" smtClean="0"/>
              <a:pPr>
                <a:defRPr/>
              </a:pPr>
              <a:t>5/9/2026</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fld id="{875161A3-B757-4210-8554-6B2250A4A5D7}" type="datetime1">
              <a:rPr lang="en-US" smtClean="0"/>
              <a:pPr>
                <a:defRPr/>
              </a:pPr>
              <a:t>5/9/2026</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875161A3-B757-4210-8554-6B2250A4A5D7}" type="datetime1">
              <a:rPr lang="en-US" smtClean="0"/>
              <a:pPr>
                <a:defRPr/>
              </a:pPr>
              <a:t>5/9/2026</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5/9/2026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875161A3-B757-4210-8554-6B2250A4A5D7}" type="datetime1">
              <a:rPr lang="en-US" smtClean="0"/>
              <a:pPr>
                <a:defRPr/>
              </a:pPr>
              <a:t>5/9/2026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5/9/2026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fld id="{875161A3-B757-4210-8554-6B2250A4A5D7}" type="datetime1">
              <a:rPr lang="en-US" smtClean="0"/>
              <a:pPr>
                <a:defRPr/>
              </a:pPr>
              <a:t>5/9/2026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3201EAB7-4B8F-4B70-B0ED-2782ACD77B02}" type="slidenum">
              <a:rPr lang="en-US" smtClean="0"/>
              <a:pPr>
                <a:defRPr/>
              </a:pPr>
              <a:t>‹#›</a:t>
            </a:fld>
            <a:endParaRPr 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6" name="Rectangle 5"/>
          <p:cNvSpPr/>
          <p:nvPr/>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p:txBody>
          <a:bodyPr/>
          <a:lstStyle>
            <a:lvl1pPr>
              <a:defRPr b="1">
                <a:solidFill>
                  <a:schemeClr val="accent1">
                    <a:lumMod val="75000"/>
                  </a:schemeClr>
                </a:solidFill>
              </a:defRPr>
            </a:lvl1pPr>
          </a:lstStyle>
          <a:p>
            <a:r>
              <a:rPr lang="en-US"/>
              <a:t>Click to edit Master title style</a:t>
            </a:r>
            <a:endParaRPr lang="en-US" dirty="0"/>
          </a:p>
        </p:txBody>
      </p:sp>
      <p:sp>
        <p:nvSpPr>
          <p:cNvPr id="9" name="Content Placeholder 8"/>
          <p:cNvSpPr>
            <a:spLocks noGrp="1"/>
          </p:cNvSpPr>
          <p:nvPr>
            <p:ph sz="quarter" idx="13"/>
          </p:nvPr>
        </p:nvSpPr>
        <p:spPr>
          <a:xfrm>
            <a:off x="609600" y="1676400"/>
            <a:ext cx="10972800" cy="3962400"/>
          </a:xfrm>
        </p:spPr>
        <p:txBody>
          <a:bodyPr/>
          <a:lstStyle>
            <a:lvl1pPr>
              <a:defRPr>
                <a:solidFill>
                  <a:schemeClr val="accent1">
                    <a:lumMod val="75000"/>
                  </a:schemeClr>
                </a:solidFill>
              </a:defRPr>
            </a:lvl1pPr>
            <a:lvl2pPr>
              <a:defRPr>
                <a:solidFill>
                  <a:schemeClr val="accent5">
                    <a:lumMod val="75000"/>
                  </a:schemeClr>
                </a:solidFill>
              </a:defRPr>
            </a:lvl2pPr>
            <a:lvl3pPr>
              <a:defRPr>
                <a:solidFill>
                  <a:schemeClr val="accent2">
                    <a:lumMod val="75000"/>
                  </a:schemeClr>
                </a:solidFill>
              </a:defRPr>
            </a:lvl3pPr>
            <a:lvl4pPr>
              <a:defRPr>
                <a:solidFill>
                  <a:schemeClr val="accent6">
                    <a:lumMod val="75000"/>
                  </a:schemeClr>
                </a:solidFill>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2"/>
          <p:cNvSpPr>
            <a:spLocks noGrp="1"/>
          </p:cNvSpPr>
          <p:nvPr>
            <p:ph type="dt" sz="half" idx="14"/>
          </p:nvPr>
        </p:nvSpPr>
        <p:spPr/>
        <p:txBody>
          <a:bodyPr/>
          <a:lstStyle>
            <a:lvl1pPr>
              <a:defRPr/>
            </a:lvl1pPr>
          </a:lstStyle>
          <a:p>
            <a:pPr>
              <a:defRPr/>
            </a:pPr>
            <a:fld id="{277AD9AE-DAF0-4070-950A-9E3660EBE497}" type="datetime1">
              <a:rPr lang="en-US" smtClean="0"/>
              <a:pPr>
                <a:defRPr/>
              </a:pPr>
              <a:t>5/9/2026</a:t>
            </a:fld>
            <a:endParaRPr lang="en-US"/>
          </a:p>
        </p:txBody>
      </p:sp>
      <p:sp>
        <p:nvSpPr>
          <p:cNvPr id="8" name="Footer Placeholder 3"/>
          <p:cNvSpPr>
            <a:spLocks noGrp="1"/>
          </p:cNvSpPr>
          <p:nvPr>
            <p:ph type="ftr" sz="quarter" idx="15"/>
          </p:nvPr>
        </p:nvSpPr>
        <p:spPr/>
        <p:txBody>
          <a:bodyPr/>
          <a:lstStyle>
            <a:lvl1pPr>
              <a:defRPr/>
            </a:lvl1pPr>
          </a:lstStyle>
          <a:p>
            <a:pPr>
              <a:defRPr/>
            </a:pPr>
            <a:endParaRPr lang="en-US"/>
          </a:p>
        </p:txBody>
      </p:sp>
      <p:sp>
        <p:nvSpPr>
          <p:cNvPr id="10" name="Slide Number Placeholder 4"/>
          <p:cNvSpPr>
            <a:spLocks noGrp="1"/>
          </p:cNvSpPr>
          <p:nvPr>
            <p:ph type="sldNum" sz="quarter" idx="16"/>
          </p:nvPr>
        </p:nvSpPr>
        <p:spPr/>
        <p:txBody>
          <a:bodyPr/>
          <a:lstStyle>
            <a:lvl1pPr>
              <a:defRPr/>
            </a:lvl1pPr>
          </a:lstStyle>
          <a:p>
            <a:pPr>
              <a:defRPr/>
            </a:pPr>
            <a:fld id="{4CD333A3-7515-47B8-9EDC-EE0892D9C861}" type="slidenum">
              <a:rPr lang="en-US" smtClean="0"/>
              <a:pPr>
                <a:defRPr/>
              </a:pPr>
              <a:t>‹#›</a:t>
            </a:fld>
            <a:endParaRPr lang="en-US"/>
          </a:p>
        </p:txBody>
      </p:sp>
      <p:pic>
        <p:nvPicPr>
          <p:cNvPr id="11" name="Picture 1"/>
          <p:cNvPicPr>
            <a:picLocks noChangeAspect="1" noChangeArrowheads="1"/>
          </p:cNvPicPr>
          <p:nvPr userDrawn="1"/>
        </p:nvPicPr>
        <p:blipFill>
          <a:blip r:embed="rId2"/>
          <a:srcRect/>
          <a:stretch>
            <a:fillRect/>
          </a:stretch>
        </p:blipFill>
        <p:spPr bwMode="auto">
          <a:xfrm>
            <a:off x="609600" y="6356351"/>
            <a:ext cx="1538817" cy="471487"/>
          </a:xfrm>
          <a:prstGeom prst="rect">
            <a:avLst/>
          </a:prstGeom>
          <a:noFill/>
          <a:ln w="9525">
            <a:noFill/>
            <a:miter lim="800000"/>
            <a:headEnd/>
            <a:tailEnd/>
          </a:ln>
        </p:spPr>
      </p:pic>
      <p:sp>
        <p:nvSpPr>
          <p:cNvPr id="12" name="Rectangle 11"/>
          <p:cNvSpPr/>
          <p:nvPr userDrawn="1"/>
        </p:nvSpPr>
        <p:spPr>
          <a:xfrm>
            <a:off x="2336801" y="6356351"/>
            <a:ext cx="9842500" cy="4652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B.Sc. Pre-Defense</a:t>
            </a:r>
            <a:endParaRPr lang="en-US" b="1" dirty="0"/>
          </a:p>
        </p:txBody>
      </p:sp>
      <p:sp>
        <p:nvSpPr>
          <p:cNvPr id="13" name="Rectangle 12"/>
          <p:cNvSpPr/>
          <p:nvPr userDrawn="1"/>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Tree>
    <p:extLst>
      <p:ext uri="{BB962C8B-B14F-4D97-AF65-F5344CB8AC3E}">
        <p14:creationId xmlns:p14="http://schemas.microsoft.com/office/powerpoint/2010/main" val="1320263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5" name="Rectangle 4"/>
          <p:cNvSpPr/>
          <p:nvPr userDrawn="1"/>
        </p:nvSpPr>
        <p:spPr>
          <a:xfrm>
            <a:off x="3759200" y="0"/>
            <a:ext cx="8432800" cy="685800"/>
          </a:xfrm>
          <a:prstGeom prst="rect">
            <a:avLst/>
          </a:prstGeom>
          <a:solidFill>
            <a:schemeClr val="accent5">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B.Sc. Pre-Defense</a:t>
            </a:r>
            <a:endParaRPr lang="en-US" b="1" dirty="0"/>
          </a:p>
        </p:txBody>
      </p:sp>
      <p:pic>
        <p:nvPicPr>
          <p:cNvPr id="6" name="Picture 1"/>
          <p:cNvPicPr>
            <a:picLocks noChangeAspect="1" noChangeArrowheads="1"/>
          </p:cNvPicPr>
          <p:nvPr userDrawn="1"/>
        </p:nvPicPr>
        <p:blipFill>
          <a:blip r:embed="rId2"/>
          <a:srcRect/>
          <a:stretch>
            <a:fillRect/>
          </a:stretch>
        </p:blipFill>
        <p:spPr bwMode="auto">
          <a:xfrm>
            <a:off x="146051" y="76200"/>
            <a:ext cx="2444749" cy="685800"/>
          </a:xfrm>
          <a:prstGeom prst="rect">
            <a:avLst/>
          </a:prstGeom>
          <a:noFill/>
          <a:ln w="9525">
            <a:noFill/>
            <a:miter lim="800000"/>
            <a:headEnd/>
            <a:tailEnd/>
          </a:ln>
        </p:spPr>
      </p:pic>
      <p:sp>
        <p:nvSpPr>
          <p:cNvPr id="7" name="Rectangle 6"/>
          <p:cNvSpPr/>
          <p:nvPr userDrawn="1"/>
        </p:nvSpPr>
        <p:spPr>
          <a:xfrm>
            <a:off x="3555999" y="3271960"/>
            <a:ext cx="5080000" cy="533400"/>
          </a:xfrm>
          <a:prstGeom prst="rect">
            <a:avLst/>
          </a:prstGeom>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r>
              <a:rPr lang="en-US" sz="2400" b="1" dirty="0"/>
              <a:t>Presented by</a:t>
            </a:r>
          </a:p>
        </p:txBody>
      </p:sp>
      <p:sp>
        <p:nvSpPr>
          <p:cNvPr id="2" name="Title 1"/>
          <p:cNvSpPr>
            <a:spLocks noGrp="1"/>
          </p:cNvSpPr>
          <p:nvPr>
            <p:ph type="ctrTitle"/>
          </p:nvPr>
        </p:nvSpPr>
        <p:spPr>
          <a:xfrm>
            <a:off x="914400" y="1143000"/>
            <a:ext cx="10363200" cy="1752600"/>
          </a:xfrm>
        </p:spPr>
        <p:txBody>
          <a:bodyPr/>
          <a:lstStyle>
            <a:lvl1pPr>
              <a:defRPr b="1">
                <a:solidFill>
                  <a:schemeClr val="tx2">
                    <a:lumMod val="75000"/>
                  </a:schemeClr>
                </a:solidFill>
                <a:effectLst>
                  <a:outerShdw blurRad="38100" dist="38100" dir="2700000" algn="tl">
                    <a:srgbClr val="000000">
                      <a:alpha val="43137"/>
                    </a:srgbClr>
                  </a:outerShdw>
                </a:effectLst>
                <a:latin typeface="+mj-lt"/>
                <a:cs typeface="Times New Roman" pitchFamily="18" charset="0"/>
              </a:defRPr>
            </a:lvl1pPr>
          </a:lstStyle>
          <a:p>
            <a:r>
              <a:rPr lang="en-US"/>
              <a:t>Click to edit Master title style</a:t>
            </a:r>
            <a:endParaRPr lang="en-US" dirty="0"/>
          </a:p>
        </p:txBody>
      </p:sp>
      <p:sp>
        <p:nvSpPr>
          <p:cNvPr id="3" name="Subtitle 2"/>
          <p:cNvSpPr>
            <a:spLocks noGrp="1"/>
          </p:cNvSpPr>
          <p:nvPr>
            <p:ph type="subTitle" idx="1"/>
          </p:nvPr>
        </p:nvSpPr>
        <p:spPr>
          <a:xfrm>
            <a:off x="3102707" y="3959471"/>
            <a:ext cx="5986585" cy="2209800"/>
          </a:xfrm>
        </p:spPr>
        <p:txBody>
          <a:bodyPr>
            <a:normAutofit/>
          </a:bodyPr>
          <a:lstStyle>
            <a:lvl1pPr marL="0" indent="0" algn="ctr">
              <a:buNone/>
              <a:defRPr sz="2700">
                <a:solidFill>
                  <a:schemeClr val="accent1">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9" name="Date Placeholder 3"/>
          <p:cNvSpPr>
            <a:spLocks noGrp="1"/>
          </p:cNvSpPr>
          <p:nvPr>
            <p:ph type="dt" sz="half" idx="14"/>
          </p:nvPr>
        </p:nvSpPr>
        <p:spPr/>
        <p:txBody>
          <a:bodyPr/>
          <a:lstStyle>
            <a:lvl1pPr>
              <a:defRPr/>
            </a:lvl1pPr>
          </a:lstStyle>
          <a:p>
            <a:pPr>
              <a:defRPr/>
            </a:pPr>
            <a:fld id="{BCC254C3-6D07-4044-A98A-C7B9FCC216AA}" type="datetime1">
              <a:rPr lang="en-US"/>
              <a:pPr>
                <a:defRPr/>
              </a:pPr>
              <a:t>5/9/2026</a:t>
            </a:fld>
            <a:endParaRPr lang="en-US"/>
          </a:p>
        </p:txBody>
      </p:sp>
      <p:sp>
        <p:nvSpPr>
          <p:cNvPr id="10" name="Footer Placeholder 4"/>
          <p:cNvSpPr>
            <a:spLocks noGrp="1"/>
          </p:cNvSpPr>
          <p:nvPr>
            <p:ph type="ftr" sz="quarter" idx="15"/>
          </p:nvPr>
        </p:nvSpPr>
        <p:spPr/>
        <p:txBody>
          <a:bodyPr/>
          <a:lstStyle>
            <a:lvl1pPr>
              <a:defRPr/>
            </a:lvl1pPr>
          </a:lstStyle>
          <a:p>
            <a:pPr>
              <a:defRPr/>
            </a:pPr>
            <a:endParaRPr lang="en-US"/>
          </a:p>
        </p:txBody>
      </p:sp>
      <p:sp>
        <p:nvSpPr>
          <p:cNvPr id="11" name="Slide Number Placeholder 5"/>
          <p:cNvSpPr>
            <a:spLocks noGrp="1"/>
          </p:cNvSpPr>
          <p:nvPr>
            <p:ph type="sldNum" sz="quarter" idx="16"/>
          </p:nvPr>
        </p:nvSpPr>
        <p:spPr/>
        <p:txBody>
          <a:bodyPr/>
          <a:lstStyle>
            <a:lvl1pPr>
              <a:defRPr/>
            </a:lvl1pPr>
          </a:lstStyle>
          <a:p>
            <a:pPr>
              <a:defRPr/>
            </a:pPr>
            <a:fld id="{E62AF6E4-9F0F-4D32-8D8E-755B2E69BAD2}"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4" name="Picture 1"/>
          <p:cNvPicPr>
            <a:picLocks noChangeAspect="1" noChangeArrowheads="1"/>
          </p:cNvPicPr>
          <p:nvPr userDrawn="1"/>
        </p:nvPicPr>
        <p:blipFill>
          <a:blip r:embed="rId2"/>
          <a:srcRect/>
          <a:stretch>
            <a:fillRect/>
          </a:stretch>
        </p:blipFill>
        <p:spPr bwMode="auto">
          <a:xfrm>
            <a:off x="304801" y="5943600"/>
            <a:ext cx="1538817" cy="304800"/>
          </a:xfrm>
          <a:prstGeom prst="rect">
            <a:avLst/>
          </a:prstGeom>
          <a:noFill/>
          <a:ln w="9525">
            <a:noFill/>
            <a:miter lim="800000"/>
            <a:headEnd/>
            <a:tailEnd/>
          </a:ln>
        </p:spPr>
      </p:pic>
      <p:sp>
        <p:nvSpPr>
          <p:cNvPr id="5" name="Rectangle 4"/>
          <p:cNvSpPr/>
          <p:nvPr userDrawn="1"/>
        </p:nvSpPr>
        <p:spPr>
          <a:xfrm>
            <a:off x="2336801" y="5943600"/>
            <a:ext cx="98425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2000" b="1" dirty="0"/>
              <a:t>Final Year Defense</a:t>
            </a:r>
            <a:endParaRPr lang="en-US" b="1" dirty="0"/>
          </a:p>
        </p:txBody>
      </p:sp>
      <p:sp>
        <p:nvSpPr>
          <p:cNvPr id="6" name="Rectangle 5"/>
          <p:cNvSpPr/>
          <p:nvPr userDrawn="1"/>
        </p:nvSpPr>
        <p:spPr>
          <a:xfrm>
            <a:off x="0" y="0"/>
            <a:ext cx="12192000" cy="228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p:txBody>
          <a:bodyPr/>
          <a:lstStyle>
            <a:lvl1pPr>
              <a:defRPr b="1">
                <a:solidFill>
                  <a:schemeClr val="accent1">
                    <a:lumMod val="75000"/>
                  </a:schemeClr>
                </a:solidFill>
              </a:defRPr>
            </a:lvl1pPr>
          </a:lstStyle>
          <a:p>
            <a:r>
              <a:rPr lang="en-US" dirty="0"/>
              <a:t>Click to edit Master title style</a:t>
            </a:r>
          </a:p>
        </p:txBody>
      </p:sp>
      <p:sp>
        <p:nvSpPr>
          <p:cNvPr id="9" name="Content Placeholder 8"/>
          <p:cNvSpPr>
            <a:spLocks noGrp="1"/>
          </p:cNvSpPr>
          <p:nvPr>
            <p:ph sz="quarter" idx="13"/>
          </p:nvPr>
        </p:nvSpPr>
        <p:spPr>
          <a:xfrm>
            <a:off x="609600" y="1676400"/>
            <a:ext cx="10972800" cy="3962400"/>
          </a:xfrm>
        </p:spPr>
        <p:txBody>
          <a:bodyPr/>
          <a:lstStyle>
            <a:lvl1pPr>
              <a:defRPr>
                <a:solidFill>
                  <a:schemeClr val="accent1">
                    <a:lumMod val="75000"/>
                  </a:schemeClr>
                </a:solidFill>
              </a:defRPr>
            </a:lvl1pPr>
            <a:lvl2pPr>
              <a:defRPr>
                <a:solidFill>
                  <a:schemeClr val="accent5">
                    <a:lumMod val="75000"/>
                  </a:schemeClr>
                </a:solidFill>
              </a:defRPr>
            </a:lvl2pPr>
            <a:lvl3pPr>
              <a:defRPr>
                <a:solidFill>
                  <a:schemeClr val="accent2">
                    <a:lumMod val="75000"/>
                  </a:schemeClr>
                </a:solidFill>
              </a:defRPr>
            </a:lvl3pPr>
            <a:lvl4pPr>
              <a:defRPr>
                <a:solidFill>
                  <a:schemeClr val="accent6">
                    <a:lumMod val="75000"/>
                  </a:schemeClr>
                </a:solidFill>
              </a:defRPr>
            </a:lvl4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2"/>
          <p:cNvSpPr>
            <a:spLocks noGrp="1"/>
          </p:cNvSpPr>
          <p:nvPr>
            <p:ph type="dt" sz="half" idx="14"/>
          </p:nvPr>
        </p:nvSpPr>
        <p:spPr/>
        <p:txBody>
          <a:bodyPr/>
          <a:lstStyle>
            <a:lvl1pPr>
              <a:defRPr/>
            </a:lvl1pPr>
          </a:lstStyle>
          <a:p>
            <a:pPr>
              <a:defRPr/>
            </a:pPr>
            <a:fld id="{277AD9AE-DAF0-4070-950A-9E3660EBE497}" type="datetime1">
              <a:rPr lang="en-US"/>
              <a:pPr>
                <a:defRPr/>
              </a:pPr>
              <a:t>5/9/2026</a:t>
            </a:fld>
            <a:endParaRPr lang="en-US"/>
          </a:p>
        </p:txBody>
      </p:sp>
      <p:sp>
        <p:nvSpPr>
          <p:cNvPr id="8" name="Footer Placeholder 3"/>
          <p:cNvSpPr>
            <a:spLocks noGrp="1"/>
          </p:cNvSpPr>
          <p:nvPr>
            <p:ph type="ftr" sz="quarter" idx="15"/>
          </p:nvPr>
        </p:nvSpPr>
        <p:spPr/>
        <p:txBody>
          <a:bodyPr/>
          <a:lstStyle>
            <a:lvl1pPr>
              <a:defRPr/>
            </a:lvl1pPr>
          </a:lstStyle>
          <a:p>
            <a:pPr>
              <a:defRPr/>
            </a:pPr>
            <a:endParaRPr lang="en-US"/>
          </a:p>
        </p:txBody>
      </p:sp>
      <p:sp>
        <p:nvSpPr>
          <p:cNvPr id="10" name="Slide Number Placeholder 4"/>
          <p:cNvSpPr>
            <a:spLocks noGrp="1"/>
          </p:cNvSpPr>
          <p:nvPr>
            <p:ph type="sldNum" sz="quarter" idx="16"/>
          </p:nvPr>
        </p:nvSpPr>
        <p:spPr/>
        <p:txBody>
          <a:bodyPr/>
          <a:lstStyle>
            <a:lvl1pPr>
              <a:defRPr/>
            </a:lvl1pPr>
          </a:lstStyle>
          <a:p>
            <a:pPr>
              <a:defRPr/>
            </a:pPr>
            <a:fld id="{4CD333A3-7515-47B8-9EDC-EE0892D9C861}"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875161A3-B757-4210-8554-6B2250A4A5D7}" type="datetime1">
              <a:rPr lang="en-US" smtClean="0"/>
              <a:pPr>
                <a:defRPr/>
              </a:pPr>
              <a:t>5/9/2026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3201EAB7-4B8F-4B70-B0ED-2782ACD77B02}"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58" r:id="rId14"/>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hyperlink" Target="https://drive.google.com/drive/folders/13-Ksnc3U1dXqSN0NOKKv3x5NzzdEwISt?usp=sharing" TargetMode="Externa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409700" y="1524000"/>
            <a:ext cx="9372600" cy="1066800"/>
          </a:xfrm>
        </p:spPr>
        <p:txBody>
          <a:bodyPr rtlCol="0">
            <a:noAutofit/>
          </a:bodyPr>
          <a:lstStyle/>
          <a:p>
            <a:r>
              <a:rPr lang="en-US" sz="2800" dirty="0">
                <a:latin typeface="Times New Roman" panose="02020603050405020304" pitchFamily="18" charset="0"/>
              </a:rPr>
              <a:t>Evaluating the Consistency of Machine Learning and Deep Learning Models for Banking Stock Prediction Under Feature-Engineered Conditions: A Multi-Bank Study in Bangladesh</a:t>
            </a:r>
            <a:endParaRPr lang="en-US" sz="2800" dirty="0">
              <a:solidFill>
                <a:srgbClr val="7030A0"/>
              </a:solidFill>
              <a:effectLst/>
              <a:latin typeface="Times New Roman" panose="02020603050405020304" pitchFamily="18" charset="0"/>
            </a:endParaRPr>
          </a:p>
        </p:txBody>
      </p:sp>
      <p:sp>
        <p:nvSpPr>
          <p:cNvPr id="5" name="Subtitle 4"/>
          <p:cNvSpPr>
            <a:spLocks noGrp="1"/>
          </p:cNvSpPr>
          <p:nvPr>
            <p:ph type="subTitle" idx="1"/>
          </p:nvPr>
        </p:nvSpPr>
        <p:spPr>
          <a:xfrm>
            <a:off x="3695700" y="3973399"/>
            <a:ext cx="4800600" cy="2438400"/>
          </a:xfrm>
        </p:spPr>
        <p:txBody>
          <a:bodyPr rtlCol="0">
            <a:normAutofit/>
          </a:bodyPr>
          <a:lstStyle/>
          <a:p>
            <a:r>
              <a:rPr lang="en-GB" sz="2200" b="1" dirty="0">
                <a:solidFill>
                  <a:schemeClr val="tx1"/>
                </a:solidFill>
                <a:latin typeface="Times New Roman" panose="02020603050405020304" pitchFamily="18" charset="0"/>
                <a:cs typeface="Times New Roman" panose="02020603050405020304" pitchFamily="18" charset="0"/>
              </a:rPr>
              <a:t>Name: Arifur Rahman</a:t>
            </a:r>
            <a:endParaRPr lang="en-US" sz="2200" b="1" dirty="0">
              <a:solidFill>
                <a:schemeClr val="tx1"/>
              </a:solidFill>
              <a:latin typeface="Times New Roman" panose="02020603050405020304" pitchFamily="18" charset="0"/>
              <a:cs typeface="Times New Roman" panose="02020603050405020304" pitchFamily="18" charset="0"/>
            </a:endParaRPr>
          </a:p>
          <a:p>
            <a:r>
              <a:rPr lang="en-US" sz="2200" b="1" dirty="0">
                <a:solidFill>
                  <a:schemeClr val="tx1"/>
                </a:solidFill>
                <a:latin typeface="Times New Roman" panose="02020603050405020304" pitchFamily="18" charset="0"/>
                <a:cs typeface="Times New Roman" panose="02020603050405020304" pitchFamily="18" charset="0"/>
              </a:rPr>
              <a:t>ID : 222-15-6168</a:t>
            </a:r>
          </a:p>
          <a:p>
            <a:r>
              <a:rPr lang="en-US" sz="2200" b="1" dirty="0">
                <a:solidFill>
                  <a:schemeClr val="tx1"/>
                </a:solidFill>
                <a:latin typeface="Times New Roman" panose="02020603050405020304" pitchFamily="18" charset="0"/>
                <a:cs typeface="Times New Roman" panose="02020603050405020304" pitchFamily="18" charset="0"/>
              </a:rPr>
              <a:t>Department : </a:t>
            </a:r>
            <a:r>
              <a:rPr lang="en-US" sz="2200" dirty="0">
                <a:solidFill>
                  <a:schemeClr val="tx1"/>
                </a:solidFill>
                <a:latin typeface="Times New Roman" panose="02020603050405020304" pitchFamily="18" charset="0"/>
                <a:cs typeface="Times New Roman" panose="02020603050405020304" pitchFamily="18" charset="0"/>
              </a:rPr>
              <a:t>CSE</a:t>
            </a:r>
          </a:p>
          <a:p>
            <a:r>
              <a:rPr lang="en-US" sz="2200" dirty="0">
                <a:solidFill>
                  <a:schemeClr val="tx1"/>
                </a:solidFill>
                <a:latin typeface="Times New Roman" panose="02020603050405020304" pitchFamily="18" charset="0"/>
                <a:cs typeface="Times New Roman" panose="02020603050405020304" pitchFamily="18" charset="0"/>
              </a:rPr>
              <a:t>Daffodil International University</a:t>
            </a:r>
          </a:p>
          <a:p>
            <a:pPr>
              <a:defRPr/>
            </a:pPr>
            <a:endParaRPr lang="en-US" sz="2800" dirty="0">
              <a:solidFill>
                <a:schemeClr val="tx1"/>
              </a:solidFill>
              <a:latin typeface="Times New Roman" pitchFamily="18" charset="0"/>
              <a:cs typeface="Times New Roman" pitchFamily="18" charset="0"/>
            </a:endParaRPr>
          </a:p>
          <a:p>
            <a:pPr>
              <a:defRPr/>
            </a:pPr>
            <a:endParaRPr lang="en-US" dirty="0"/>
          </a:p>
        </p:txBody>
      </p:sp>
      <p:sp>
        <p:nvSpPr>
          <p:cNvPr id="2" name="TextBox 1">
            <a:extLst>
              <a:ext uri="{FF2B5EF4-FFF2-40B4-BE49-F238E27FC236}">
                <a16:creationId xmlns:a16="http://schemas.microsoft.com/office/drawing/2014/main" id="{46FC8551-41BC-7160-AB58-5A1854853554}"/>
              </a:ext>
            </a:extLst>
          </p:cNvPr>
          <p:cNvSpPr txBox="1"/>
          <p:nvPr/>
        </p:nvSpPr>
        <p:spPr>
          <a:xfrm>
            <a:off x="8906256" y="185335"/>
            <a:ext cx="3276600" cy="369332"/>
          </a:xfrm>
          <a:prstGeom prst="rect">
            <a:avLst/>
          </a:prstGeom>
          <a:solidFill>
            <a:srgbClr val="215968"/>
          </a:solidFill>
        </p:spPr>
        <p:txBody>
          <a:bodyPr wrap="square" rtlCol="0">
            <a:spAutoFit/>
          </a:bodyPr>
          <a:lstStyle/>
          <a:p>
            <a:pPr algn="r"/>
            <a:r>
              <a:rPr lang="en-US" b="1" dirty="0">
                <a:solidFill>
                  <a:schemeClr val="bg1"/>
                </a:solidFill>
              </a:rPr>
              <a:t>B.Sc. Final-Defense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Outline</a:t>
            </a:r>
            <a:endParaRPr lang="en-US" dirty="0">
              <a:solidFill>
                <a:srgbClr val="7030A0"/>
              </a:solidFill>
            </a:endParaRPr>
          </a:p>
        </p:txBody>
      </p:sp>
      <p:sp>
        <p:nvSpPr>
          <p:cNvPr id="3" name="Content Placeholder 2"/>
          <p:cNvSpPr>
            <a:spLocks noGrp="1"/>
          </p:cNvSpPr>
          <p:nvPr>
            <p:ph sz="quarter" idx="13"/>
          </p:nvPr>
        </p:nvSpPr>
        <p:spPr/>
        <p:txBody>
          <a:bodyPr>
            <a:normAutofit lnSpcReduction="10000"/>
          </a:bodyPr>
          <a:lstStyle/>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Introduction</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Objective</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Background Study</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Gap Analysis</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Methodology</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Results &amp; Analysis</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Novelty of the Work</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Sample Dataset </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Conclusion</a:t>
            </a:r>
          </a:p>
          <a:p>
            <a:pPr>
              <a:buFont typeface="Wingdings" pitchFamily="2" charset="2"/>
              <a:buChar char="Ø"/>
            </a:pPr>
            <a:r>
              <a:rPr lang="en-US" sz="2200" dirty="0">
                <a:solidFill>
                  <a:schemeClr val="tx1"/>
                </a:solidFill>
                <a:latin typeface="Times New Roman" panose="02020603050405020304" pitchFamily="18" charset="0"/>
                <a:cs typeface="Times New Roman" panose="02020603050405020304" pitchFamily="18" charset="0"/>
              </a:rPr>
              <a:t>References</a:t>
            </a:r>
          </a:p>
          <a:p>
            <a:pPr>
              <a:buNone/>
            </a:pPr>
            <a:endParaRPr lang="en-US" dirty="0"/>
          </a:p>
        </p:txBody>
      </p:sp>
      <p:sp>
        <p:nvSpPr>
          <p:cNvPr id="4" name="Slide Number Placeholder 3"/>
          <p:cNvSpPr>
            <a:spLocks noGrp="1"/>
          </p:cNvSpPr>
          <p:nvPr>
            <p:ph type="sldNum" sz="quarter" idx="16"/>
          </p:nvPr>
        </p:nvSpPr>
        <p:spPr>
          <a:xfrm>
            <a:off x="9296400" y="5989637"/>
            <a:ext cx="2844800" cy="365125"/>
          </a:xfrm>
        </p:spPr>
        <p:txBody>
          <a:bodyPr/>
          <a:lstStyle/>
          <a:p>
            <a:pPr>
              <a:defRPr/>
            </a:pPr>
            <a:fld id="{4CD333A3-7515-47B8-9EDC-EE0892D9C861}" type="slidenum">
              <a:rPr lang="en-US" smtClean="0"/>
              <a:pPr>
                <a:defRPr/>
              </a:pPr>
              <a:t>2</a:t>
            </a:fld>
            <a:endParaRPr lang="en-US"/>
          </a:p>
        </p:txBody>
      </p:sp>
      <p:sp>
        <p:nvSpPr>
          <p:cNvPr id="5" name="TextBox 4">
            <a:extLst>
              <a:ext uri="{FF2B5EF4-FFF2-40B4-BE49-F238E27FC236}">
                <a16:creationId xmlns:a16="http://schemas.microsoft.com/office/drawing/2014/main" id="{1174EFF0-3D03-C0F9-F0D4-A9D3482709F0}"/>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Introduction</a:t>
            </a:r>
            <a:endParaRPr lang="en-US" dirty="0">
              <a:solidFill>
                <a:srgbClr val="7030A0"/>
              </a:solidFill>
            </a:endParaRPr>
          </a:p>
        </p:txBody>
      </p:sp>
      <p:sp>
        <p:nvSpPr>
          <p:cNvPr id="4" name="Slide Number Placeholder 3"/>
          <p:cNvSpPr>
            <a:spLocks noGrp="1"/>
          </p:cNvSpPr>
          <p:nvPr>
            <p:ph type="sldNum" sz="quarter" idx="16"/>
          </p:nvPr>
        </p:nvSpPr>
        <p:spPr>
          <a:xfrm>
            <a:off x="9347200" y="6019800"/>
            <a:ext cx="2844800" cy="365125"/>
          </a:xfrm>
        </p:spPr>
        <p:txBody>
          <a:bodyPr/>
          <a:lstStyle/>
          <a:p>
            <a:pPr>
              <a:defRPr/>
            </a:pPr>
            <a:fld id="{4CD333A3-7515-47B8-9EDC-EE0892D9C861}" type="slidenum">
              <a:rPr lang="en-US" smtClean="0"/>
              <a:pPr>
                <a:defRPr/>
              </a:pPr>
              <a:t>3</a:t>
            </a:fld>
            <a:endParaRPr lang="en-US" dirty="0"/>
          </a:p>
        </p:txBody>
      </p:sp>
      <p:sp>
        <p:nvSpPr>
          <p:cNvPr id="5" name="TextBox 4">
            <a:extLst>
              <a:ext uri="{FF2B5EF4-FFF2-40B4-BE49-F238E27FC236}">
                <a16:creationId xmlns:a16="http://schemas.microsoft.com/office/drawing/2014/main" id="{301160C4-4E81-64AE-82AE-E159832FFEF8}"/>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3" name="TextBox 2">
            <a:extLst>
              <a:ext uri="{FF2B5EF4-FFF2-40B4-BE49-F238E27FC236}">
                <a16:creationId xmlns:a16="http://schemas.microsoft.com/office/drawing/2014/main" id="{38A3836E-8F2C-972B-F1A3-5B538D693CF3}"/>
              </a:ext>
            </a:extLst>
          </p:cNvPr>
          <p:cNvSpPr txBox="1"/>
          <p:nvPr/>
        </p:nvSpPr>
        <p:spPr>
          <a:xfrm>
            <a:off x="5204011" y="2528047"/>
            <a:ext cx="1828800" cy="1828800"/>
          </a:xfrm>
          <a:prstGeom prst="rect">
            <a:avLst/>
          </a:prstGeom>
          <a:noFill/>
        </p:spPr>
        <p:txBody>
          <a:bodyPr wrap="square" rtlCol="0">
            <a:spAutoFit/>
          </a:bodyPr>
          <a:lstStyle/>
          <a:p>
            <a:pPr algn="l"/>
            <a:endParaRPr lang="en-US" dirty="0"/>
          </a:p>
        </p:txBody>
      </p:sp>
      <p:sp>
        <p:nvSpPr>
          <p:cNvPr id="6" name="TextBox 5">
            <a:extLst>
              <a:ext uri="{FF2B5EF4-FFF2-40B4-BE49-F238E27FC236}">
                <a16:creationId xmlns:a16="http://schemas.microsoft.com/office/drawing/2014/main" id="{858028D3-9936-E0B0-B3DD-06A9FA961829}"/>
              </a:ext>
            </a:extLst>
          </p:cNvPr>
          <p:cNvSpPr txBox="1"/>
          <p:nvPr/>
        </p:nvSpPr>
        <p:spPr>
          <a:xfrm>
            <a:off x="517711" y="1426510"/>
            <a:ext cx="11201400" cy="3816429"/>
          </a:xfrm>
          <a:prstGeom prst="rect">
            <a:avLst/>
          </a:prstGeom>
          <a:noFill/>
        </p:spPr>
        <p:txBody>
          <a:bodyPr wrap="square" rtlCol="0">
            <a:spAutoFit/>
          </a:bodyPr>
          <a:lstStyle/>
          <a:p>
            <a:pPr algn="just"/>
            <a:r>
              <a:rPr lang="en-US" sz="3000" dirty="0">
                <a:latin typeface="Times New Roman" panose="02020603050405020304" pitchFamily="18" charset="0"/>
                <a:cs typeface="Times New Roman" panose="02020603050405020304" pitchFamily="18" charset="0"/>
              </a:rPr>
              <a:t>Predicting the future is very difficult in the stock market. The Dhaka Stock Exchange is big, and banking stocks are the most traded on the Dhaka Stock Exchange. Predicting the price of banking stocks will reduce risks for investors or policymakers. This work focuses on stock price prediction using time series data (2010–2026) with machine learning and deep learning models to make short and long-term predictions.</a:t>
            </a:r>
          </a:p>
          <a:p>
            <a:endParaRPr lang="en-US" sz="3200" dirty="0"/>
          </a:p>
        </p:txBody>
      </p:sp>
    </p:spTree>
    <p:extLst>
      <p:ext uri="{BB962C8B-B14F-4D97-AF65-F5344CB8AC3E}">
        <p14:creationId xmlns:p14="http://schemas.microsoft.com/office/powerpoint/2010/main" val="1295605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Objective</a:t>
            </a:r>
            <a:endParaRPr lang="en-US" dirty="0">
              <a:solidFill>
                <a:srgbClr val="7030A0"/>
              </a:solidFill>
            </a:endParaRPr>
          </a:p>
        </p:txBody>
      </p:sp>
      <p:sp>
        <p:nvSpPr>
          <p:cNvPr id="4" name="Slide Number Placeholder 3"/>
          <p:cNvSpPr>
            <a:spLocks noGrp="1"/>
          </p:cNvSpPr>
          <p:nvPr>
            <p:ph type="sldNum" sz="quarter" idx="16"/>
          </p:nvPr>
        </p:nvSpPr>
        <p:spPr>
          <a:xfrm>
            <a:off x="9350248" y="5989637"/>
            <a:ext cx="2844800" cy="365125"/>
          </a:xfrm>
        </p:spPr>
        <p:txBody>
          <a:bodyPr/>
          <a:lstStyle/>
          <a:p>
            <a:pPr>
              <a:defRPr/>
            </a:pPr>
            <a:fld id="{4CD333A3-7515-47B8-9EDC-EE0892D9C861}" type="slidenum">
              <a:rPr lang="en-US" smtClean="0"/>
              <a:pPr>
                <a:defRPr/>
              </a:pPr>
              <a:t>4</a:t>
            </a:fld>
            <a:endParaRPr lang="en-US" dirty="0"/>
          </a:p>
        </p:txBody>
      </p:sp>
      <p:sp>
        <p:nvSpPr>
          <p:cNvPr id="5" name="TextBox 4">
            <a:extLst>
              <a:ext uri="{FF2B5EF4-FFF2-40B4-BE49-F238E27FC236}">
                <a16:creationId xmlns:a16="http://schemas.microsoft.com/office/drawing/2014/main" id="{C7B064D8-8C59-7D9E-B404-8CE93061EC37}"/>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7" name="Content Placeholder 6">
            <a:extLst>
              <a:ext uri="{FF2B5EF4-FFF2-40B4-BE49-F238E27FC236}">
                <a16:creationId xmlns:a16="http://schemas.microsoft.com/office/drawing/2014/main" id="{D0F967F3-3B1C-BAA0-12F5-5EF3F12357CD}"/>
              </a:ext>
            </a:extLst>
          </p:cNvPr>
          <p:cNvSpPr>
            <a:spLocks noGrp="1"/>
          </p:cNvSpPr>
          <p:nvPr>
            <p:ph sz="quarter" idx="13"/>
          </p:nvPr>
        </p:nvSpPr>
        <p:spPr>
          <a:xfrm>
            <a:off x="609600" y="1676399"/>
            <a:ext cx="10972800" cy="4255531"/>
          </a:xfrm>
        </p:spPr>
        <p:txBody>
          <a:bodyPr>
            <a:normAutofit fontScale="92500" lnSpcReduction="10000"/>
          </a:bodyPr>
          <a:lstStyle/>
          <a:p>
            <a:pPr algn="just"/>
            <a:r>
              <a:rPr lang="en-US" dirty="0">
                <a:solidFill>
                  <a:schemeClr val="tx1"/>
                </a:solidFill>
                <a:latin typeface="Times New Roman" panose="02020603050405020304" pitchFamily="18" charset="0"/>
                <a:cs typeface="Times New Roman" panose="02020603050405020304" pitchFamily="18" charset="0"/>
              </a:rPr>
              <a:t>To evaluate and compare how well machine learning and deep learning models perform at predicting banking stock prices when using carefully engineered features.</a:t>
            </a:r>
          </a:p>
          <a:p>
            <a:pPr algn="just"/>
            <a:r>
              <a:rPr lang="en-US" dirty="0">
                <a:solidFill>
                  <a:schemeClr val="tx1"/>
                </a:solidFill>
                <a:latin typeface="Times New Roman" panose="02020603050405020304" pitchFamily="18" charset="0"/>
                <a:cs typeface="Times New Roman" panose="02020603050405020304" pitchFamily="18" charset="0"/>
              </a:rPr>
              <a:t>To analyze how consistent and reliable these models are across different banking datasets by testing them all under the same fair and unified experimental setup. </a:t>
            </a:r>
          </a:p>
          <a:p>
            <a:pPr algn="just"/>
            <a:r>
              <a:rPr lang="en-US" dirty="0">
                <a:solidFill>
                  <a:schemeClr val="tx1"/>
                </a:solidFill>
                <a:latin typeface="Times New Roman" panose="02020603050405020304" pitchFamily="18" charset="0"/>
                <a:cs typeface="Times New Roman" panose="02020603050405020304" pitchFamily="18" charset="0"/>
              </a:rPr>
              <a:t>To understand how feature engineering affects the performance of simple models versus more complex (deep learning) models in financial time-series forecasting. </a:t>
            </a:r>
          </a:p>
        </p:txBody>
      </p:sp>
    </p:spTree>
    <p:extLst>
      <p:ext uri="{BB962C8B-B14F-4D97-AF65-F5344CB8AC3E}">
        <p14:creationId xmlns:p14="http://schemas.microsoft.com/office/powerpoint/2010/main" val="825664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Background Study</a:t>
            </a:r>
            <a:endParaRPr lang="en-US" dirty="0">
              <a:solidFill>
                <a:srgbClr val="7030A0"/>
              </a:solidFill>
            </a:endParaRPr>
          </a:p>
        </p:txBody>
      </p:sp>
      <p:sp>
        <p:nvSpPr>
          <p:cNvPr id="4" name="Slide Number Placeholder 3"/>
          <p:cNvSpPr>
            <a:spLocks noGrp="1"/>
          </p:cNvSpPr>
          <p:nvPr>
            <p:ph type="sldNum" sz="quarter" idx="16"/>
          </p:nvPr>
        </p:nvSpPr>
        <p:spPr>
          <a:xfrm>
            <a:off x="9319768" y="5975351"/>
            <a:ext cx="2844800" cy="365125"/>
          </a:xfrm>
        </p:spPr>
        <p:txBody>
          <a:bodyPr/>
          <a:lstStyle/>
          <a:p>
            <a:pPr>
              <a:defRPr/>
            </a:pPr>
            <a:fld id="{4CD333A3-7515-47B8-9EDC-EE0892D9C861}" type="slidenum">
              <a:rPr lang="en-US" smtClean="0"/>
              <a:pPr>
                <a:defRPr/>
              </a:pPr>
              <a:t>5</a:t>
            </a:fld>
            <a:endParaRPr lang="en-US" dirty="0"/>
          </a:p>
        </p:txBody>
      </p:sp>
      <p:sp>
        <p:nvSpPr>
          <p:cNvPr id="6" name="TextBox 5">
            <a:extLst>
              <a:ext uri="{FF2B5EF4-FFF2-40B4-BE49-F238E27FC236}">
                <a16:creationId xmlns:a16="http://schemas.microsoft.com/office/drawing/2014/main" id="{63C18772-518C-E2F8-EBA7-247295C187B5}"/>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graphicFrame>
        <p:nvGraphicFramePr>
          <p:cNvPr id="3" name="Content Placeholder 2">
            <a:extLst>
              <a:ext uri="{FF2B5EF4-FFF2-40B4-BE49-F238E27FC236}">
                <a16:creationId xmlns:a16="http://schemas.microsoft.com/office/drawing/2014/main" id="{9C3EBCDC-38B0-39AB-193E-A679EBBA320F}"/>
              </a:ext>
            </a:extLst>
          </p:cNvPr>
          <p:cNvGraphicFramePr>
            <a:graphicFrameLocks noGrp="1"/>
          </p:cNvGraphicFramePr>
          <p:nvPr>
            <p:ph sz="quarter" idx="13"/>
            <p:extLst>
              <p:ext uri="{D42A27DB-BD31-4B8C-83A1-F6EECF244321}">
                <p14:modId xmlns:p14="http://schemas.microsoft.com/office/powerpoint/2010/main" val="3422918695"/>
              </p:ext>
            </p:extLst>
          </p:nvPr>
        </p:nvGraphicFramePr>
        <p:xfrm>
          <a:off x="609600" y="1307068"/>
          <a:ext cx="10972800" cy="4759960"/>
        </p:xfrm>
        <a:graphic>
          <a:graphicData uri="http://schemas.openxmlformats.org/drawingml/2006/table">
            <a:tbl>
              <a:tblPr firstRow="1" bandRow="1">
                <a:tableStyleId>{BC89EF96-8CEA-46FF-86C4-4CE0E7609802}</a:tableStyleId>
              </a:tblPr>
              <a:tblGrid>
                <a:gridCol w="1981200">
                  <a:extLst>
                    <a:ext uri="{9D8B030D-6E8A-4147-A177-3AD203B41FA5}">
                      <a16:colId xmlns:a16="http://schemas.microsoft.com/office/drawing/2014/main" val="2144045920"/>
                    </a:ext>
                  </a:extLst>
                </a:gridCol>
                <a:gridCol w="685800">
                  <a:extLst>
                    <a:ext uri="{9D8B030D-6E8A-4147-A177-3AD203B41FA5}">
                      <a16:colId xmlns:a16="http://schemas.microsoft.com/office/drawing/2014/main" val="3522062171"/>
                    </a:ext>
                  </a:extLst>
                </a:gridCol>
                <a:gridCol w="3048000">
                  <a:extLst>
                    <a:ext uri="{9D8B030D-6E8A-4147-A177-3AD203B41FA5}">
                      <a16:colId xmlns:a16="http://schemas.microsoft.com/office/drawing/2014/main" val="1124533435"/>
                    </a:ext>
                  </a:extLst>
                </a:gridCol>
                <a:gridCol w="1752600">
                  <a:extLst>
                    <a:ext uri="{9D8B030D-6E8A-4147-A177-3AD203B41FA5}">
                      <a16:colId xmlns:a16="http://schemas.microsoft.com/office/drawing/2014/main" val="1703596176"/>
                    </a:ext>
                  </a:extLst>
                </a:gridCol>
                <a:gridCol w="3505200">
                  <a:extLst>
                    <a:ext uri="{9D8B030D-6E8A-4147-A177-3AD203B41FA5}">
                      <a16:colId xmlns:a16="http://schemas.microsoft.com/office/drawing/2014/main" val="2677107947"/>
                    </a:ext>
                  </a:extLst>
                </a:gridCol>
              </a:tblGrid>
              <a:tr h="370840">
                <a:tc>
                  <a:txBody>
                    <a:bodyPr/>
                    <a:lstStyle/>
                    <a:p>
                      <a:pPr algn="ctr"/>
                      <a:r>
                        <a:rPr lang="en-US" dirty="0">
                          <a:latin typeface="Times New Roman" panose="02020603050405020304" pitchFamily="18" charset="0"/>
                          <a:cs typeface="Times New Roman" panose="02020603050405020304" pitchFamily="18" charset="0"/>
                        </a:rPr>
                        <a:t>Author (s)</a:t>
                      </a:r>
                    </a:p>
                  </a:txBody>
                  <a:tcPr/>
                </a:tc>
                <a:tc>
                  <a:txBody>
                    <a:bodyPr/>
                    <a:lstStyle/>
                    <a:p>
                      <a:pPr algn="ctr"/>
                      <a:r>
                        <a:rPr lang="en-US" dirty="0">
                          <a:latin typeface="Times New Roman" panose="02020603050405020304" pitchFamily="18" charset="0"/>
                          <a:cs typeface="Times New Roman" panose="02020603050405020304" pitchFamily="18" charset="0"/>
                        </a:rPr>
                        <a:t>Year</a:t>
                      </a:r>
                    </a:p>
                  </a:txBody>
                  <a:tcPr/>
                </a:tc>
                <a:tc>
                  <a:txBody>
                    <a:bodyPr/>
                    <a:lstStyle/>
                    <a:p>
                      <a:pPr algn="ctr"/>
                      <a:r>
                        <a:rPr lang="en-US" dirty="0">
                          <a:latin typeface="Times New Roman" panose="02020603050405020304" pitchFamily="18" charset="0"/>
                          <a:cs typeface="Times New Roman" panose="02020603050405020304" pitchFamily="18" charset="0"/>
                        </a:rPr>
                        <a:t>Title </a:t>
                      </a:r>
                    </a:p>
                  </a:txBody>
                  <a:tcPr/>
                </a:tc>
                <a:tc>
                  <a:txBody>
                    <a:bodyPr/>
                    <a:lstStyle/>
                    <a:p>
                      <a:pPr algn="ctr"/>
                      <a:r>
                        <a:rPr lang="en-US" dirty="0">
                          <a:latin typeface="Times New Roman" panose="02020603050405020304" pitchFamily="18" charset="0"/>
                          <a:cs typeface="Times New Roman" panose="02020603050405020304" pitchFamily="18" charset="0"/>
                        </a:rPr>
                        <a:t>Methodology</a:t>
                      </a:r>
                    </a:p>
                  </a:txBody>
                  <a:tcPr/>
                </a:tc>
                <a:tc>
                  <a:txBody>
                    <a:bodyPr/>
                    <a:lstStyle/>
                    <a:p>
                      <a:pPr algn="ctr"/>
                      <a:r>
                        <a:rPr lang="en-US" dirty="0">
                          <a:latin typeface="Times New Roman" panose="02020603050405020304" pitchFamily="18" charset="0"/>
                          <a:cs typeface="Times New Roman" panose="02020603050405020304" pitchFamily="18" charset="0"/>
                        </a:rPr>
                        <a:t>Key Findings</a:t>
                      </a:r>
                    </a:p>
                  </a:txBody>
                  <a:tcPr/>
                </a:tc>
                <a:extLst>
                  <a:ext uri="{0D108BD9-81ED-4DB2-BD59-A6C34878D82A}">
                    <a16:rowId xmlns:a16="http://schemas.microsoft.com/office/drawing/2014/main" val="3994737503"/>
                  </a:ext>
                </a:extLst>
              </a:tr>
              <a:tr h="370840">
                <a:tc>
                  <a:txBody>
                    <a:bodyPr/>
                    <a:lstStyle/>
                    <a:p>
                      <a:pPr algn="ctr"/>
                      <a:r>
                        <a:rPr lang="en-US" dirty="0">
                          <a:latin typeface="Times New Roman" panose="02020603050405020304" pitchFamily="18" charset="0"/>
                          <a:cs typeface="Times New Roman" panose="02020603050405020304" pitchFamily="18" charset="0"/>
                        </a:rPr>
                        <a:t>S. Islam, M. S. Sikder, M. F. Hossain, and P. </a:t>
                      </a:r>
                      <a:r>
                        <a:rPr lang="en-US" dirty="0" err="1">
                          <a:latin typeface="Times New Roman" panose="02020603050405020304" pitchFamily="18" charset="0"/>
                          <a:cs typeface="Times New Roman" panose="02020603050405020304" pitchFamily="18" charset="0"/>
                        </a:rPr>
                        <a:t>Chakrabo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rty</a:t>
                      </a:r>
                      <a:r>
                        <a:rPr lang="en-US" dirty="0">
                          <a:latin typeface="Times New Roman" panose="02020603050405020304" pitchFamily="18" charset="0"/>
                          <a:cs typeface="Times New Roman" panose="02020603050405020304" pitchFamily="18" charset="0"/>
                        </a:rPr>
                        <a:t> [14] </a:t>
                      </a:r>
                    </a:p>
                  </a:txBody>
                  <a:tcPr/>
                </a:tc>
                <a:tc>
                  <a:txBody>
                    <a:bodyPr/>
                    <a:lstStyle/>
                    <a:p>
                      <a:pPr algn="ctr"/>
                      <a:r>
                        <a:rPr lang="en-US" dirty="0">
                          <a:latin typeface="Times New Roman" panose="02020603050405020304" pitchFamily="18" charset="0"/>
                          <a:cs typeface="Times New Roman" panose="02020603050405020304" pitchFamily="18" charset="0"/>
                        </a:rPr>
                        <a:t>2021 </a:t>
                      </a:r>
                    </a:p>
                  </a:txBody>
                  <a:tcPr/>
                </a:tc>
                <a:tc>
                  <a:txBody>
                    <a:bodyPr/>
                    <a:lstStyle/>
                    <a:p>
                      <a:pPr algn="ctr"/>
                      <a:r>
                        <a:rPr lang="en-US" dirty="0">
                          <a:latin typeface="Times New Roman" panose="02020603050405020304" pitchFamily="18" charset="0"/>
                          <a:cs typeface="Times New Roman" panose="02020603050405020304" pitchFamily="18" charset="0"/>
                        </a:rPr>
                        <a:t>Predicting the daily closing price of selected shares on the Dhaka Stock Exchange using machine learning techniques. </a:t>
                      </a:r>
                    </a:p>
                  </a:txBody>
                  <a:tcPr/>
                </a:tc>
                <a:tc>
                  <a:txBody>
                    <a:bodyPr/>
                    <a:lstStyle/>
                    <a:p>
                      <a:pPr algn="ctr"/>
                      <a:r>
                        <a:rPr lang="en-US" dirty="0">
                          <a:latin typeface="Times New Roman" panose="02020603050405020304" pitchFamily="18" charset="0"/>
                          <a:cs typeface="Times New Roman" panose="02020603050405020304" pitchFamily="18" charset="0"/>
                        </a:rPr>
                        <a:t>Linear SVR, KNN, Regression. </a:t>
                      </a:r>
                    </a:p>
                  </a:txBody>
                  <a:tcPr/>
                </a:tc>
                <a:tc>
                  <a:txBody>
                    <a:bodyPr/>
                    <a:lstStyle/>
                    <a:p>
                      <a:pPr algn="ctr"/>
                      <a:r>
                        <a:rPr lang="en-US" dirty="0">
                          <a:latin typeface="Times New Roman" panose="02020603050405020304" pitchFamily="18" charset="0"/>
                          <a:cs typeface="Times New Roman" panose="02020603050405020304" pitchFamily="18" charset="0"/>
                        </a:rPr>
                        <a:t>The research found that the Support Vector Regression (SVR) algorithm outperformed the </a:t>
                      </a:r>
                      <a:r>
                        <a:rPr lang="en-US" dirty="0" err="1">
                          <a:latin typeface="Times New Roman" panose="02020603050405020304" pitchFamily="18" charset="0"/>
                          <a:cs typeface="Times New Roman" panose="02020603050405020304" pitchFamily="18" charset="0"/>
                        </a:rPr>
                        <a:t>Knearest</a:t>
                      </a:r>
                      <a:r>
                        <a:rPr lang="en-US" dirty="0">
                          <a:latin typeface="Times New Roman" panose="02020603050405020304" pitchFamily="18" charset="0"/>
                          <a:cs typeface="Times New Roman" panose="02020603050405020304" pitchFamily="18" charset="0"/>
                        </a:rPr>
                        <a:t> neighbor (KNN) regression in predicting stock prices on the Dhaka Stock Exchange. </a:t>
                      </a:r>
                    </a:p>
                  </a:txBody>
                  <a:tcPr/>
                </a:tc>
                <a:extLst>
                  <a:ext uri="{0D108BD9-81ED-4DB2-BD59-A6C34878D82A}">
                    <a16:rowId xmlns:a16="http://schemas.microsoft.com/office/drawing/2014/main" val="2838952715"/>
                  </a:ext>
                </a:extLst>
              </a:tr>
              <a:tr h="370840">
                <a:tc>
                  <a:txBody>
                    <a:bodyPr/>
                    <a:lstStyle/>
                    <a:p>
                      <a:pPr algn="ctr"/>
                      <a:r>
                        <a:rPr lang="en-US" dirty="0">
                          <a:latin typeface="Times New Roman" panose="02020603050405020304" pitchFamily="18" charset="0"/>
                          <a:cs typeface="Times New Roman" panose="02020603050405020304" pitchFamily="18" charset="0"/>
                        </a:rPr>
                        <a:t>C. </a:t>
                      </a:r>
                      <a:r>
                        <a:rPr lang="en-US" dirty="0" err="1">
                          <a:latin typeface="Times New Roman" panose="02020603050405020304" pitchFamily="18" charset="0"/>
                          <a:cs typeface="Times New Roman" panose="02020603050405020304" pitchFamily="18" charset="0"/>
                        </a:rPr>
                        <a:t>Fjellström</a:t>
                      </a:r>
                      <a:r>
                        <a:rPr lang="en-US" dirty="0">
                          <a:latin typeface="Times New Roman" panose="02020603050405020304" pitchFamily="18" charset="0"/>
                          <a:cs typeface="Times New Roman" panose="02020603050405020304" pitchFamily="18" charset="0"/>
                        </a:rPr>
                        <a:t> [3]</a:t>
                      </a:r>
                    </a:p>
                  </a:txBody>
                  <a:tcPr/>
                </a:tc>
                <a:tc>
                  <a:txBody>
                    <a:bodyPr/>
                    <a:lstStyle/>
                    <a:p>
                      <a:pPr algn="ctr"/>
                      <a:r>
                        <a:rPr lang="en-US" dirty="0">
                          <a:latin typeface="Times New Roman" panose="02020603050405020304" pitchFamily="18" charset="0"/>
                          <a:cs typeface="Times New Roman" panose="02020603050405020304" pitchFamily="18" charset="0"/>
                        </a:rPr>
                        <a:t>2022 </a:t>
                      </a:r>
                    </a:p>
                  </a:txBody>
                  <a:tcPr/>
                </a:tc>
                <a:tc>
                  <a:txBody>
                    <a:bodyPr/>
                    <a:lstStyle/>
                    <a:p>
                      <a:pPr algn="ctr"/>
                      <a:r>
                        <a:rPr lang="en-US" dirty="0">
                          <a:latin typeface="Times New Roman" panose="02020603050405020304" pitchFamily="18" charset="0"/>
                          <a:cs typeface="Times New Roman" panose="02020603050405020304" pitchFamily="18" charset="0"/>
                        </a:rPr>
                        <a:t>Long Short-Term Memory Neural Network for Financial Time Series</a:t>
                      </a:r>
                    </a:p>
                  </a:txBody>
                  <a:tcPr/>
                </a:tc>
                <a:tc>
                  <a:txBody>
                    <a:bodyPr/>
                    <a:lstStyle/>
                    <a:p>
                      <a:pPr algn="ctr"/>
                      <a:r>
                        <a:rPr lang="en-US" dirty="0">
                          <a:latin typeface="Times New Roman" panose="02020603050405020304" pitchFamily="18" charset="0"/>
                          <a:cs typeface="Times New Roman" panose="02020603050405020304" pitchFamily="18" charset="0"/>
                        </a:rPr>
                        <a:t>LSTM</a:t>
                      </a:r>
                    </a:p>
                  </a:txBody>
                  <a:tcPr/>
                </a:tc>
                <a:tc>
                  <a:txBody>
                    <a:bodyPr/>
                    <a:lstStyle/>
                    <a:p>
                      <a:pPr algn="ctr"/>
                      <a:r>
                        <a:rPr lang="en-US" dirty="0">
                          <a:latin typeface="Times New Roman" panose="02020603050405020304" pitchFamily="18" charset="0"/>
                          <a:cs typeface="Times New Roman" panose="02020603050405020304" pitchFamily="18" charset="0"/>
                        </a:rPr>
                        <a:t>The LSTM ensemble provided better average daily returns and higher cumulative returns over time when applied to the Stockholm OMX30 index.</a:t>
                      </a:r>
                    </a:p>
                  </a:txBody>
                  <a:tcPr/>
                </a:tc>
                <a:extLst>
                  <a:ext uri="{0D108BD9-81ED-4DB2-BD59-A6C34878D82A}">
                    <a16:rowId xmlns:a16="http://schemas.microsoft.com/office/drawing/2014/main" val="1151569113"/>
                  </a:ext>
                </a:extLst>
              </a:tr>
              <a:tr h="370840">
                <a:tc>
                  <a:txBody>
                    <a:bodyPr/>
                    <a:lstStyle/>
                    <a:p>
                      <a:pPr algn="ctr"/>
                      <a:r>
                        <a:rPr lang="es-ES" dirty="0">
                          <a:latin typeface="Times New Roman" panose="02020603050405020304" pitchFamily="18" charset="0"/>
                          <a:cs typeface="Times New Roman" panose="02020603050405020304" pitchFamily="18" charset="0"/>
                        </a:rPr>
                        <a:t>G. Velarde, P. </a:t>
                      </a:r>
                      <a:r>
                        <a:rPr lang="es-ES" dirty="0" err="1">
                          <a:latin typeface="Times New Roman" panose="02020603050405020304" pitchFamily="18" charset="0"/>
                          <a:cs typeface="Times New Roman" panose="02020603050405020304" pitchFamily="18" charset="0"/>
                        </a:rPr>
                        <a:t>Brañez</a:t>
                      </a:r>
                      <a:r>
                        <a:rPr lang="es-ES" dirty="0">
                          <a:latin typeface="Times New Roman" panose="02020603050405020304" pitchFamily="18" charset="0"/>
                          <a:cs typeface="Times New Roman" panose="02020603050405020304" pitchFamily="18" charset="0"/>
                        </a:rPr>
                        <a:t>, A. Bueno, R. Heredia, and M. </a:t>
                      </a:r>
                      <a:r>
                        <a:rPr lang="es-ES" dirty="0" err="1">
                          <a:latin typeface="Times New Roman" panose="02020603050405020304" pitchFamily="18" charset="0"/>
                          <a:cs typeface="Times New Roman" panose="02020603050405020304" pitchFamily="18" charset="0"/>
                        </a:rPr>
                        <a:t>LópezLedezma</a:t>
                      </a:r>
                      <a:r>
                        <a:rPr lang="es-ES" dirty="0">
                          <a:latin typeface="Times New Roman" panose="02020603050405020304" pitchFamily="18" charset="0"/>
                          <a:cs typeface="Times New Roman" panose="02020603050405020304" pitchFamily="18" charset="0"/>
                        </a:rPr>
                        <a:t> [6] </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2022</a:t>
                      </a:r>
                    </a:p>
                  </a:txBody>
                  <a:tcPr/>
                </a:tc>
                <a:tc>
                  <a:txBody>
                    <a:bodyPr/>
                    <a:lstStyle/>
                    <a:p>
                      <a:pPr algn="ctr"/>
                      <a:r>
                        <a:rPr lang="en-US" dirty="0">
                          <a:latin typeface="Times New Roman" panose="02020603050405020304" pitchFamily="18" charset="0"/>
                          <a:cs typeface="Times New Roman" panose="02020603050405020304" pitchFamily="18" charset="0"/>
                        </a:rPr>
                        <a:t>An Open Source and Reproducible Implementation of LSTM and GRU Networks for Time Series Forecasting</a:t>
                      </a:r>
                    </a:p>
                  </a:txBody>
                  <a:tcPr/>
                </a:tc>
                <a:tc>
                  <a:txBody>
                    <a:bodyPr/>
                    <a:lstStyle/>
                    <a:p>
                      <a:pPr algn="ctr"/>
                      <a:r>
                        <a:rPr lang="en-US" dirty="0">
                          <a:latin typeface="Times New Roman" panose="02020603050405020304" pitchFamily="18" charset="0"/>
                          <a:cs typeface="Times New Roman" panose="02020603050405020304" pitchFamily="18" charset="0"/>
                        </a:rPr>
                        <a:t>CNN, LSTM, RNN</a:t>
                      </a:r>
                    </a:p>
                  </a:txBody>
                  <a:tcPr/>
                </a:tc>
                <a:tc>
                  <a:txBody>
                    <a:bodyPr/>
                    <a:lstStyle/>
                    <a:p>
                      <a:pPr algn="ctr"/>
                      <a:r>
                        <a:rPr lang="en-US" dirty="0">
                          <a:latin typeface="Times New Roman" panose="02020603050405020304" pitchFamily="18" charset="0"/>
                          <a:cs typeface="Times New Roman" panose="02020603050405020304" pitchFamily="18" charset="0"/>
                        </a:rPr>
                        <a:t>LSTM and GRU networks can be effectively trained using a single time series to forecast unseen time series.</a:t>
                      </a:r>
                    </a:p>
                  </a:txBody>
                  <a:tcPr/>
                </a:tc>
                <a:extLst>
                  <a:ext uri="{0D108BD9-81ED-4DB2-BD59-A6C34878D82A}">
                    <a16:rowId xmlns:a16="http://schemas.microsoft.com/office/drawing/2014/main" val="1046831784"/>
                  </a:ext>
                </a:extLst>
              </a:tr>
            </a:tbl>
          </a:graphicData>
        </a:graphic>
      </p:graphicFrame>
    </p:spTree>
    <p:extLst>
      <p:ext uri="{BB962C8B-B14F-4D97-AF65-F5344CB8AC3E}">
        <p14:creationId xmlns:p14="http://schemas.microsoft.com/office/powerpoint/2010/main" val="3414697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D346E-92E5-D56D-AD10-08A4C1258F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D24161-9383-B20C-BBDF-67DD589082F2}"/>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Background Study</a:t>
            </a:r>
            <a:endParaRPr lang="en-US" dirty="0">
              <a:solidFill>
                <a:srgbClr val="7030A0"/>
              </a:solidFill>
            </a:endParaRPr>
          </a:p>
        </p:txBody>
      </p:sp>
      <p:sp>
        <p:nvSpPr>
          <p:cNvPr id="4" name="Slide Number Placeholder 3">
            <a:extLst>
              <a:ext uri="{FF2B5EF4-FFF2-40B4-BE49-F238E27FC236}">
                <a16:creationId xmlns:a16="http://schemas.microsoft.com/office/drawing/2014/main" id="{FA597E64-35FA-D073-76CF-95ED9FC8AC67}"/>
              </a:ext>
            </a:extLst>
          </p:cNvPr>
          <p:cNvSpPr>
            <a:spLocks noGrp="1"/>
          </p:cNvSpPr>
          <p:nvPr>
            <p:ph type="sldNum" sz="quarter" idx="16"/>
          </p:nvPr>
        </p:nvSpPr>
        <p:spPr>
          <a:xfrm>
            <a:off x="9319768" y="5975351"/>
            <a:ext cx="2844800" cy="365125"/>
          </a:xfrm>
        </p:spPr>
        <p:txBody>
          <a:bodyPr/>
          <a:lstStyle/>
          <a:p>
            <a:pPr>
              <a:defRPr/>
            </a:pPr>
            <a:fld id="{4CD333A3-7515-47B8-9EDC-EE0892D9C861}" type="slidenum">
              <a:rPr lang="en-US" smtClean="0"/>
              <a:pPr>
                <a:defRPr/>
              </a:pPr>
              <a:t>6</a:t>
            </a:fld>
            <a:endParaRPr lang="en-US" dirty="0"/>
          </a:p>
        </p:txBody>
      </p:sp>
      <p:sp>
        <p:nvSpPr>
          <p:cNvPr id="6" name="TextBox 5">
            <a:extLst>
              <a:ext uri="{FF2B5EF4-FFF2-40B4-BE49-F238E27FC236}">
                <a16:creationId xmlns:a16="http://schemas.microsoft.com/office/drawing/2014/main" id="{BAB82D66-6F33-C7AC-2DD4-60CE4C8D8D44}"/>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graphicFrame>
        <p:nvGraphicFramePr>
          <p:cNvPr id="3" name="Content Placeholder 2">
            <a:extLst>
              <a:ext uri="{FF2B5EF4-FFF2-40B4-BE49-F238E27FC236}">
                <a16:creationId xmlns:a16="http://schemas.microsoft.com/office/drawing/2014/main" id="{C52038C2-C55F-78A8-0A23-3F93F1E744DD}"/>
              </a:ext>
            </a:extLst>
          </p:cNvPr>
          <p:cNvGraphicFramePr>
            <a:graphicFrameLocks noGrp="1"/>
          </p:cNvGraphicFramePr>
          <p:nvPr>
            <p:ph sz="quarter" idx="13"/>
            <p:extLst>
              <p:ext uri="{D42A27DB-BD31-4B8C-83A1-F6EECF244321}">
                <p14:modId xmlns:p14="http://schemas.microsoft.com/office/powerpoint/2010/main" val="4268378910"/>
              </p:ext>
            </p:extLst>
          </p:nvPr>
        </p:nvGraphicFramePr>
        <p:xfrm>
          <a:off x="609600" y="1143000"/>
          <a:ext cx="10972800" cy="5034280"/>
        </p:xfrm>
        <a:graphic>
          <a:graphicData uri="http://schemas.openxmlformats.org/drawingml/2006/table">
            <a:tbl>
              <a:tblPr firstRow="1" bandRow="1">
                <a:tableStyleId>{BC89EF96-8CEA-46FF-86C4-4CE0E7609802}</a:tableStyleId>
              </a:tblPr>
              <a:tblGrid>
                <a:gridCol w="1752600">
                  <a:extLst>
                    <a:ext uri="{9D8B030D-6E8A-4147-A177-3AD203B41FA5}">
                      <a16:colId xmlns:a16="http://schemas.microsoft.com/office/drawing/2014/main" val="2144045920"/>
                    </a:ext>
                  </a:extLst>
                </a:gridCol>
                <a:gridCol w="762000">
                  <a:extLst>
                    <a:ext uri="{9D8B030D-6E8A-4147-A177-3AD203B41FA5}">
                      <a16:colId xmlns:a16="http://schemas.microsoft.com/office/drawing/2014/main" val="3522062171"/>
                    </a:ext>
                  </a:extLst>
                </a:gridCol>
                <a:gridCol w="3886200">
                  <a:extLst>
                    <a:ext uri="{9D8B030D-6E8A-4147-A177-3AD203B41FA5}">
                      <a16:colId xmlns:a16="http://schemas.microsoft.com/office/drawing/2014/main" val="1124533435"/>
                    </a:ext>
                  </a:extLst>
                </a:gridCol>
                <a:gridCol w="1524000">
                  <a:extLst>
                    <a:ext uri="{9D8B030D-6E8A-4147-A177-3AD203B41FA5}">
                      <a16:colId xmlns:a16="http://schemas.microsoft.com/office/drawing/2014/main" val="1703596176"/>
                    </a:ext>
                  </a:extLst>
                </a:gridCol>
                <a:gridCol w="3048000">
                  <a:extLst>
                    <a:ext uri="{9D8B030D-6E8A-4147-A177-3AD203B41FA5}">
                      <a16:colId xmlns:a16="http://schemas.microsoft.com/office/drawing/2014/main" val="2677107947"/>
                    </a:ext>
                  </a:extLst>
                </a:gridCol>
              </a:tblGrid>
              <a:tr h="370840">
                <a:tc>
                  <a:txBody>
                    <a:bodyPr/>
                    <a:lstStyle/>
                    <a:p>
                      <a:pPr algn="ctr"/>
                      <a:r>
                        <a:rPr lang="en-US" dirty="0">
                          <a:latin typeface="Times New Roman" panose="02020603050405020304" pitchFamily="18" charset="0"/>
                          <a:cs typeface="Times New Roman" panose="02020603050405020304" pitchFamily="18" charset="0"/>
                        </a:rPr>
                        <a:t>Author (s)</a:t>
                      </a:r>
                    </a:p>
                  </a:txBody>
                  <a:tcPr/>
                </a:tc>
                <a:tc>
                  <a:txBody>
                    <a:bodyPr/>
                    <a:lstStyle/>
                    <a:p>
                      <a:pPr algn="ctr"/>
                      <a:r>
                        <a:rPr lang="en-US" dirty="0">
                          <a:latin typeface="Times New Roman" panose="02020603050405020304" pitchFamily="18" charset="0"/>
                          <a:cs typeface="Times New Roman" panose="02020603050405020304" pitchFamily="18" charset="0"/>
                        </a:rPr>
                        <a:t>Year</a:t>
                      </a:r>
                    </a:p>
                  </a:txBody>
                  <a:tcPr/>
                </a:tc>
                <a:tc>
                  <a:txBody>
                    <a:bodyPr/>
                    <a:lstStyle/>
                    <a:p>
                      <a:pPr algn="ctr"/>
                      <a:r>
                        <a:rPr lang="en-US" dirty="0">
                          <a:latin typeface="Times New Roman" panose="02020603050405020304" pitchFamily="18" charset="0"/>
                          <a:cs typeface="Times New Roman" panose="02020603050405020304" pitchFamily="18" charset="0"/>
                        </a:rPr>
                        <a:t>Title </a:t>
                      </a:r>
                    </a:p>
                  </a:txBody>
                  <a:tcPr/>
                </a:tc>
                <a:tc>
                  <a:txBody>
                    <a:bodyPr/>
                    <a:lstStyle/>
                    <a:p>
                      <a:pPr algn="ctr"/>
                      <a:r>
                        <a:rPr lang="en-US" dirty="0">
                          <a:latin typeface="Times New Roman" panose="02020603050405020304" pitchFamily="18" charset="0"/>
                          <a:cs typeface="Times New Roman" panose="02020603050405020304" pitchFamily="18" charset="0"/>
                        </a:rPr>
                        <a:t>Methodology</a:t>
                      </a:r>
                    </a:p>
                  </a:txBody>
                  <a:tcPr/>
                </a:tc>
                <a:tc>
                  <a:txBody>
                    <a:bodyPr/>
                    <a:lstStyle/>
                    <a:p>
                      <a:pPr algn="ctr"/>
                      <a:r>
                        <a:rPr lang="en-US" dirty="0">
                          <a:latin typeface="Times New Roman" panose="02020603050405020304" pitchFamily="18" charset="0"/>
                          <a:cs typeface="Times New Roman" panose="02020603050405020304" pitchFamily="18" charset="0"/>
                        </a:rPr>
                        <a:t>Key Findings</a:t>
                      </a:r>
                    </a:p>
                  </a:txBody>
                  <a:tcPr/>
                </a:tc>
                <a:extLst>
                  <a:ext uri="{0D108BD9-81ED-4DB2-BD59-A6C34878D82A}">
                    <a16:rowId xmlns:a16="http://schemas.microsoft.com/office/drawing/2014/main" val="3994737503"/>
                  </a:ext>
                </a:extLst>
              </a:tr>
              <a:tr h="0">
                <a:tc>
                  <a:txBody>
                    <a:bodyPr/>
                    <a:lstStyle/>
                    <a:p>
                      <a:pPr algn="ctr"/>
                      <a:r>
                        <a:rPr lang="en-US" dirty="0">
                          <a:latin typeface="Times New Roman" panose="02020603050405020304" pitchFamily="18" charset="0"/>
                          <a:cs typeface="Times New Roman" panose="02020603050405020304" pitchFamily="18" charset="0"/>
                        </a:rPr>
                        <a:t>M. N. R. Khan, S. M. R. Reza, O. Al Tanim, M. S. Salsabil, K. M. Hasib, and M. S. Alam [16]</a:t>
                      </a:r>
                    </a:p>
                  </a:txBody>
                  <a:tcPr/>
                </a:tc>
                <a:tc>
                  <a:txBody>
                    <a:bodyPr/>
                    <a:lstStyle/>
                    <a:p>
                      <a:pPr algn="ctr"/>
                      <a:r>
                        <a:rPr lang="en-US" dirty="0">
                          <a:latin typeface="Times New Roman" panose="02020603050405020304" pitchFamily="18" charset="0"/>
                          <a:cs typeface="Times New Roman" panose="02020603050405020304" pitchFamily="18" charset="0"/>
                        </a:rPr>
                        <a:t>2022 </a:t>
                      </a:r>
                    </a:p>
                  </a:txBody>
                  <a:tcPr/>
                </a:tc>
                <a:tc>
                  <a:txBody>
                    <a:bodyPr/>
                    <a:lstStyle/>
                    <a:p>
                      <a:pPr algn="ctr"/>
                      <a:r>
                        <a:rPr lang="en-US" dirty="0">
                          <a:latin typeface="Times New Roman" panose="02020603050405020304" pitchFamily="18" charset="0"/>
                          <a:cs typeface="Times New Roman" panose="02020603050405020304" pitchFamily="18" charset="0"/>
                        </a:rPr>
                        <a:t>A hybrid method based on machine learning to predict the stock prices in Bangladesh</a:t>
                      </a:r>
                    </a:p>
                  </a:txBody>
                  <a:tcPr/>
                </a:tc>
                <a:tc>
                  <a:txBody>
                    <a:bodyPr/>
                    <a:lstStyle/>
                    <a:p>
                      <a:pPr algn="ctr"/>
                      <a:r>
                        <a:rPr lang="en-US" dirty="0">
                          <a:latin typeface="Times New Roman" panose="02020603050405020304" pitchFamily="18" charset="0"/>
                          <a:cs typeface="Times New Roman" panose="02020603050405020304" pitchFamily="18" charset="0"/>
                        </a:rPr>
                        <a:t>Hybrid Model (Regression, RNN) </a:t>
                      </a:r>
                    </a:p>
                  </a:txBody>
                  <a:tcPr/>
                </a:tc>
                <a:tc>
                  <a:txBody>
                    <a:bodyPr/>
                    <a:lstStyle/>
                    <a:p>
                      <a:pPr algn="ctr"/>
                      <a:r>
                        <a:rPr lang="en-US" dirty="0">
                          <a:latin typeface="Times New Roman" panose="02020603050405020304" pitchFamily="18" charset="0"/>
                          <a:cs typeface="Times New Roman" panose="02020603050405020304" pitchFamily="18" charset="0"/>
                        </a:rPr>
                        <a:t>They proposed a hybrid model that combines Regression and RNN. Also, use historical data to forecast</a:t>
                      </a:r>
                    </a:p>
                  </a:txBody>
                  <a:tcPr/>
                </a:tc>
                <a:extLst>
                  <a:ext uri="{0D108BD9-81ED-4DB2-BD59-A6C34878D82A}">
                    <a16:rowId xmlns:a16="http://schemas.microsoft.com/office/drawing/2014/main" val="2838952715"/>
                  </a:ext>
                </a:extLst>
              </a:tr>
              <a:tr h="0">
                <a:tc>
                  <a:txBody>
                    <a:bodyPr/>
                    <a:lstStyle/>
                    <a:p>
                      <a:pPr algn="ctr"/>
                      <a:r>
                        <a:rPr lang="da-DK" dirty="0">
                          <a:latin typeface="Times New Roman" panose="02020603050405020304" pitchFamily="18" charset="0"/>
                          <a:cs typeface="Times New Roman" panose="02020603050405020304" pitchFamily="18" charset="0"/>
                        </a:rPr>
                        <a:t>T. Muhamm ad et al. [9]</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2022 </a:t>
                      </a:r>
                    </a:p>
                  </a:txBody>
                  <a:tcPr/>
                </a:tc>
                <a:tc>
                  <a:txBody>
                    <a:bodyPr/>
                    <a:lstStyle/>
                    <a:p>
                      <a:pPr algn="ctr"/>
                      <a:r>
                        <a:rPr lang="en-US" dirty="0" err="1">
                          <a:latin typeface="Times New Roman" panose="02020603050405020304" pitchFamily="18" charset="0"/>
                          <a:cs typeface="Times New Roman" panose="02020603050405020304" pitchFamily="18" charset="0"/>
                        </a:rPr>
                        <a:t>Transformerbased</a:t>
                      </a:r>
                      <a:r>
                        <a:rPr lang="en-US" dirty="0">
                          <a:latin typeface="Times New Roman" panose="02020603050405020304" pitchFamily="18" charset="0"/>
                          <a:cs typeface="Times New Roman" panose="02020603050405020304" pitchFamily="18" charset="0"/>
                        </a:rPr>
                        <a:t> deep learning model for stock price prediction: A case study on the Bangladesh stock market.</a:t>
                      </a:r>
                    </a:p>
                  </a:txBody>
                  <a:tcPr/>
                </a:tc>
                <a:tc>
                  <a:txBody>
                    <a:bodyPr/>
                    <a:lstStyle/>
                    <a:p>
                      <a:pPr algn="ctr"/>
                      <a:r>
                        <a:rPr lang="en-US" dirty="0" err="1">
                          <a:latin typeface="Times New Roman" panose="02020603050405020304" pitchFamily="18" charset="0"/>
                          <a:cs typeface="Times New Roman" panose="02020603050405020304" pitchFamily="18" charset="0"/>
                        </a:rPr>
                        <a:t>Transformerbased</a:t>
                      </a:r>
                      <a:r>
                        <a:rPr lang="en-US" dirty="0">
                          <a:latin typeface="Times New Roman" panose="02020603050405020304" pitchFamily="18" charset="0"/>
                          <a:cs typeface="Times New Roman" panose="02020603050405020304" pitchFamily="18" charset="0"/>
                        </a:rPr>
                        <a:t> learning model with time2vec encoding.</a:t>
                      </a:r>
                    </a:p>
                  </a:txBody>
                  <a:tcPr/>
                </a:tc>
                <a:tc>
                  <a:txBody>
                    <a:bodyPr/>
                    <a:lstStyle/>
                    <a:p>
                      <a:pPr algn="ctr"/>
                      <a:r>
                        <a:rPr lang="en-US" dirty="0">
                          <a:latin typeface="Times New Roman" panose="02020603050405020304" pitchFamily="18" charset="0"/>
                          <a:cs typeface="Times New Roman" panose="02020603050405020304" pitchFamily="18" charset="0"/>
                        </a:rPr>
                        <a:t>The transformer model can effectively predict stock prices in the Dhaka stock exchange.</a:t>
                      </a:r>
                    </a:p>
                  </a:txBody>
                  <a:tcPr/>
                </a:tc>
                <a:extLst>
                  <a:ext uri="{0D108BD9-81ED-4DB2-BD59-A6C34878D82A}">
                    <a16:rowId xmlns:a16="http://schemas.microsoft.com/office/drawing/2014/main" val="1151569113"/>
                  </a:ext>
                </a:extLst>
              </a:tr>
              <a:tr h="370840">
                <a:tc>
                  <a:txBody>
                    <a:bodyPr/>
                    <a:lstStyle/>
                    <a:p>
                      <a:pPr algn="ctr"/>
                      <a:r>
                        <a:rPr lang="en-US" dirty="0">
                          <a:latin typeface="Times New Roman" panose="02020603050405020304" pitchFamily="18" charset="0"/>
                          <a:cs typeface="Times New Roman" panose="02020603050405020304" pitchFamily="18" charset="0"/>
                        </a:rPr>
                        <a:t>R. Parvin [15]</a:t>
                      </a:r>
                    </a:p>
                  </a:txBody>
                  <a:tcPr/>
                </a:tc>
                <a:tc>
                  <a:txBody>
                    <a:bodyPr/>
                    <a:lstStyle/>
                    <a:p>
                      <a:pPr algn="ctr"/>
                      <a:r>
                        <a:rPr lang="en-US" dirty="0">
                          <a:latin typeface="Times New Roman" panose="02020603050405020304" pitchFamily="18" charset="0"/>
                          <a:cs typeface="Times New Roman" panose="02020603050405020304" pitchFamily="18" charset="0"/>
                        </a:rPr>
                        <a:t>2022</a:t>
                      </a:r>
                    </a:p>
                  </a:txBody>
                  <a:tcPr/>
                </a:tc>
                <a:tc>
                  <a:txBody>
                    <a:bodyPr/>
                    <a:lstStyle/>
                    <a:p>
                      <a:pPr algn="ctr"/>
                      <a:r>
                        <a:rPr lang="en-US" dirty="0">
                          <a:latin typeface="Times New Roman" panose="02020603050405020304" pitchFamily="18" charset="0"/>
                          <a:cs typeface="Times New Roman" panose="02020603050405020304" pitchFamily="18" charset="0"/>
                        </a:rPr>
                        <a:t>The relationship between Bangladesh’s financial development, exchange rates, and stock market capitalization: An empirical study using the NARDL model and machine learning</a:t>
                      </a:r>
                    </a:p>
                  </a:txBody>
                  <a:tcPr/>
                </a:tc>
                <a:tc>
                  <a:txBody>
                    <a:bodyPr/>
                    <a:lstStyle/>
                    <a:p>
                      <a:pPr algn="ctr"/>
                      <a:r>
                        <a:rPr lang="en-US" dirty="0">
                          <a:latin typeface="Times New Roman" panose="02020603050405020304" pitchFamily="18" charset="0"/>
                          <a:cs typeface="Times New Roman" panose="02020603050405020304" pitchFamily="18" charset="0"/>
                        </a:rPr>
                        <a:t>NARDL</a:t>
                      </a:r>
                    </a:p>
                  </a:txBody>
                  <a:tcPr/>
                </a:tc>
                <a:tc>
                  <a:txBody>
                    <a:bodyPr/>
                    <a:lstStyle/>
                    <a:p>
                      <a:pPr algn="ctr"/>
                      <a:r>
                        <a:rPr lang="en-US" dirty="0">
                          <a:latin typeface="Times New Roman" panose="02020603050405020304" pitchFamily="18" charset="0"/>
                          <a:cs typeface="Times New Roman" panose="02020603050405020304" pitchFamily="18" charset="0"/>
                        </a:rPr>
                        <a:t>Changes in financial development and exchange rates positively impact stock market capitalization in Bangladesh</a:t>
                      </a:r>
                    </a:p>
                  </a:txBody>
                  <a:tcPr/>
                </a:tc>
                <a:extLst>
                  <a:ext uri="{0D108BD9-81ED-4DB2-BD59-A6C34878D82A}">
                    <a16:rowId xmlns:a16="http://schemas.microsoft.com/office/drawing/2014/main" val="1046831784"/>
                  </a:ext>
                </a:extLst>
              </a:tr>
            </a:tbl>
          </a:graphicData>
        </a:graphic>
      </p:graphicFrame>
    </p:spTree>
    <p:extLst>
      <p:ext uri="{BB962C8B-B14F-4D97-AF65-F5344CB8AC3E}">
        <p14:creationId xmlns:p14="http://schemas.microsoft.com/office/powerpoint/2010/main" val="854778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C8277-D242-2FE2-25B6-09D15A1B3F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DFCBE8-8642-DB3F-5D6D-CE2EE8479644}"/>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Background Study</a:t>
            </a:r>
            <a:endParaRPr lang="en-US" dirty="0">
              <a:solidFill>
                <a:srgbClr val="7030A0"/>
              </a:solidFill>
            </a:endParaRPr>
          </a:p>
        </p:txBody>
      </p:sp>
      <p:sp>
        <p:nvSpPr>
          <p:cNvPr id="4" name="Slide Number Placeholder 3">
            <a:extLst>
              <a:ext uri="{FF2B5EF4-FFF2-40B4-BE49-F238E27FC236}">
                <a16:creationId xmlns:a16="http://schemas.microsoft.com/office/drawing/2014/main" id="{4C653B78-28EC-9D15-1F01-8200C896FA6A}"/>
              </a:ext>
            </a:extLst>
          </p:cNvPr>
          <p:cNvSpPr>
            <a:spLocks noGrp="1"/>
          </p:cNvSpPr>
          <p:nvPr>
            <p:ph type="sldNum" sz="quarter" idx="16"/>
          </p:nvPr>
        </p:nvSpPr>
        <p:spPr>
          <a:xfrm>
            <a:off x="9319768" y="5975351"/>
            <a:ext cx="2844800" cy="365125"/>
          </a:xfrm>
        </p:spPr>
        <p:txBody>
          <a:bodyPr/>
          <a:lstStyle/>
          <a:p>
            <a:pPr>
              <a:defRPr/>
            </a:pPr>
            <a:fld id="{4CD333A3-7515-47B8-9EDC-EE0892D9C861}" type="slidenum">
              <a:rPr lang="en-US" smtClean="0"/>
              <a:pPr>
                <a:defRPr/>
              </a:pPr>
              <a:t>7</a:t>
            </a:fld>
            <a:endParaRPr lang="en-US" dirty="0"/>
          </a:p>
        </p:txBody>
      </p:sp>
      <p:sp>
        <p:nvSpPr>
          <p:cNvPr id="6" name="TextBox 5">
            <a:extLst>
              <a:ext uri="{FF2B5EF4-FFF2-40B4-BE49-F238E27FC236}">
                <a16:creationId xmlns:a16="http://schemas.microsoft.com/office/drawing/2014/main" id="{609F1259-ED9F-7EDC-642B-28EC8ABE1751}"/>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graphicFrame>
        <p:nvGraphicFramePr>
          <p:cNvPr id="3" name="Content Placeholder 2">
            <a:extLst>
              <a:ext uri="{FF2B5EF4-FFF2-40B4-BE49-F238E27FC236}">
                <a16:creationId xmlns:a16="http://schemas.microsoft.com/office/drawing/2014/main" id="{916AFDFE-A12B-3133-2E0B-33F406EDE327}"/>
              </a:ext>
            </a:extLst>
          </p:cNvPr>
          <p:cNvGraphicFramePr>
            <a:graphicFrameLocks noGrp="1"/>
          </p:cNvGraphicFramePr>
          <p:nvPr>
            <p:ph sz="quarter" idx="13"/>
            <p:extLst>
              <p:ext uri="{D42A27DB-BD31-4B8C-83A1-F6EECF244321}">
                <p14:modId xmlns:p14="http://schemas.microsoft.com/office/powerpoint/2010/main" val="2659693369"/>
              </p:ext>
            </p:extLst>
          </p:nvPr>
        </p:nvGraphicFramePr>
        <p:xfrm>
          <a:off x="609600" y="1143000"/>
          <a:ext cx="10972800" cy="5125720"/>
        </p:xfrm>
        <a:graphic>
          <a:graphicData uri="http://schemas.openxmlformats.org/drawingml/2006/table">
            <a:tbl>
              <a:tblPr firstRow="1" bandRow="1">
                <a:tableStyleId>{BC89EF96-8CEA-46FF-86C4-4CE0E7609802}</a:tableStyleId>
              </a:tblPr>
              <a:tblGrid>
                <a:gridCol w="1981200">
                  <a:extLst>
                    <a:ext uri="{9D8B030D-6E8A-4147-A177-3AD203B41FA5}">
                      <a16:colId xmlns:a16="http://schemas.microsoft.com/office/drawing/2014/main" val="2144045920"/>
                    </a:ext>
                  </a:extLst>
                </a:gridCol>
                <a:gridCol w="685800">
                  <a:extLst>
                    <a:ext uri="{9D8B030D-6E8A-4147-A177-3AD203B41FA5}">
                      <a16:colId xmlns:a16="http://schemas.microsoft.com/office/drawing/2014/main" val="3522062171"/>
                    </a:ext>
                  </a:extLst>
                </a:gridCol>
                <a:gridCol w="3048000">
                  <a:extLst>
                    <a:ext uri="{9D8B030D-6E8A-4147-A177-3AD203B41FA5}">
                      <a16:colId xmlns:a16="http://schemas.microsoft.com/office/drawing/2014/main" val="1124533435"/>
                    </a:ext>
                  </a:extLst>
                </a:gridCol>
                <a:gridCol w="1752600">
                  <a:extLst>
                    <a:ext uri="{9D8B030D-6E8A-4147-A177-3AD203B41FA5}">
                      <a16:colId xmlns:a16="http://schemas.microsoft.com/office/drawing/2014/main" val="1703596176"/>
                    </a:ext>
                  </a:extLst>
                </a:gridCol>
                <a:gridCol w="3505200">
                  <a:extLst>
                    <a:ext uri="{9D8B030D-6E8A-4147-A177-3AD203B41FA5}">
                      <a16:colId xmlns:a16="http://schemas.microsoft.com/office/drawing/2014/main" val="2677107947"/>
                    </a:ext>
                  </a:extLst>
                </a:gridCol>
              </a:tblGrid>
              <a:tr h="370840">
                <a:tc>
                  <a:txBody>
                    <a:bodyPr/>
                    <a:lstStyle/>
                    <a:p>
                      <a:pPr algn="ctr"/>
                      <a:r>
                        <a:rPr lang="en-US" dirty="0">
                          <a:latin typeface="Times New Roman" panose="02020603050405020304" pitchFamily="18" charset="0"/>
                          <a:cs typeface="Times New Roman" panose="02020603050405020304" pitchFamily="18" charset="0"/>
                        </a:rPr>
                        <a:t>Author (s)</a:t>
                      </a:r>
                    </a:p>
                  </a:txBody>
                  <a:tcPr/>
                </a:tc>
                <a:tc>
                  <a:txBody>
                    <a:bodyPr/>
                    <a:lstStyle/>
                    <a:p>
                      <a:pPr algn="ctr"/>
                      <a:r>
                        <a:rPr lang="en-US" dirty="0">
                          <a:latin typeface="Times New Roman" panose="02020603050405020304" pitchFamily="18" charset="0"/>
                          <a:cs typeface="Times New Roman" panose="02020603050405020304" pitchFamily="18" charset="0"/>
                        </a:rPr>
                        <a:t>Year</a:t>
                      </a:r>
                    </a:p>
                  </a:txBody>
                  <a:tcPr/>
                </a:tc>
                <a:tc>
                  <a:txBody>
                    <a:bodyPr/>
                    <a:lstStyle/>
                    <a:p>
                      <a:pPr algn="ctr"/>
                      <a:r>
                        <a:rPr lang="en-US" dirty="0">
                          <a:latin typeface="Times New Roman" panose="02020603050405020304" pitchFamily="18" charset="0"/>
                          <a:cs typeface="Times New Roman" panose="02020603050405020304" pitchFamily="18" charset="0"/>
                        </a:rPr>
                        <a:t>Title </a:t>
                      </a:r>
                    </a:p>
                  </a:txBody>
                  <a:tcPr/>
                </a:tc>
                <a:tc>
                  <a:txBody>
                    <a:bodyPr/>
                    <a:lstStyle/>
                    <a:p>
                      <a:pPr algn="ctr"/>
                      <a:r>
                        <a:rPr lang="en-US" dirty="0">
                          <a:latin typeface="Times New Roman" panose="02020603050405020304" pitchFamily="18" charset="0"/>
                          <a:cs typeface="Times New Roman" panose="02020603050405020304" pitchFamily="18" charset="0"/>
                        </a:rPr>
                        <a:t>Methodology</a:t>
                      </a:r>
                    </a:p>
                  </a:txBody>
                  <a:tcPr/>
                </a:tc>
                <a:tc>
                  <a:txBody>
                    <a:bodyPr/>
                    <a:lstStyle/>
                    <a:p>
                      <a:pPr algn="ctr"/>
                      <a:r>
                        <a:rPr lang="en-US" dirty="0">
                          <a:latin typeface="Times New Roman" panose="02020603050405020304" pitchFamily="18" charset="0"/>
                          <a:cs typeface="Times New Roman" panose="02020603050405020304" pitchFamily="18" charset="0"/>
                        </a:rPr>
                        <a:t>Key Findings</a:t>
                      </a:r>
                    </a:p>
                  </a:txBody>
                  <a:tcPr/>
                </a:tc>
                <a:extLst>
                  <a:ext uri="{0D108BD9-81ED-4DB2-BD59-A6C34878D82A}">
                    <a16:rowId xmlns:a16="http://schemas.microsoft.com/office/drawing/2014/main" val="3994737503"/>
                  </a:ext>
                </a:extLst>
              </a:tr>
              <a:tr h="370840">
                <a:tc>
                  <a:txBody>
                    <a:bodyPr/>
                    <a:lstStyle/>
                    <a:p>
                      <a:pPr algn="ctr"/>
                      <a:r>
                        <a:rPr lang="en-US" dirty="0">
                          <a:latin typeface="Times New Roman" panose="02020603050405020304" pitchFamily="18" charset="0"/>
                          <a:cs typeface="Times New Roman" panose="02020603050405020304" pitchFamily="18" charset="0"/>
                        </a:rPr>
                        <a:t>Z. Lin [2]</a:t>
                      </a:r>
                    </a:p>
                  </a:txBody>
                  <a:tcPr/>
                </a:tc>
                <a:tc>
                  <a:txBody>
                    <a:bodyPr/>
                    <a:lstStyle/>
                    <a:p>
                      <a:pPr algn="ctr"/>
                      <a:r>
                        <a:rPr lang="en-US" dirty="0">
                          <a:latin typeface="Times New Roman" panose="02020603050405020304" pitchFamily="18" charset="0"/>
                          <a:cs typeface="Times New Roman" panose="02020603050405020304" pitchFamily="18" charset="0"/>
                        </a:rPr>
                        <a:t>2023 </a:t>
                      </a:r>
                    </a:p>
                  </a:txBody>
                  <a:tcPr/>
                </a:tc>
                <a:tc>
                  <a:txBody>
                    <a:bodyPr/>
                    <a:lstStyle/>
                    <a:p>
                      <a:pPr algn="ctr"/>
                      <a:r>
                        <a:rPr lang="en-US" dirty="0">
                          <a:latin typeface="Times New Roman" panose="02020603050405020304" pitchFamily="18" charset="0"/>
                          <a:cs typeface="Times New Roman" panose="02020603050405020304" pitchFamily="18" charset="0"/>
                        </a:rPr>
                        <a:t>Comparative Study of LSTM and Transformer for A-Share Stock Price Prediction</a:t>
                      </a:r>
                    </a:p>
                  </a:txBody>
                  <a:tcPr/>
                </a:tc>
                <a:tc>
                  <a:txBody>
                    <a:bodyPr/>
                    <a:lstStyle/>
                    <a:p>
                      <a:pPr algn="ctr"/>
                      <a:r>
                        <a:rPr lang="en-US" dirty="0">
                          <a:latin typeface="Times New Roman" panose="02020603050405020304" pitchFamily="18" charset="0"/>
                          <a:cs typeface="Times New Roman" panose="02020603050405020304" pitchFamily="18" charset="0"/>
                        </a:rPr>
                        <a:t>LSTM, Transformer</a:t>
                      </a:r>
                    </a:p>
                  </a:txBody>
                  <a:tcPr/>
                </a:tc>
                <a:tc>
                  <a:txBody>
                    <a:bodyPr/>
                    <a:lstStyle/>
                    <a:p>
                      <a:pPr algn="ctr"/>
                      <a:r>
                        <a:rPr lang="en-US" dirty="0">
                          <a:latin typeface="Times New Roman" panose="02020603050405020304" pitchFamily="18" charset="0"/>
                          <a:cs typeface="Times New Roman" panose="02020603050405020304" pitchFamily="18" charset="0"/>
                        </a:rPr>
                        <a:t>LSTM outperforms Transformer in terms of MSE and MAE.</a:t>
                      </a:r>
                    </a:p>
                  </a:txBody>
                  <a:tcPr/>
                </a:tc>
                <a:extLst>
                  <a:ext uri="{0D108BD9-81ED-4DB2-BD59-A6C34878D82A}">
                    <a16:rowId xmlns:a16="http://schemas.microsoft.com/office/drawing/2014/main" val="2838952715"/>
                  </a:ext>
                </a:extLst>
              </a:tr>
              <a:tr h="370840">
                <a:tc>
                  <a:txBody>
                    <a:bodyPr/>
                    <a:lstStyle/>
                    <a:p>
                      <a:pPr algn="ctr"/>
                      <a:r>
                        <a:rPr lang="da-DK" dirty="0">
                          <a:latin typeface="Times New Roman" panose="02020603050405020304" pitchFamily="18" charset="0"/>
                          <a:cs typeface="Times New Roman" panose="02020603050405020304" pitchFamily="18" charset="0"/>
                        </a:rPr>
                        <a:t>S. Zaheer et al. [1]</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2023 </a:t>
                      </a:r>
                    </a:p>
                  </a:txBody>
                  <a:tcPr/>
                </a:tc>
                <a:tc>
                  <a:txBody>
                    <a:bodyPr/>
                    <a:lstStyle/>
                    <a:p>
                      <a:pPr algn="ctr"/>
                      <a:r>
                        <a:rPr lang="en-US" dirty="0">
                          <a:latin typeface="Times New Roman" panose="02020603050405020304" pitchFamily="18" charset="0"/>
                          <a:cs typeface="Times New Roman" panose="02020603050405020304" pitchFamily="18" charset="0"/>
                        </a:rPr>
                        <a:t>A multiparameter forecasting for stock time series data using LSTM and a Deep Learning Model</a:t>
                      </a:r>
                    </a:p>
                  </a:txBody>
                  <a:tcPr/>
                </a:tc>
                <a:tc>
                  <a:txBody>
                    <a:bodyPr/>
                    <a:lstStyle/>
                    <a:p>
                      <a:pPr algn="ctr"/>
                      <a:r>
                        <a:rPr lang="en-US" dirty="0">
                          <a:latin typeface="Times New Roman" panose="02020603050405020304" pitchFamily="18" charset="0"/>
                          <a:cs typeface="Times New Roman" panose="02020603050405020304" pitchFamily="18" charset="0"/>
                        </a:rPr>
                        <a:t>Hybrid </a:t>
                      </a:r>
                      <a:r>
                        <a:rPr lang="en-US" dirty="0" err="1">
                          <a:latin typeface="Times New Roman" panose="02020603050405020304" pitchFamily="18" charset="0"/>
                          <a:cs typeface="Times New Roman" panose="02020603050405020304" pitchFamily="18" charset="0"/>
                        </a:rPr>
                        <a:t>deeplearning</a:t>
                      </a:r>
                      <a:r>
                        <a:rPr lang="en-US" dirty="0">
                          <a:latin typeface="Times New Roman" panose="02020603050405020304" pitchFamily="18" charset="0"/>
                          <a:cs typeface="Times New Roman" panose="02020603050405020304" pitchFamily="18" charset="0"/>
                        </a:rPr>
                        <a:t> (CNN, LSTM, RNN) </a:t>
                      </a:r>
                    </a:p>
                  </a:txBody>
                  <a:tcPr/>
                </a:tc>
                <a:tc>
                  <a:txBody>
                    <a:bodyPr/>
                    <a:lstStyle/>
                    <a:p>
                      <a:pPr algn="ctr"/>
                      <a:r>
                        <a:rPr lang="en-US" dirty="0">
                          <a:latin typeface="Times New Roman" panose="02020603050405020304" pitchFamily="18" charset="0"/>
                          <a:cs typeface="Times New Roman" panose="02020603050405020304" pitchFamily="18" charset="0"/>
                        </a:rPr>
                        <a:t>The model forecasts the close price and the high price for the next day. The proposed model improves forecasting accuracy by up to 2.2%. </a:t>
                      </a:r>
                    </a:p>
                  </a:txBody>
                  <a:tcPr/>
                </a:tc>
                <a:extLst>
                  <a:ext uri="{0D108BD9-81ED-4DB2-BD59-A6C34878D82A}">
                    <a16:rowId xmlns:a16="http://schemas.microsoft.com/office/drawing/2014/main" val="1151569113"/>
                  </a:ext>
                </a:extLst>
              </a:tr>
              <a:tr h="370840">
                <a:tc>
                  <a:txBody>
                    <a:bodyPr/>
                    <a:lstStyle/>
                    <a:p>
                      <a:pPr algn="ctr"/>
                      <a:r>
                        <a:rPr lang="en-US" dirty="0">
                          <a:latin typeface="Times New Roman" panose="02020603050405020304" pitchFamily="18" charset="0"/>
                          <a:cs typeface="Times New Roman" panose="02020603050405020304" pitchFamily="18" charset="0"/>
                        </a:rPr>
                        <a:t>H. </a:t>
                      </a:r>
                      <a:r>
                        <a:rPr lang="en-US" dirty="0" err="1">
                          <a:latin typeface="Times New Roman" panose="02020603050405020304" pitchFamily="18" charset="0"/>
                          <a:cs typeface="Times New Roman" panose="02020603050405020304" pitchFamily="18" charset="0"/>
                        </a:rPr>
                        <a:t>Widiputr</a:t>
                      </a:r>
                      <a:r>
                        <a:rPr lang="en-US" dirty="0">
                          <a:latin typeface="Times New Roman" panose="02020603050405020304" pitchFamily="18" charset="0"/>
                          <a:cs typeface="Times New Roman" panose="02020603050405020304" pitchFamily="18" charset="0"/>
                        </a:rPr>
                        <a:t> a and E. Juwono [4]</a:t>
                      </a:r>
                    </a:p>
                  </a:txBody>
                  <a:tcPr/>
                </a:tc>
                <a:tc>
                  <a:txBody>
                    <a:bodyPr/>
                    <a:lstStyle/>
                    <a:p>
                      <a:pPr algn="ctr"/>
                      <a:r>
                        <a:rPr lang="en-US" dirty="0">
                          <a:latin typeface="Times New Roman" panose="02020603050405020304" pitchFamily="18" charset="0"/>
                          <a:cs typeface="Times New Roman" panose="02020603050405020304" pitchFamily="18" charset="0"/>
                        </a:rPr>
                        <a:t>2023</a:t>
                      </a:r>
                    </a:p>
                  </a:txBody>
                  <a:tcPr/>
                </a:tc>
                <a:tc>
                  <a:txBody>
                    <a:bodyPr/>
                    <a:lstStyle/>
                    <a:p>
                      <a:pPr algn="ctr"/>
                      <a:r>
                        <a:rPr lang="en-US" dirty="0">
                          <a:latin typeface="Times New Roman" panose="02020603050405020304" pitchFamily="18" charset="0"/>
                          <a:cs typeface="Times New Roman" panose="02020603050405020304" pitchFamily="18" charset="0"/>
                        </a:rPr>
                        <a:t>Parallel multivariate deep learning models for timeseries prediction: A comparative analysis in Asian stock markets </a:t>
                      </a:r>
                    </a:p>
                  </a:txBody>
                  <a:tcPr/>
                </a:tc>
                <a:tc>
                  <a:txBody>
                    <a:bodyPr/>
                    <a:lstStyle/>
                    <a:p>
                      <a:pPr algn="ctr"/>
                      <a:r>
                        <a:rPr lang="en-US" dirty="0">
                          <a:latin typeface="Times New Roman" panose="02020603050405020304" pitchFamily="18" charset="0"/>
                          <a:cs typeface="Times New Roman" panose="02020603050405020304" pitchFamily="18" charset="0"/>
                        </a:rPr>
                        <a:t>CNN, LSTM, </a:t>
                      </a:r>
                      <a:r>
                        <a:rPr lang="en-US" dirty="0" err="1">
                          <a:latin typeface="Times New Roman" panose="02020603050405020304" pitchFamily="18" charset="0"/>
                          <a:cs typeface="Times New Roman" panose="02020603050405020304" pitchFamily="18" charset="0"/>
                        </a:rPr>
                        <a:t>StackedLST</a:t>
                      </a:r>
                      <a:r>
                        <a:rPr lang="en-US" dirty="0">
                          <a:latin typeface="Times New Roman" panose="02020603050405020304" pitchFamily="18" charset="0"/>
                          <a:cs typeface="Times New Roman" panose="02020603050405020304" pitchFamily="18" charset="0"/>
                        </a:rPr>
                        <a:t> M, CNNLSTM, </a:t>
                      </a:r>
                      <a:r>
                        <a:rPr lang="en-US" dirty="0" err="1">
                          <a:latin typeface="Times New Roman" panose="02020603050405020304" pitchFamily="18" charset="0"/>
                          <a:cs typeface="Times New Roman" panose="02020603050405020304" pitchFamily="18" charset="0"/>
                        </a:rPr>
                        <a:t>ConvLSTM</a:t>
                      </a:r>
                      <a:r>
                        <a:rPr lang="en-US" dirty="0">
                          <a:latin typeface="Times New Roman" panose="02020603050405020304" pitchFamily="18" charset="0"/>
                          <a:cs typeface="Times New Roman" panose="02020603050405020304" pitchFamily="18" charset="0"/>
                        </a:rPr>
                        <a:t>.</a:t>
                      </a:r>
                    </a:p>
                  </a:txBody>
                  <a:tcPr/>
                </a:tc>
                <a:tc>
                  <a:txBody>
                    <a:bodyPr/>
                    <a:lstStyle/>
                    <a:p>
                      <a:pPr algn="ctr"/>
                      <a:r>
                        <a:rPr lang="en-US" dirty="0">
                          <a:latin typeface="Times New Roman" panose="02020603050405020304" pitchFamily="18" charset="0"/>
                          <a:cs typeface="Times New Roman" panose="02020603050405020304" pitchFamily="18" charset="0"/>
                        </a:rPr>
                        <a:t>Showcased the </a:t>
                      </a:r>
                      <a:r>
                        <a:rPr lang="en-US" dirty="0" err="1">
                          <a:latin typeface="Times New Roman" panose="02020603050405020304" pitchFamily="18" charset="0"/>
                          <a:cs typeface="Times New Roman" panose="02020603050405020304" pitchFamily="18" charset="0"/>
                        </a:rPr>
                        <a:t>potentialPotential</a:t>
                      </a:r>
                      <a:r>
                        <a:rPr lang="en-US" dirty="0">
                          <a:latin typeface="Times New Roman" panose="02020603050405020304" pitchFamily="18" charset="0"/>
                          <a:cs typeface="Times New Roman" panose="02020603050405020304" pitchFamily="18" charset="0"/>
                        </a:rPr>
                        <a:t> of blockchain to enhance supply chain transparency.</a:t>
                      </a:r>
                    </a:p>
                  </a:txBody>
                  <a:tcPr/>
                </a:tc>
                <a:extLst>
                  <a:ext uri="{0D108BD9-81ED-4DB2-BD59-A6C34878D82A}">
                    <a16:rowId xmlns:a16="http://schemas.microsoft.com/office/drawing/2014/main" val="1046831784"/>
                  </a:ext>
                </a:extLst>
              </a:tr>
              <a:tr h="370840">
                <a:tc>
                  <a:txBody>
                    <a:bodyPr/>
                    <a:lstStyle/>
                    <a:p>
                      <a:pPr algn="ctr"/>
                      <a:r>
                        <a:rPr lang="en-US" dirty="0">
                          <a:latin typeface="Times New Roman" panose="02020603050405020304" pitchFamily="18" charset="0"/>
                          <a:cs typeface="Times New Roman" panose="02020603050405020304" pitchFamily="18" charset="0"/>
                        </a:rPr>
                        <a:t>B. </a:t>
                      </a:r>
                      <a:r>
                        <a:rPr lang="en-US" dirty="0" err="1">
                          <a:latin typeface="Times New Roman" panose="02020603050405020304" pitchFamily="18" charset="0"/>
                          <a:cs typeface="Times New Roman" panose="02020603050405020304" pitchFamily="18" charset="0"/>
                        </a:rPr>
                        <a:t>Pashshoe</a:t>
                      </a:r>
                      <a:r>
                        <a:rPr lang="en-US" dirty="0">
                          <a:latin typeface="Times New Roman" panose="02020603050405020304" pitchFamily="18" charset="0"/>
                          <a:cs typeface="Times New Roman" panose="02020603050405020304" pitchFamily="18" charset="0"/>
                        </a:rPr>
                        <a:t> v and D. A. Petrusevi </a:t>
                      </a:r>
                      <a:r>
                        <a:rPr lang="en-US" dirty="0" err="1">
                          <a:latin typeface="Times New Roman" panose="02020603050405020304" pitchFamily="18" charset="0"/>
                          <a:cs typeface="Times New Roman" panose="02020603050405020304" pitchFamily="18" charset="0"/>
                        </a:rPr>
                        <a:t>ch</a:t>
                      </a:r>
                      <a:r>
                        <a:rPr lang="en-US" dirty="0">
                          <a:latin typeface="Times New Roman" panose="02020603050405020304" pitchFamily="18" charset="0"/>
                          <a:cs typeface="Times New Roman" panose="02020603050405020304" pitchFamily="18" charset="0"/>
                        </a:rPr>
                        <a:t> [5].</a:t>
                      </a:r>
                    </a:p>
                  </a:txBody>
                  <a:tcPr/>
                </a:tc>
                <a:tc>
                  <a:txBody>
                    <a:bodyPr/>
                    <a:lstStyle/>
                    <a:p>
                      <a:pPr algn="ctr"/>
                      <a:r>
                        <a:rPr lang="en-US" dirty="0">
                          <a:latin typeface="Times New Roman" panose="02020603050405020304" pitchFamily="18" charset="0"/>
                          <a:cs typeface="Times New Roman" panose="02020603050405020304" pitchFamily="18" charset="0"/>
                        </a:rPr>
                        <a:t>2023</a:t>
                      </a:r>
                    </a:p>
                  </a:txBody>
                  <a:tcPr/>
                </a:tc>
                <a:tc>
                  <a:txBody>
                    <a:bodyPr/>
                    <a:lstStyle/>
                    <a:p>
                      <a:pPr algn="ctr"/>
                      <a:r>
                        <a:rPr lang="en-US" dirty="0">
                          <a:latin typeface="Times New Roman" panose="02020603050405020304" pitchFamily="18" charset="0"/>
                          <a:cs typeface="Times New Roman" panose="02020603050405020304" pitchFamily="18" charset="0"/>
                        </a:rPr>
                        <a:t>Neural network analysis in time series forecasting </a:t>
                      </a:r>
                    </a:p>
                  </a:txBody>
                  <a:tcPr/>
                </a:tc>
                <a:tc>
                  <a:txBody>
                    <a:bodyPr/>
                    <a:lstStyle/>
                    <a:p>
                      <a:pPr algn="ctr"/>
                      <a:r>
                        <a:rPr lang="en-US" dirty="0">
                          <a:latin typeface="Times New Roman" panose="02020603050405020304" pitchFamily="18" charset="0"/>
                          <a:cs typeface="Times New Roman" panose="02020603050405020304" pitchFamily="18" charset="0"/>
                        </a:rPr>
                        <a:t>LSTM, GRU, RNN, ARIMA.</a:t>
                      </a:r>
                    </a:p>
                  </a:txBody>
                  <a:tcPr/>
                </a:tc>
                <a:tc>
                  <a:txBody>
                    <a:bodyPr/>
                    <a:lstStyle/>
                    <a:p>
                      <a:pPr algn="ctr"/>
                      <a:r>
                        <a:rPr lang="en-US" dirty="0">
                          <a:latin typeface="Times New Roman" panose="02020603050405020304" pitchFamily="18" charset="0"/>
                          <a:cs typeface="Times New Roman" panose="02020603050405020304" pitchFamily="18" charset="0"/>
                        </a:rPr>
                        <a:t>Neural network models (LSTM, GRU, RNN) outperformed standard models (ARIMA, ETS) in forecasting. </a:t>
                      </a:r>
                    </a:p>
                  </a:txBody>
                  <a:tcPr/>
                </a:tc>
                <a:extLst>
                  <a:ext uri="{0D108BD9-81ED-4DB2-BD59-A6C34878D82A}">
                    <a16:rowId xmlns:a16="http://schemas.microsoft.com/office/drawing/2014/main" val="3173670032"/>
                  </a:ext>
                </a:extLst>
              </a:tr>
            </a:tbl>
          </a:graphicData>
        </a:graphic>
      </p:graphicFrame>
    </p:spTree>
    <p:extLst>
      <p:ext uri="{BB962C8B-B14F-4D97-AF65-F5344CB8AC3E}">
        <p14:creationId xmlns:p14="http://schemas.microsoft.com/office/powerpoint/2010/main" val="3295459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E3A14-4F43-59D4-E100-D6F4991E4C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73DC04-64EC-B20B-739B-2BEB7FD89265}"/>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Background Study</a:t>
            </a:r>
            <a:endParaRPr lang="en-US" dirty="0">
              <a:solidFill>
                <a:srgbClr val="7030A0"/>
              </a:solidFill>
            </a:endParaRPr>
          </a:p>
        </p:txBody>
      </p:sp>
      <p:sp>
        <p:nvSpPr>
          <p:cNvPr id="4" name="Slide Number Placeholder 3">
            <a:extLst>
              <a:ext uri="{FF2B5EF4-FFF2-40B4-BE49-F238E27FC236}">
                <a16:creationId xmlns:a16="http://schemas.microsoft.com/office/drawing/2014/main" id="{9967EC8D-7349-6EB1-E3B3-C0FD65D8F31C}"/>
              </a:ext>
            </a:extLst>
          </p:cNvPr>
          <p:cNvSpPr>
            <a:spLocks noGrp="1"/>
          </p:cNvSpPr>
          <p:nvPr>
            <p:ph type="sldNum" sz="quarter" idx="16"/>
          </p:nvPr>
        </p:nvSpPr>
        <p:spPr>
          <a:xfrm>
            <a:off x="9319768" y="5975351"/>
            <a:ext cx="2844800" cy="365125"/>
          </a:xfrm>
        </p:spPr>
        <p:txBody>
          <a:bodyPr/>
          <a:lstStyle/>
          <a:p>
            <a:pPr>
              <a:defRPr/>
            </a:pPr>
            <a:fld id="{4CD333A3-7515-47B8-9EDC-EE0892D9C861}" type="slidenum">
              <a:rPr lang="en-US" smtClean="0"/>
              <a:pPr>
                <a:defRPr/>
              </a:pPr>
              <a:t>8</a:t>
            </a:fld>
            <a:endParaRPr lang="en-US" dirty="0"/>
          </a:p>
        </p:txBody>
      </p:sp>
      <p:sp>
        <p:nvSpPr>
          <p:cNvPr id="6" name="TextBox 5">
            <a:extLst>
              <a:ext uri="{FF2B5EF4-FFF2-40B4-BE49-F238E27FC236}">
                <a16:creationId xmlns:a16="http://schemas.microsoft.com/office/drawing/2014/main" id="{478CE39F-F334-23ED-7898-F5F39B6CA319}"/>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graphicFrame>
        <p:nvGraphicFramePr>
          <p:cNvPr id="3" name="Content Placeholder 2">
            <a:extLst>
              <a:ext uri="{FF2B5EF4-FFF2-40B4-BE49-F238E27FC236}">
                <a16:creationId xmlns:a16="http://schemas.microsoft.com/office/drawing/2014/main" id="{49675FC2-4F1A-3BB2-A6CD-81787EE3DFC4}"/>
              </a:ext>
            </a:extLst>
          </p:cNvPr>
          <p:cNvGraphicFramePr>
            <a:graphicFrameLocks noGrp="1"/>
          </p:cNvGraphicFramePr>
          <p:nvPr>
            <p:ph sz="quarter" idx="13"/>
            <p:extLst>
              <p:ext uri="{D42A27DB-BD31-4B8C-83A1-F6EECF244321}">
                <p14:modId xmlns:p14="http://schemas.microsoft.com/office/powerpoint/2010/main" val="2244339529"/>
              </p:ext>
            </p:extLst>
          </p:nvPr>
        </p:nvGraphicFramePr>
        <p:xfrm>
          <a:off x="609600" y="1143000"/>
          <a:ext cx="10972800" cy="5034280"/>
        </p:xfrm>
        <a:graphic>
          <a:graphicData uri="http://schemas.openxmlformats.org/drawingml/2006/table">
            <a:tbl>
              <a:tblPr firstRow="1" bandRow="1">
                <a:tableStyleId>{BC89EF96-8CEA-46FF-86C4-4CE0E7609802}</a:tableStyleId>
              </a:tblPr>
              <a:tblGrid>
                <a:gridCol w="1981200">
                  <a:extLst>
                    <a:ext uri="{9D8B030D-6E8A-4147-A177-3AD203B41FA5}">
                      <a16:colId xmlns:a16="http://schemas.microsoft.com/office/drawing/2014/main" val="2144045920"/>
                    </a:ext>
                  </a:extLst>
                </a:gridCol>
                <a:gridCol w="762000">
                  <a:extLst>
                    <a:ext uri="{9D8B030D-6E8A-4147-A177-3AD203B41FA5}">
                      <a16:colId xmlns:a16="http://schemas.microsoft.com/office/drawing/2014/main" val="3522062171"/>
                    </a:ext>
                  </a:extLst>
                </a:gridCol>
                <a:gridCol w="3429000">
                  <a:extLst>
                    <a:ext uri="{9D8B030D-6E8A-4147-A177-3AD203B41FA5}">
                      <a16:colId xmlns:a16="http://schemas.microsoft.com/office/drawing/2014/main" val="1124533435"/>
                    </a:ext>
                  </a:extLst>
                </a:gridCol>
                <a:gridCol w="1524000">
                  <a:extLst>
                    <a:ext uri="{9D8B030D-6E8A-4147-A177-3AD203B41FA5}">
                      <a16:colId xmlns:a16="http://schemas.microsoft.com/office/drawing/2014/main" val="1703596176"/>
                    </a:ext>
                  </a:extLst>
                </a:gridCol>
                <a:gridCol w="3276600">
                  <a:extLst>
                    <a:ext uri="{9D8B030D-6E8A-4147-A177-3AD203B41FA5}">
                      <a16:colId xmlns:a16="http://schemas.microsoft.com/office/drawing/2014/main" val="2677107947"/>
                    </a:ext>
                  </a:extLst>
                </a:gridCol>
              </a:tblGrid>
              <a:tr h="370840">
                <a:tc>
                  <a:txBody>
                    <a:bodyPr/>
                    <a:lstStyle/>
                    <a:p>
                      <a:pPr algn="ctr"/>
                      <a:r>
                        <a:rPr lang="en-US" dirty="0">
                          <a:latin typeface="Times New Roman" panose="02020603050405020304" pitchFamily="18" charset="0"/>
                          <a:cs typeface="Times New Roman" panose="02020603050405020304" pitchFamily="18" charset="0"/>
                        </a:rPr>
                        <a:t>Author (s)</a:t>
                      </a:r>
                    </a:p>
                  </a:txBody>
                  <a:tcPr/>
                </a:tc>
                <a:tc>
                  <a:txBody>
                    <a:bodyPr/>
                    <a:lstStyle/>
                    <a:p>
                      <a:pPr algn="ctr"/>
                      <a:r>
                        <a:rPr lang="en-US" dirty="0">
                          <a:latin typeface="Times New Roman" panose="02020603050405020304" pitchFamily="18" charset="0"/>
                          <a:cs typeface="Times New Roman" panose="02020603050405020304" pitchFamily="18" charset="0"/>
                        </a:rPr>
                        <a:t>Year</a:t>
                      </a:r>
                    </a:p>
                  </a:txBody>
                  <a:tcPr/>
                </a:tc>
                <a:tc>
                  <a:txBody>
                    <a:bodyPr/>
                    <a:lstStyle/>
                    <a:p>
                      <a:pPr algn="ctr"/>
                      <a:r>
                        <a:rPr lang="en-US" dirty="0">
                          <a:latin typeface="Times New Roman" panose="02020603050405020304" pitchFamily="18" charset="0"/>
                          <a:cs typeface="Times New Roman" panose="02020603050405020304" pitchFamily="18" charset="0"/>
                        </a:rPr>
                        <a:t>Title </a:t>
                      </a:r>
                    </a:p>
                  </a:txBody>
                  <a:tcPr/>
                </a:tc>
                <a:tc>
                  <a:txBody>
                    <a:bodyPr/>
                    <a:lstStyle/>
                    <a:p>
                      <a:pPr algn="ctr"/>
                      <a:r>
                        <a:rPr lang="en-US" dirty="0">
                          <a:latin typeface="Times New Roman" panose="02020603050405020304" pitchFamily="18" charset="0"/>
                          <a:cs typeface="Times New Roman" panose="02020603050405020304" pitchFamily="18" charset="0"/>
                        </a:rPr>
                        <a:t>Methodology</a:t>
                      </a:r>
                    </a:p>
                  </a:txBody>
                  <a:tcPr/>
                </a:tc>
                <a:tc>
                  <a:txBody>
                    <a:bodyPr/>
                    <a:lstStyle/>
                    <a:p>
                      <a:pPr algn="ctr"/>
                      <a:r>
                        <a:rPr lang="en-US" dirty="0">
                          <a:latin typeface="Times New Roman" panose="02020603050405020304" pitchFamily="18" charset="0"/>
                          <a:cs typeface="Times New Roman" panose="02020603050405020304" pitchFamily="18" charset="0"/>
                        </a:rPr>
                        <a:t>Key Findings</a:t>
                      </a:r>
                    </a:p>
                  </a:txBody>
                  <a:tcPr/>
                </a:tc>
                <a:extLst>
                  <a:ext uri="{0D108BD9-81ED-4DB2-BD59-A6C34878D82A}">
                    <a16:rowId xmlns:a16="http://schemas.microsoft.com/office/drawing/2014/main" val="3994737503"/>
                  </a:ext>
                </a:extLst>
              </a:tr>
              <a:tr h="0">
                <a:tc>
                  <a:txBody>
                    <a:bodyPr/>
                    <a:lstStyle/>
                    <a:p>
                      <a:pPr algn="ctr"/>
                      <a:r>
                        <a:rPr lang="sv-SE" dirty="0">
                          <a:latin typeface="Times New Roman" panose="02020603050405020304" pitchFamily="18" charset="0"/>
                          <a:cs typeface="Times New Roman" panose="02020603050405020304" pitchFamily="18" charset="0"/>
                        </a:rPr>
                        <a:t>M. A. Islam, M. R. Sikder, S. M. Ishtiaq, and A. Sattar [10]</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2023 </a:t>
                      </a:r>
                    </a:p>
                  </a:txBody>
                  <a:tcPr/>
                </a:tc>
                <a:tc>
                  <a:txBody>
                    <a:bodyPr/>
                    <a:lstStyle/>
                    <a:p>
                      <a:pPr algn="ctr"/>
                      <a:r>
                        <a:rPr lang="en-US" dirty="0">
                          <a:latin typeface="Times New Roman" panose="02020603050405020304" pitchFamily="18" charset="0"/>
                          <a:cs typeface="Times New Roman" panose="02020603050405020304" pitchFamily="18" charset="0"/>
                        </a:rPr>
                        <a:t>Stock market prediction of Bangladesh using multivariate long short-term memory with sentiment identification</a:t>
                      </a:r>
                    </a:p>
                  </a:txBody>
                  <a:tcPr/>
                </a:tc>
                <a:tc>
                  <a:txBody>
                    <a:bodyPr/>
                    <a:lstStyle/>
                    <a:p>
                      <a:pPr algn="ctr"/>
                      <a:r>
                        <a:rPr lang="en-US" dirty="0">
                          <a:latin typeface="Times New Roman" panose="02020603050405020304" pitchFamily="18" charset="0"/>
                          <a:cs typeface="Times New Roman" panose="02020603050405020304" pitchFamily="18" charset="0"/>
                        </a:rPr>
                        <a:t>LSTM</a:t>
                      </a:r>
                    </a:p>
                  </a:txBody>
                  <a:tcPr/>
                </a:tc>
                <a:tc>
                  <a:txBody>
                    <a:bodyPr/>
                    <a:lstStyle/>
                    <a:p>
                      <a:pPr algn="ctr"/>
                      <a:r>
                        <a:rPr lang="en-US" dirty="0">
                          <a:latin typeface="Times New Roman" panose="02020603050405020304" pitchFamily="18" charset="0"/>
                          <a:cs typeface="Times New Roman" panose="02020603050405020304" pitchFamily="18" charset="0"/>
                        </a:rPr>
                        <a:t>Incorporating external factors like news sentiment and economic indicators significantly improved accuracy</a:t>
                      </a:r>
                    </a:p>
                  </a:txBody>
                  <a:tcPr/>
                </a:tc>
                <a:extLst>
                  <a:ext uri="{0D108BD9-81ED-4DB2-BD59-A6C34878D82A}">
                    <a16:rowId xmlns:a16="http://schemas.microsoft.com/office/drawing/2014/main" val="2838952715"/>
                  </a:ext>
                </a:extLst>
              </a:tr>
              <a:tr h="0">
                <a:tc>
                  <a:txBody>
                    <a:bodyPr/>
                    <a:lstStyle/>
                    <a:p>
                      <a:pPr algn="ctr"/>
                      <a:r>
                        <a:rPr lang="en-US" dirty="0">
                          <a:latin typeface="Times New Roman" panose="02020603050405020304" pitchFamily="18" charset="0"/>
                          <a:cs typeface="Times New Roman" panose="02020603050405020304" pitchFamily="18" charset="0"/>
                        </a:rPr>
                        <a:t>M. N. R. Khan, O. Al Tanim, M. S. Salsabil, S. M. R. Reza, K. M. Hasib, and M. S. Alam [11]</a:t>
                      </a:r>
                    </a:p>
                  </a:txBody>
                  <a:tcPr/>
                </a:tc>
                <a:tc>
                  <a:txBody>
                    <a:bodyPr/>
                    <a:lstStyle/>
                    <a:p>
                      <a:pPr algn="ctr"/>
                      <a:r>
                        <a:rPr lang="en-US" dirty="0">
                          <a:latin typeface="Times New Roman" panose="02020603050405020304" pitchFamily="18" charset="0"/>
                          <a:cs typeface="Times New Roman" panose="02020603050405020304" pitchFamily="18" charset="0"/>
                        </a:rPr>
                        <a:t>2023 </a:t>
                      </a:r>
                    </a:p>
                  </a:txBody>
                  <a:tcPr/>
                </a:tc>
                <a:tc>
                  <a:txBody>
                    <a:bodyPr/>
                    <a:lstStyle/>
                    <a:p>
                      <a:pPr algn="ctr"/>
                      <a:r>
                        <a:rPr lang="en-US" dirty="0">
                          <a:latin typeface="Times New Roman" panose="02020603050405020304" pitchFamily="18" charset="0"/>
                          <a:cs typeface="Times New Roman" panose="02020603050405020304" pitchFamily="18" charset="0"/>
                        </a:rPr>
                        <a:t>A multi-modal deep learning approach for predicting the Dhaka stock exchange. </a:t>
                      </a:r>
                    </a:p>
                  </a:txBody>
                  <a:tcPr/>
                </a:tc>
                <a:tc>
                  <a:txBody>
                    <a:bodyPr/>
                    <a:lstStyle/>
                    <a:p>
                      <a:pPr algn="ctr"/>
                      <a:r>
                        <a:rPr lang="en-US" dirty="0">
                          <a:latin typeface="Times New Roman" panose="02020603050405020304" pitchFamily="18" charset="0"/>
                          <a:cs typeface="Times New Roman" panose="02020603050405020304" pitchFamily="18" charset="0"/>
                        </a:rPr>
                        <a:t>LSTM, GRU, Transformer</a:t>
                      </a:r>
                    </a:p>
                  </a:txBody>
                  <a:tcPr/>
                </a:tc>
                <a:tc>
                  <a:txBody>
                    <a:bodyPr/>
                    <a:lstStyle/>
                    <a:p>
                      <a:pPr algn="ctr"/>
                      <a:r>
                        <a:rPr lang="en-US" dirty="0">
                          <a:latin typeface="Times New Roman" panose="02020603050405020304" pitchFamily="18" charset="0"/>
                          <a:cs typeface="Times New Roman" panose="02020603050405020304" pitchFamily="18" charset="0"/>
                        </a:rPr>
                        <a:t>A reliable and accurate approach for forecasting stock prices in the Dhaka stock exchange using a combination of LSTM, Transformer, and GRU..</a:t>
                      </a:r>
                    </a:p>
                  </a:txBody>
                  <a:tcPr/>
                </a:tc>
                <a:extLst>
                  <a:ext uri="{0D108BD9-81ED-4DB2-BD59-A6C34878D82A}">
                    <a16:rowId xmlns:a16="http://schemas.microsoft.com/office/drawing/2014/main" val="1151569113"/>
                  </a:ext>
                </a:extLst>
              </a:tr>
              <a:tr h="370840">
                <a:tc>
                  <a:txBody>
                    <a:bodyPr/>
                    <a:lstStyle/>
                    <a:p>
                      <a:pPr algn="ctr"/>
                      <a:r>
                        <a:rPr lang="fr-FR" dirty="0">
                          <a:latin typeface="Times New Roman" panose="02020603050405020304" pitchFamily="18" charset="0"/>
                          <a:cs typeface="Times New Roman" panose="02020603050405020304" pitchFamily="18" charset="0"/>
                        </a:rPr>
                        <a:t>M. Z. Islam et al. [13]</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2023</a:t>
                      </a:r>
                    </a:p>
                  </a:txBody>
                  <a:tcPr/>
                </a:tc>
                <a:tc>
                  <a:txBody>
                    <a:bodyPr/>
                    <a:lstStyle/>
                    <a:p>
                      <a:pPr algn="ctr"/>
                      <a:r>
                        <a:rPr lang="en-US" dirty="0">
                          <a:latin typeface="Times New Roman" panose="02020603050405020304" pitchFamily="18" charset="0"/>
                          <a:cs typeface="Times New Roman" panose="02020603050405020304" pitchFamily="18" charset="0"/>
                        </a:rPr>
                        <a:t>The impact of big data analytics on stock price prediction in the Bangladesh stock market: A machine learning approach.</a:t>
                      </a:r>
                    </a:p>
                  </a:txBody>
                  <a:tcPr/>
                </a:tc>
                <a:tc>
                  <a:txBody>
                    <a:bodyPr/>
                    <a:lstStyle/>
                    <a:p>
                      <a:pPr algn="ctr"/>
                      <a:r>
                        <a:rPr lang="en-US" dirty="0">
                          <a:latin typeface="Times New Roman" panose="02020603050405020304" pitchFamily="18" charset="0"/>
                          <a:cs typeface="Times New Roman" panose="02020603050405020304" pitchFamily="18" charset="0"/>
                        </a:rPr>
                        <a:t>Machine learning techniques and sentiment analysis. </a:t>
                      </a:r>
                    </a:p>
                  </a:txBody>
                  <a:tcPr/>
                </a:tc>
                <a:tc>
                  <a:txBody>
                    <a:bodyPr/>
                    <a:lstStyle/>
                    <a:p>
                      <a:pPr algn="ctr"/>
                      <a:r>
                        <a:rPr lang="en-US" dirty="0">
                          <a:latin typeface="Times New Roman" panose="02020603050405020304" pitchFamily="18" charset="0"/>
                          <a:cs typeface="Times New Roman" panose="02020603050405020304" pitchFamily="18" charset="0"/>
                        </a:rPr>
                        <a:t>The research demonstrated that big data analytics and machine learning techniques significantly enhance the accuracy of stock price predictions in the Bangladesh stock market.</a:t>
                      </a:r>
                    </a:p>
                  </a:txBody>
                  <a:tcPr/>
                </a:tc>
                <a:extLst>
                  <a:ext uri="{0D108BD9-81ED-4DB2-BD59-A6C34878D82A}">
                    <a16:rowId xmlns:a16="http://schemas.microsoft.com/office/drawing/2014/main" val="1046831784"/>
                  </a:ext>
                </a:extLst>
              </a:tr>
            </a:tbl>
          </a:graphicData>
        </a:graphic>
      </p:graphicFrame>
    </p:spTree>
    <p:extLst>
      <p:ext uri="{BB962C8B-B14F-4D97-AF65-F5344CB8AC3E}">
        <p14:creationId xmlns:p14="http://schemas.microsoft.com/office/powerpoint/2010/main" val="26152622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8C8BF-D781-74CB-6474-5A685DE5BB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EF7447-8AAC-FA93-12F2-8263113BD6F0}"/>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Background Study</a:t>
            </a:r>
            <a:endParaRPr lang="en-US" dirty="0">
              <a:solidFill>
                <a:srgbClr val="7030A0"/>
              </a:solidFill>
            </a:endParaRPr>
          </a:p>
        </p:txBody>
      </p:sp>
      <p:sp>
        <p:nvSpPr>
          <p:cNvPr id="4" name="Slide Number Placeholder 3">
            <a:extLst>
              <a:ext uri="{FF2B5EF4-FFF2-40B4-BE49-F238E27FC236}">
                <a16:creationId xmlns:a16="http://schemas.microsoft.com/office/drawing/2014/main" id="{D5856EA7-FD2C-7B13-6F02-1BB6BE4588D2}"/>
              </a:ext>
            </a:extLst>
          </p:cNvPr>
          <p:cNvSpPr>
            <a:spLocks noGrp="1"/>
          </p:cNvSpPr>
          <p:nvPr>
            <p:ph type="sldNum" sz="quarter" idx="16"/>
          </p:nvPr>
        </p:nvSpPr>
        <p:spPr>
          <a:xfrm>
            <a:off x="9319768" y="5975351"/>
            <a:ext cx="2844800" cy="365125"/>
          </a:xfrm>
        </p:spPr>
        <p:txBody>
          <a:bodyPr/>
          <a:lstStyle/>
          <a:p>
            <a:pPr>
              <a:defRPr/>
            </a:pPr>
            <a:fld id="{4CD333A3-7515-47B8-9EDC-EE0892D9C861}" type="slidenum">
              <a:rPr lang="en-US" smtClean="0"/>
              <a:pPr>
                <a:defRPr/>
              </a:pPr>
              <a:t>9</a:t>
            </a:fld>
            <a:endParaRPr lang="en-US" dirty="0"/>
          </a:p>
        </p:txBody>
      </p:sp>
      <p:sp>
        <p:nvSpPr>
          <p:cNvPr id="6" name="TextBox 5">
            <a:extLst>
              <a:ext uri="{FF2B5EF4-FFF2-40B4-BE49-F238E27FC236}">
                <a16:creationId xmlns:a16="http://schemas.microsoft.com/office/drawing/2014/main" id="{76654E67-3D57-BC56-F7CB-BF9F5A354AB7}"/>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graphicFrame>
        <p:nvGraphicFramePr>
          <p:cNvPr id="3" name="Content Placeholder 2">
            <a:extLst>
              <a:ext uri="{FF2B5EF4-FFF2-40B4-BE49-F238E27FC236}">
                <a16:creationId xmlns:a16="http://schemas.microsoft.com/office/drawing/2014/main" id="{ABFE1696-EAC6-F1DB-63E5-404ED459DB8E}"/>
              </a:ext>
            </a:extLst>
          </p:cNvPr>
          <p:cNvGraphicFramePr>
            <a:graphicFrameLocks noGrp="1"/>
          </p:cNvGraphicFramePr>
          <p:nvPr>
            <p:ph sz="quarter" idx="13"/>
            <p:extLst>
              <p:ext uri="{D42A27DB-BD31-4B8C-83A1-F6EECF244321}">
                <p14:modId xmlns:p14="http://schemas.microsoft.com/office/powerpoint/2010/main" val="3469272982"/>
              </p:ext>
            </p:extLst>
          </p:nvPr>
        </p:nvGraphicFramePr>
        <p:xfrm>
          <a:off x="609600" y="1143000"/>
          <a:ext cx="10972800" cy="4759960"/>
        </p:xfrm>
        <a:graphic>
          <a:graphicData uri="http://schemas.openxmlformats.org/drawingml/2006/table">
            <a:tbl>
              <a:tblPr firstRow="1" bandRow="1">
                <a:tableStyleId>{BC89EF96-8CEA-46FF-86C4-4CE0E7609802}</a:tableStyleId>
              </a:tblPr>
              <a:tblGrid>
                <a:gridCol w="1752600">
                  <a:extLst>
                    <a:ext uri="{9D8B030D-6E8A-4147-A177-3AD203B41FA5}">
                      <a16:colId xmlns:a16="http://schemas.microsoft.com/office/drawing/2014/main" val="2144045920"/>
                    </a:ext>
                  </a:extLst>
                </a:gridCol>
                <a:gridCol w="762000">
                  <a:extLst>
                    <a:ext uri="{9D8B030D-6E8A-4147-A177-3AD203B41FA5}">
                      <a16:colId xmlns:a16="http://schemas.microsoft.com/office/drawing/2014/main" val="3522062171"/>
                    </a:ext>
                  </a:extLst>
                </a:gridCol>
                <a:gridCol w="3886200">
                  <a:extLst>
                    <a:ext uri="{9D8B030D-6E8A-4147-A177-3AD203B41FA5}">
                      <a16:colId xmlns:a16="http://schemas.microsoft.com/office/drawing/2014/main" val="1124533435"/>
                    </a:ext>
                  </a:extLst>
                </a:gridCol>
                <a:gridCol w="1524000">
                  <a:extLst>
                    <a:ext uri="{9D8B030D-6E8A-4147-A177-3AD203B41FA5}">
                      <a16:colId xmlns:a16="http://schemas.microsoft.com/office/drawing/2014/main" val="1703596176"/>
                    </a:ext>
                  </a:extLst>
                </a:gridCol>
                <a:gridCol w="3048000">
                  <a:extLst>
                    <a:ext uri="{9D8B030D-6E8A-4147-A177-3AD203B41FA5}">
                      <a16:colId xmlns:a16="http://schemas.microsoft.com/office/drawing/2014/main" val="2677107947"/>
                    </a:ext>
                  </a:extLst>
                </a:gridCol>
              </a:tblGrid>
              <a:tr h="370840">
                <a:tc>
                  <a:txBody>
                    <a:bodyPr/>
                    <a:lstStyle/>
                    <a:p>
                      <a:pPr algn="ctr"/>
                      <a:r>
                        <a:rPr lang="en-US" dirty="0">
                          <a:latin typeface="Times New Roman" panose="02020603050405020304" pitchFamily="18" charset="0"/>
                          <a:cs typeface="Times New Roman" panose="02020603050405020304" pitchFamily="18" charset="0"/>
                        </a:rPr>
                        <a:t>Author (s)</a:t>
                      </a:r>
                    </a:p>
                  </a:txBody>
                  <a:tcPr/>
                </a:tc>
                <a:tc>
                  <a:txBody>
                    <a:bodyPr/>
                    <a:lstStyle/>
                    <a:p>
                      <a:pPr algn="ctr"/>
                      <a:r>
                        <a:rPr lang="en-US" dirty="0">
                          <a:latin typeface="Times New Roman" panose="02020603050405020304" pitchFamily="18" charset="0"/>
                          <a:cs typeface="Times New Roman" panose="02020603050405020304" pitchFamily="18" charset="0"/>
                        </a:rPr>
                        <a:t>Year</a:t>
                      </a:r>
                    </a:p>
                  </a:txBody>
                  <a:tcPr/>
                </a:tc>
                <a:tc>
                  <a:txBody>
                    <a:bodyPr/>
                    <a:lstStyle/>
                    <a:p>
                      <a:pPr algn="ctr"/>
                      <a:r>
                        <a:rPr lang="en-US" dirty="0">
                          <a:latin typeface="Times New Roman" panose="02020603050405020304" pitchFamily="18" charset="0"/>
                          <a:cs typeface="Times New Roman" panose="02020603050405020304" pitchFamily="18" charset="0"/>
                        </a:rPr>
                        <a:t>Title </a:t>
                      </a:r>
                    </a:p>
                  </a:txBody>
                  <a:tcPr/>
                </a:tc>
                <a:tc>
                  <a:txBody>
                    <a:bodyPr/>
                    <a:lstStyle/>
                    <a:p>
                      <a:pPr algn="ctr"/>
                      <a:r>
                        <a:rPr lang="en-US" dirty="0">
                          <a:latin typeface="Times New Roman" panose="02020603050405020304" pitchFamily="18" charset="0"/>
                          <a:cs typeface="Times New Roman" panose="02020603050405020304" pitchFamily="18" charset="0"/>
                        </a:rPr>
                        <a:t>Methodology</a:t>
                      </a:r>
                    </a:p>
                  </a:txBody>
                  <a:tcPr/>
                </a:tc>
                <a:tc>
                  <a:txBody>
                    <a:bodyPr/>
                    <a:lstStyle/>
                    <a:p>
                      <a:pPr algn="ctr"/>
                      <a:r>
                        <a:rPr lang="en-US" dirty="0">
                          <a:latin typeface="Times New Roman" panose="02020603050405020304" pitchFamily="18" charset="0"/>
                          <a:cs typeface="Times New Roman" panose="02020603050405020304" pitchFamily="18" charset="0"/>
                        </a:rPr>
                        <a:t>Key Findings</a:t>
                      </a:r>
                    </a:p>
                  </a:txBody>
                  <a:tcPr/>
                </a:tc>
                <a:extLst>
                  <a:ext uri="{0D108BD9-81ED-4DB2-BD59-A6C34878D82A}">
                    <a16:rowId xmlns:a16="http://schemas.microsoft.com/office/drawing/2014/main" val="3994737503"/>
                  </a:ext>
                </a:extLst>
              </a:tr>
              <a:tr h="0">
                <a:tc>
                  <a:txBody>
                    <a:bodyPr/>
                    <a:lstStyle/>
                    <a:p>
                      <a:pPr algn="ctr"/>
                      <a:r>
                        <a:rPr lang="en-US" dirty="0">
                          <a:latin typeface="Times New Roman" panose="02020603050405020304" pitchFamily="18" charset="0"/>
                          <a:cs typeface="Times New Roman" panose="02020603050405020304" pitchFamily="18" charset="0"/>
                        </a:rPr>
                        <a:t>T. Shi and K. Shide [7]</a:t>
                      </a:r>
                    </a:p>
                  </a:txBody>
                  <a:tcPr/>
                </a:tc>
                <a:tc>
                  <a:txBody>
                    <a:bodyPr/>
                    <a:lstStyle/>
                    <a:p>
                      <a:pPr algn="ctr"/>
                      <a:r>
                        <a:rPr lang="en-US" dirty="0">
                          <a:latin typeface="Times New Roman" panose="02020603050405020304" pitchFamily="18" charset="0"/>
                          <a:cs typeface="Times New Roman" panose="02020603050405020304" pitchFamily="18" charset="0"/>
                        </a:rPr>
                        <a:t>2024 </a:t>
                      </a:r>
                    </a:p>
                  </a:txBody>
                  <a:tcPr/>
                </a:tc>
                <a:tc>
                  <a:txBody>
                    <a:bodyPr/>
                    <a:lstStyle/>
                    <a:p>
                      <a:pPr algn="ctr"/>
                      <a:r>
                        <a:rPr lang="en-US" dirty="0">
                          <a:latin typeface="Times New Roman" panose="02020603050405020304" pitchFamily="18" charset="0"/>
                          <a:cs typeface="Times New Roman" panose="02020603050405020304" pitchFamily="18" charset="0"/>
                        </a:rPr>
                        <a:t>Comparative Analysis of LSTM, GRU, and Transformer Models for Stock Price Prediction.</a:t>
                      </a:r>
                    </a:p>
                  </a:txBody>
                  <a:tcPr/>
                </a:tc>
                <a:tc>
                  <a:txBody>
                    <a:bodyPr/>
                    <a:lstStyle/>
                    <a:p>
                      <a:pPr algn="ctr"/>
                      <a:r>
                        <a:rPr lang="en-US" dirty="0">
                          <a:latin typeface="Times New Roman" panose="02020603050405020304" pitchFamily="18" charset="0"/>
                          <a:cs typeface="Times New Roman" panose="02020603050405020304" pitchFamily="18" charset="0"/>
                        </a:rPr>
                        <a:t>LSTM, GRU, Transformer.</a:t>
                      </a:r>
                    </a:p>
                  </a:txBody>
                  <a:tcPr/>
                </a:tc>
                <a:tc>
                  <a:txBody>
                    <a:bodyPr/>
                    <a:lstStyle/>
                    <a:p>
                      <a:pPr algn="ctr"/>
                      <a:r>
                        <a:rPr lang="en-US" dirty="0">
                          <a:latin typeface="Times New Roman" panose="02020603050405020304" pitchFamily="18" charset="0"/>
                          <a:cs typeface="Times New Roman" panose="02020603050405020304" pitchFamily="18" charset="0"/>
                        </a:rPr>
                        <a:t>The LSTM model achieved a high prediction accuracy rate of 94% in the stock price of Tesla.</a:t>
                      </a:r>
                    </a:p>
                  </a:txBody>
                  <a:tcPr/>
                </a:tc>
                <a:extLst>
                  <a:ext uri="{0D108BD9-81ED-4DB2-BD59-A6C34878D82A}">
                    <a16:rowId xmlns:a16="http://schemas.microsoft.com/office/drawing/2014/main" val="2838952715"/>
                  </a:ext>
                </a:extLst>
              </a:tr>
              <a:tr h="0">
                <a:tc>
                  <a:txBody>
                    <a:bodyPr/>
                    <a:lstStyle/>
                    <a:p>
                      <a:pPr algn="ctr"/>
                      <a:r>
                        <a:rPr lang="en-US" dirty="0">
                          <a:latin typeface="Times New Roman" panose="02020603050405020304" pitchFamily="18" charset="0"/>
                          <a:cs typeface="Times New Roman" panose="02020603050405020304" pitchFamily="18" charset="0"/>
                        </a:rPr>
                        <a:t>M. A. B. Jeet, R. M. Haque, M. A. I. Sayem, A. Arman, and R. M. Rahman [8]</a:t>
                      </a:r>
                    </a:p>
                  </a:txBody>
                  <a:tcPr/>
                </a:tc>
                <a:tc>
                  <a:txBody>
                    <a:bodyPr/>
                    <a:lstStyle/>
                    <a:p>
                      <a:pPr algn="ctr"/>
                      <a:r>
                        <a:rPr lang="en-US" dirty="0">
                          <a:latin typeface="Times New Roman" panose="02020603050405020304" pitchFamily="18" charset="0"/>
                          <a:cs typeface="Times New Roman" panose="02020603050405020304" pitchFamily="18" charset="0"/>
                        </a:rPr>
                        <a:t>2024 </a:t>
                      </a:r>
                    </a:p>
                  </a:txBody>
                  <a:tcPr/>
                </a:tc>
                <a:tc>
                  <a:txBody>
                    <a:bodyPr/>
                    <a:lstStyle/>
                    <a:p>
                      <a:pPr algn="ctr"/>
                      <a:r>
                        <a:rPr lang="en-US" dirty="0">
                          <a:latin typeface="Times New Roman" panose="02020603050405020304" pitchFamily="18" charset="0"/>
                          <a:cs typeface="Times New Roman" panose="02020603050405020304" pitchFamily="18" charset="0"/>
                        </a:rPr>
                        <a:t>Using deep learning models and </a:t>
                      </a:r>
                      <a:r>
                        <a:rPr lang="en-US" dirty="0" err="1">
                          <a:latin typeface="Times New Roman" panose="02020603050405020304" pitchFamily="18" charset="0"/>
                          <a:cs typeface="Times New Roman" panose="02020603050405020304" pitchFamily="18" charset="0"/>
                        </a:rPr>
                        <a:t>FinBERT</a:t>
                      </a:r>
                      <a:r>
                        <a:rPr lang="en-US" dirty="0">
                          <a:latin typeface="Times New Roman" panose="02020603050405020304" pitchFamily="18" charset="0"/>
                          <a:cs typeface="Times New Roman" panose="02020603050405020304" pitchFamily="18" charset="0"/>
                        </a:rPr>
                        <a:t> to predict the stock price of top banks in the Dhaka stock exchange.</a:t>
                      </a:r>
                    </a:p>
                  </a:txBody>
                  <a:tcPr/>
                </a:tc>
                <a:tc>
                  <a:txBody>
                    <a:bodyPr/>
                    <a:lstStyle/>
                    <a:p>
                      <a:pPr algn="ctr"/>
                      <a:r>
                        <a:rPr lang="en-US" dirty="0">
                          <a:latin typeface="Times New Roman" panose="02020603050405020304" pitchFamily="18" charset="0"/>
                          <a:cs typeface="Times New Roman" panose="02020603050405020304" pitchFamily="18" charset="0"/>
                        </a:rPr>
                        <a:t>LSTM, GRU</a:t>
                      </a:r>
                    </a:p>
                  </a:txBody>
                  <a:tcPr/>
                </a:tc>
                <a:tc>
                  <a:txBody>
                    <a:bodyPr/>
                    <a:lstStyle/>
                    <a:p>
                      <a:pPr algn="ctr"/>
                      <a:r>
                        <a:rPr lang="en-US" dirty="0">
                          <a:latin typeface="Times New Roman" panose="02020603050405020304" pitchFamily="18" charset="0"/>
                          <a:cs typeface="Times New Roman" panose="02020603050405020304" pitchFamily="18" charset="0"/>
                        </a:rPr>
                        <a:t>Built a web application that predicts stock prices for seven banks listed on the Dhaka stock exchange.</a:t>
                      </a:r>
                    </a:p>
                  </a:txBody>
                  <a:tcPr/>
                </a:tc>
                <a:extLst>
                  <a:ext uri="{0D108BD9-81ED-4DB2-BD59-A6C34878D82A}">
                    <a16:rowId xmlns:a16="http://schemas.microsoft.com/office/drawing/2014/main" val="1151569113"/>
                  </a:ext>
                </a:extLst>
              </a:tr>
              <a:tr h="370840">
                <a:tc>
                  <a:txBody>
                    <a:bodyPr/>
                    <a:lstStyle/>
                    <a:p>
                      <a:pPr algn="ctr"/>
                      <a:r>
                        <a:rPr lang="en-US" dirty="0">
                          <a:latin typeface="Times New Roman" panose="02020603050405020304" pitchFamily="18" charset="0"/>
                          <a:cs typeface="Times New Roman" panose="02020603050405020304" pitchFamily="18" charset="0"/>
                        </a:rPr>
                        <a:t>M. S. I. Yousuf, S. M. R. H. </a:t>
                      </a:r>
                      <a:r>
                        <a:rPr lang="en-US" dirty="0" err="1">
                          <a:latin typeface="Times New Roman" panose="02020603050405020304" pitchFamily="18" charset="0"/>
                          <a:cs typeface="Times New Roman" panose="02020603050405020304" pitchFamily="18" charset="0"/>
                        </a:rPr>
                        <a:t>Nijhum</a:t>
                      </a:r>
                      <a:r>
                        <a:rPr lang="en-US" dirty="0">
                          <a:latin typeface="Times New Roman" panose="02020603050405020304" pitchFamily="18" charset="0"/>
                          <a:cs typeface="Times New Roman" panose="02020603050405020304" pitchFamily="18" charset="0"/>
                        </a:rPr>
                        <a:t>, and M. I. Khan [12]</a:t>
                      </a:r>
                    </a:p>
                  </a:txBody>
                  <a:tcPr/>
                </a:tc>
                <a:tc>
                  <a:txBody>
                    <a:bodyPr/>
                    <a:lstStyle/>
                    <a:p>
                      <a:pPr algn="ctr"/>
                      <a:r>
                        <a:rPr lang="en-US" dirty="0">
                          <a:latin typeface="Times New Roman" panose="02020603050405020304" pitchFamily="18" charset="0"/>
                          <a:cs typeface="Times New Roman" panose="02020603050405020304" pitchFamily="18" charset="0"/>
                        </a:rPr>
                        <a:t>2024</a:t>
                      </a:r>
                    </a:p>
                  </a:txBody>
                  <a:tcPr/>
                </a:tc>
                <a:tc>
                  <a:txBody>
                    <a:bodyPr/>
                    <a:lstStyle/>
                    <a:p>
                      <a:pPr algn="ctr"/>
                      <a:r>
                        <a:rPr lang="en-US" dirty="0" err="1">
                          <a:latin typeface="Times New Roman" panose="02020603050405020304" pitchFamily="18" charset="0"/>
                          <a:cs typeface="Times New Roman" panose="02020603050405020304" pitchFamily="18" charset="0"/>
                        </a:rPr>
                        <a:t>HybStock</a:t>
                      </a:r>
                      <a:r>
                        <a:rPr lang="en-US" dirty="0">
                          <a:latin typeface="Times New Roman" panose="02020603050405020304" pitchFamily="18" charset="0"/>
                          <a:cs typeface="Times New Roman" panose="02020603050405020304" pitchFamily="18" charset="0"/>
                        </a:rPr>
                        <a:t>: A hybrid deep learning-based model to predict the stock market on the Dhaka Stock Exchange.</a:t>
                      </a:r>
                    </a:p>
                  </a:txBody>
                  <a:tcPr/>
                </a:tc>
                <a:tc>
                  <a:txBody>
                    <a:bodyPr/>
                    <a:lstStyle/>
                    <a:p>
                      <a:pPr algn="ctr"/>
                      <a:r>
                        <a:rPr lang="en-US" dirty="0">
                          <a:latin typeface="Times New Roman" panose="02020603050405020304" pitchFamily="18" charset="0"/>
                          <a:cs typeface="Times New Roman" panose="02020603050405020304" pitchFamily="18" charset="0"/>
                        </a:rPr>
                        <a:t>Hybrid CNNLSTM</a:t>
                      </a:r>
                    </a:p>
                  </a:txBody>
                  <a:tcPr/>
                </a:tc>
                <a:tc>
                  <a:txBody>
                    <a:bodyPr/>
                    <a:lstStyle/>
                    <a:p>
                      <a:pPr algn="ctr"/>
                      <a:r>
                        <a:rPr lang="en-US" dirty="0">
                          <a:latin typeface="Times New Roman" panose="02020603050405020304" pitchFamily="18" charset="0"/>
                          <a:cs typeface="Times New Roman" panose="02020603050405020304" pitchFamily="18" charset="0"/>
                        </a:rPr>
                        <a:t>The hybrid CNNLSTM model outperforms traditional models like moving average, linear regression, KNN, Auto ARIMA, and LSTM in the Dhaka Stock Exchange. </a:t>
                      </a:r>
                    </a:p>
                  </a:txBody>
                  <a:tcPr/>
                </a:tc>
                <a:extLst>
                  <a:ext uri="{0D108BD9-81ED-4DB2-BD59-A6C34878D82A}">
                    <a16:rowId xmlns:a16="http://schemas.microsoft.com/office/drawing/2014/main" val="1046831784"/>
                  </a:ext>
                </a:extLst>
              </a:tr>
            </a:tbl>
          </a:graphicData>
        </a:graphic>
      </p:graphicFrame>
    </p:spTree>
    <p:extLst>
      <p:ext uri="{BB962C8B-B14F-4D97-AF65-F5344CB8AC3E}">
        <p14:creationId xmlns:p14="http://schemas.microsoft.com/office/powerpoint/2010/main" val="26480819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8F8C0-A3B6-768E-3D6C-CC64FEF14B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EC4298-C74F-C6E8-125B-43B6CF127CF0}"/>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Background Study</a:t>
            </a:r>
            <a:endParaRPr lang="en-US" dirty="0">
              <a:solidFill>
                <a:srgbClr val="7030A0"/>
              </a:solidFill>
            </a:endParaRPr>
          </a:p>
        </p:txBody>
      </p:sp>
      <p:sp>
        <p:nvSpPr>
          <p:cNvPr id="4" name="Slide Number Placeholder 3">
            <a:extLst>
              <a:ext uri="{FF2B5EF4-FFF2-40B4-BE49-F238E27FC236}">
                <a16:creationId xmlns:a16="http://schemas.microsoft.com/office/drawing/2014/main" id="{2B548F51-CACE-E298-B18C-11022F6CFD5C}"/>
              </a:ext>
            </a:extLst>
          </p:cNvPr>
          <p:cNvSpPr>
            <a:spLocks noGrp="1"/>
          </p:cNvSpPr>
          <p:nvPr>
            <p:ph type="sldNum" sz="quarter" idx="16"/>
          </p:nvPr>
        </p:nvSpPr>
        <p:spPr>
          <a:xfrm>
            <a:off x="9319768" y="5975351"/>
            <a:ext cx="2844800" cy="365125"/>
          </a:xfrm>
        </p:spPr>
        <p:txBody>
          <a:bodyPr/>
          <a:lstStyle/>
          <a:p>
            <a:pPr>
              <a:defRPr/>
            </a:pPr>
            <a:fld id="{4CD333A3-7515-47B8-9EDC-EE0892D9C861}" type="slidenum">
              <a:rPr lang="en-US" smtClean="0"/>
              <a:pPr>
                <a:defRPr/>
              </a:pPr>
              <a:t>10</a:t>
            </a:fld>
            <a:endParaRPr lang="en-US" dirty="0"/>
          </a:p>
        </p:txBody>
      </p:sp>
      <p:sp>
        <p:nvSpPr>
          <p:cNvPr id="6" name="TextBox 5">
            <a:extLst>
              <a:ext uri="{FF2B5EF4-FFF2-40B4-BE49-F238E27FC236}">
                <a16:creationId xmlns:a16="http://schemas.microsoft.com/office/drawing/2014/main" id="{11D1C3E4-E85E-FF8C-C94A-4C61033A306B}"/>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graphicFrame>
        <p:nvGraphicFramePr>
          <p:cNvPr id="3" name="Content Placeholder 2">
            <a:extLst>
              <a:ext uri="{FF2B5EF4-FFF2-40B4-BE49-F238E27FC236}">
                <a16:creationId xmlns:a16="http://schemas.microsoft.com/office/drawing/2014/main" id="{847A5BC9-86E4-ADCC-D82E-897760F8ED39}"/>
              </a:ext>
            </a:extLst>
          </p:cNvPr>
          <p:cNvGraphicFramePr>
            <a:graphicFrameLocks noGrp="1"/>
          </p:cNvGraphicFramePr>
          <p:nvPr>
            <p:ph sz="quarter" idx="13"/>
            <p:extLst>
              <p:ext uri="{D42A27DB-BD31-4B8C-83A1-F6EECF244321}">
                <p14:modId xmlns:p14="http://schemas.microsoft.com/office/powerpoint/2010/main" val="3055505110"/>
              </p:ext>
            </p:extLst>
          </p:nvPr>
        </p:nvGraphicFramePr>
        <p:xfrm>
          <a:off x="609600" y="1143000"/>
          <a:ext cx="10972800" cy="4394200"/>
        </p:xfrm>
        <a:graphic>
          <a:graphicData uri="http://schemas.openxmlformats.org/drawingml/2006/table">
            <a:tbl>
              <a:tblPr firstRow="1" bandRow="1">
                <a:tableStyleId>{BC89EF96-8CEA-46FF-86C4-4CE0E7609802}</a:tableStyleId>
              </a:tblPr>
              <a:tblGrid>
                <a:gridCol w="1752600">
                  <a:extLst>
                    <a:ext uri="{9D8B030D-6E8A-4147-A177-3AD203B41FA5}">
                      <a16:colId xmlns:a16="http://schemas.microsoft.com/office/drawing/2014/main" val="2144045920"/>
                    </a:ext>
                  </a:extLst>
                </a:gridCol>
                <a:gridCol w="762000">
                  <a:extLst>
                    <a:ext uri="{9D8B030D-6E8A-4147-A177-3AD203B41FA5}">
                      <a16:colId xmlns:a16="http://schemas.microsoft.com/office/drawing/2014/main" val="3522062171"/>
                    </a:ext>
                  </a:extLst>
                </a:gridCol>
                <a:gridCol w="3886200">
                  <a:extLst>
                    <a:ext uri="{9D8B030D-6E8A-4147-A177-3AD203B41FA5}">
                      <a16:colId xmlns:a16="http://schemas.microsoft.com/office/drawing/2014/main" val="1124533435"/>
                    </a:ext>
                  </a:extLst>
                </a:gridCol>
                <a:gridCol w="1524000">
                  <a:extLst>
                    <a:ext uri="{9D8B030D-6E8A-4147-A177-3AD203B41FA5}">
                      <a16:colId xmlns:a16="http://schemas.microsoft.com/office/drawing/2014/main" val="1703596176"/>
                    </a:ext>
                  </a:extLst>
                </a:gridCol>
                <a:gridCol w="3048000">
                  <a:extLst>
                    <a:ext uri="{9D8B030D-6E8A-4147-A177-3AD203B41FA5}">
                      <a16:colId xmlns:a16="http://schemas.microsoft.com/office/drawing/2014/main" val="2677107947"/>
                    </a:ext>
                  </a:extLst>
                </a:gridCol>
              </a:tblGrid>
              <a:tr h="370840">
                <a:tc>
                  <a:txBody>
                    <a:bodyPr/>
                    <a:lstStyle/>
                    <a:p>
                      <a:pPr algn="ctr"/>
                      <a:r>
                        <a:rPr lang="en-US" dirty="0">
                          <a:latin typeface="Times New Roman" panose="02020603050405020304" pitchFamily="18" charset="0"/>
                          <a:cs typeface="Times New Roman" panose="02020603050405020304" pitchFamily="18" charset="0"/>
                        </a:rPr>
                        <a:t>Author (s)</a:t>
                      </a:r>
                    </a:p>
                  </a:txBody>
                  <a:tcPr/>
                </a:tc>
                <a:tc>
                  <a:txBody>
                    <a:bodyPr/>
                    <a:lstStyle/>
                    <a:p>
                      <a:pPr algn="ctr"/>
                      <a:r>
                        <a:rPr lang="en-US" dirty="0">
                          <a:latin typeface="Times New Roman" panose="02020603050405020304" pitchFamily="18" charset="0"/>
                          <a:cs typeface="Times New Roman" panose="02020603050405020304" pitchFamily="18" charset="0"/>
                        </a:rPr>
                        <a:t>Year</a:t>
                      </a:r>
                    </a:p>
                  </a:txBody>
                  <a:tcPr/>
                </a:tc>
                <a:tc>
                  <a:txBody>
                    <a:bodyPr/>
                    <a:lstStyle/>
                    <a:p>
                      <a:pPr algn="ctr"/>
                      <a:r>
                        <a:rPr lang="en-US" dirty="0">
                          <a:latin typeface="Times New Roman" panose="02020603050405020304" pitchFamily="18" charset="0"/>
                          <a:cs typeface="Times New Roman" panose="02020603050405020304" pitchFamily="18" charset="0"/>
                        </a:rPr>
                        <a:t>Title </a:t>
                      </a:r>
                    </a:p>
                  </a:txBody>
                  <a:tcPr/>
                </a:tc>
                <a:tc>
                  <a:txBody>
                    <a:bodyPr/>
                    <a:lstStyle/>
                    <a:p>
                      <a:pPr algn="ctr"/>
                      <a:r>
                        <a:rPr lang="en-US" dirty="0">
                          <a:latin typeface="Times New Roman" panose="02020603050405020304" pitchFamily="18" charset="0"/>
                          <a:cs typeface="Times New Roman" panose="02020603050405020304" pitchFamily="18" charset="0"/>
                        </a:rPr>
                        <a:t>Methodology</a:t>
                      </a:r>
                    </a:p>
                  </a:txBody>
                  <a:tcPr/>
                </a:tc>
                <a:tc>
                  <a:txBody>
                    <a:bodyPr/>
                    <a:lstStyle/>
                    <a:p>
                      <a:pPr algn="ctr"/>
                      <a:r>
                        <a:rPr lang="en-US" dirty="0">
                          <a:latin typeface="Times New Roman" panose="02020603050405020304" pitchFamily="18" charset="0"/>
                          <a:cs typeface="Times New Roman" panose="02020603050405020304" pitchFamily="18" charset="0"/>
                        </a:rPr>
                        <a:t>Key Findings</a:t>
                      </a:r>
                    </a:p>
                  </a:txBody>
                  <a:tcPr/>
                </a:tc>
                <a:extLst>
                  <a:ext uri="{0D108BD9-81ED-4DB2-BD59-A6C34878D82A}">
                    <a16:rowId xmlns:a16="http://schemas.microsoft.com/office/drawing/2014/main" val="3994737503"/>
                  </a:ext>
                </a:extLst>
              </a:tr>
              <a:tr h="0">
                <a:tc>
                  <a:txBody>
                    <a:bodyPr/>
                    <a:lstStyle/>
                    <a:p>
                      <a:pPr algn="ctr"/>
                      <a:r>
                        <a:rPr lang="pl-PL" dirty="0">
                          <a:latin typeface="Times New Roman" panose="02020603050405020304" pitchFamily="18" charset="0"/>
                          <a:cs typeface="Times New Roman" panose="02020603050405020304" pitchFamily="18" charset="0"/>
                        </a:rPr>
                        <a:t>A. I. Kabir, S. Vyas, S. Mitra, M. M. Uddin, and Jakowan [17]</a:t>
                      </a:r>
                      <a:endParaRPr lang="en-US"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2024 </a:t>
                      </a:r>
                    </a:p>
                  </a:txBody>
                  <a:tcPr/>
                </a:tc>
                <a:tc>
                  <a:txBody>
                    <a:bodyPr/>
                    <a:lstStyle/>
                    <a:p>
                      <a:pPr algn="ctr"/>
                      <a:r>
                        <a:rPr lang="en-US" dirty="0">
                          <a:latin typeface="Times New Roman" panose="02020603050405020304" pitchFamily="18" charset="0"/>
                          <a:cs typeface="Times New Roman" panose="02020603050405020304" pitchFamily="18" charset="0"/>
                        </a:rPr>
                        <a:t>Evaluating the machine learning-based momentum stock trading strategies with back-testing: An emerging market perspective</a:t>
                      </a:r>
                    </a:p>
                  </a:txBody>
                  <a:tcPr/>
                </a:tc>
                <a:tc>
                  <a:txBody>
                    <a:bodyPr/>
                    <a:lstStyle/>
                    <a:p>
                      <a:pPr algn="ctr"/>
                      <a:r>
                        <a:rPr lang="en-US" dirty="0">
                          <a:latin typeface="Times New Roman" panose="02020603050405020304" pitchFamily="18" charset="0"/>
                          <a:cs typeface="Times New Roman" panose="02020603050405020304" pitchFamily="18" charset="0"/>
                        </a:rPr>
                        <a:t>Machine Learning models.</a:t>
                      </a:r>
                    </a:p>
                  </a:txBody>
                  <a:tcPr/>
                </a:tc>
                <a:tc>
                  <a:txBody>
                    <a:bodyPr/>
                    <a:lstStyle/>
                    <a:p>
                      <a:pPr algn="ctr"/>
                      <a:r>
                        <a:rPr lang="en-US" dirty="0">
                          <a:latin typeface="Times New Roman" panose="02020603050405020304" pitchFamily="18" charset="0"/>
                          <a:cs typeface="Times New Roman" panose="02020603050405020304" pitchFamily="18" charset="0"/>
                        </a:rPr>
                        <a:t>The study developed a machine </a:t>
                      </a:r>
                      <a:r>
                        <a:rPr lang="en-US" dirty="0" err="1">
                          <a:latin typeface="Times New Roman" panose="02020603050405020304" pitchFamily="18" charset="0"/>
                          <a:cs typeface="Times New Roman" panose="02020603050405020304" pitchFamily="18" charset="0"/>
                        </a:rPr>
                        <a:t>learningbased</a:t>
                      </a:r>
                      <a:r>
                        <a:rPr lang="en-US" dirty="0">
                          <a:latin typeface="Times New Roman" panose="02020603050405020304" pitchFamily="18" charset="0"/>
                          <a:cs typeface="Times New Roman" panose="02020603050405020304" pitchFamily="18" charset="0"/>
                        </a:rPr>
                        <a:t> trading strategy for the DSEX index and validated it. </a:t>
                      </a:r>
                    </a:p>
                  </a:txBody>
                  <a:tcPr/>
                </a:tc>
                <a:extLst>
                  <a:ext uri="{0D108BD9-81ED-4DB2-BD59-A6C34878D82A}">
                    <a16:rowId xmlns:a16="http://schemas.microsoft.com/office/drawing/2014/main" val="2838952715"/>
                  </a:ext>
                </a:extLst>
              </a:tr>
              <a:tr h="0">
                <a:tc>
                  <a:txBody>
                    <a:bodyPr/>
                    <a:lstStyle/>
                    <a:p>
                      <a:pPr algn="ctr"/>
                      <a:r>
                        <a:rPr lang="en-US" dirty="0">
                          <a:latin typeface="Times New Roman" panose="02020603050405020304" pitchFamily="18" charset="0"/>
                          <a:cs typeface="Times New Roman" panose="02020603050405020304" pitchFamily="18" charset="0"/>
                        </a:rPr>
                        <a:t>Aslam Mahmud [18]</a:t>
                      </a:r>
                    </a:p>
                  </a:txBody>
                  <a:tcPr/>
                </a:tc>
                <a:tc>
                  <a:txBody>
                    <a:bodyPr/>
                    <a:lstStyle/>
                    <a:p>
                      <a:pPr algn="ctr"/>
                      <a:r>
                        <a:rPr lang="en-US" dirty="0">
                          <a:latin typeface="Times New Roman" panose="02020603050405020304" pitchFamily="18" charset="0"/>
                          <a:cs typeface="Times New Roman" panose="02020603050405020304" pitchFamily="18" charset="0"/>
                        </a:rPr>
                        <a:t>2025 </a:t>
                      </a:r>
                    </a:p>
                  </a:txBody>
                  <a:tcPr/>
                </a:tc>
                <a:tc>
                  <a:txBody>
                    <a:bodyPr/>
                    <a:lstStyle/>
                    <a:p>
                      <a:pPr algn="ctr"/>
                      <a:r>
                        <a:rPr lang="en-US" dirty="0">
                          <a:latin typeface="Times New Roman" panose="02020603050405020304" pitchFamily="18" charset="0"/>
                          <a:cs typeface="Times New Roman" panose="02020603050405020304" pitchFamily="18" charset="0"/>
                        </a:rPr>
                        <a:t>Unveiling the Drivers of Stock Prices and Volatility in the Banking Sector of Bangladesh: An Explainable Machine Learning Approach. </a:t>
                      </a:r>
                    </a:p>
                  </a:txBody>
                  <a:tcPr/>
                </a:tc>
                <a:tc>
                  <a:txBody>
                    <a:bodyPr/>
                    <a:lstStyle/>
                    <a:p>
                      <a:pPr algn="ctr"/>
                      <a:r>
                        <a:rPr lang="en-US" dirty="0">
                          <a:latin typeface="Times New Roman" panose="02020603050405020304" pitchFamily="18" charset="0"/>
                          <a:cs typeface="Times New Roman" panose="02020603050405020304" pitchFamily="18" charset="0"/>
                        </a:rPr>
                        <a:t>OLS, Ridge, LASSO, Elastic Net, SVR, Decision Tree, Bagging, Random Forest,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a:t>
                      </a:r>
                    </a:p>
                  </a:txBody>
                  <a:tcPr/>
                </a:tc>
                <a:tc>
                  <a:txBody>
                    <a:bodyPr/>
                    <a:lstStyle/>
                    <a:p>
                      <a:pPr algn="ctr"/>
                      <a:r>
                        <a:rPr lang="en-US" dirty="0">
                          <a:latin typeface="Times New Roman" panose="02020603050405020304" pitchFamily="18" charset="0"/>
                          <a:cs typeface="Times New Roman" panose="02020603050405020304" pitchFamily="18" charset="0"/>
                        </a:rPr>
                        <a:t>The study identifies operating turnover per share, earnings per share, price-</a:t>
                      </a:r>
                      <a:r>
                        <a:rPr lang="en-US" dirty="0" err="1">
                          <a:latin typeface="Times New Roman" panose="02020603050405020304" pitchFamily="18" charset="0"/>
                          <a:cs typeface="Times New Roman" panose="02020603050405020304" pitchFamily="18" charset="0"/>
                        </a:rPr>
                        <a:t>tobook</a:t>
                      </a:r>
                      <a:r>
                        <a:rPr lang="en-US" dirty="0">
                          <a:latin typeface="Times New Roman" panose="02020603050405020304" pitchFamily="18" charset="0"/>
                          <a:cs typeface="Times New Roman" panose="02020603050405020304" pitchFamily="18" charset="0"/>
                        </a:rPr>
                        <a:t> ratio, book value per share, and exchange rate as the most influential predictors of bank stock prices in Bangladesh. </a:t>
                      </a:r>
                    </a:p>
                  </a:txBody>
                  <a:tcPr/>
                </a:tc>
                <a:extLst>
                  <a:ext uri="{0D108BD9-81ED-4DB2-BD59-A6C34878D82A}">
                    <a16:rowId xmlns:a16="http://schemas.microsoft.com/office/drawing/2014/main" val="1151569113"/>
                  </a:ext>
                </a:extLst>
              </a:tr>
            </a:tbl>
          </a:graphicData>
        </a:graphic>
      </p:graphicFrame>
    </p:spTree>
    <p:extLst>
      <p:ext uri="{BB962C8B-B14F-4D97-AF65-F5344CB8AC3E}">
        <p14:creationId xmlns:p14="http://schemas.microsoft.com/office/powerpoint/2010/main" val="3547360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11987"/>
            <a:ext cx="8229600" cy="868362"/>
          </a:xfrm>
        </p:spPr>
        <p:txBody>
          <a:bodyPr/>
          <a:lstStyle/>
          <a:p>
            <a:r>
              <a:rPr lang="en-US" dirty="0">
                <a:solidFill>
                  <a:srgbClr val="7030A0"/>
                </a:solidFill>
                <a:latin typeface="Times New Roman" pitchFamily="18" charset="0"/>
                <a:cs typeface="Times New Roman" pitchFamily="18" charset="0"/>
              </a:rPr>
              <a:t>Gap Analysis</a:t>
            </a:r>
            <a:endParaRPr lang="en-US" dirty="0">
              <a:solidFill>
                <a:srgbClr val="7030A0"/>
              </a:solidFill>
            </a:endParaRPr>
          </a:p>
        </p:txBody>
      </p:sp>
      <p:sp>
        <p:nvSpPr>
          <p:cNvPr id="4" name="Slide Number Placeholder 3"/>
          <p:cNvSpPr>
            <a:spLocks noGrp="1"/>
          </p:cNvSpPr>
          <p:nvPr>
            <p:ph type="sldNum" sz="quarter" idx="16"/>
          </p:nvPr>
        </p:nvSpPr>
        <p:spPr>
          <a:xfrm>
            <a:off x="9347200" y="5989639"/>
            <a:ext cx="2844800" cy="365125"/>
          </a:xfrm>
        </p:spPr>
        <p:txBody>
          <a:bodyPr/>
          <a:lstStyle/>
          <a:p>
            <a:pPr>
              <a:defRPr/>
            </a:pPr>
            <a:fld id="{4CD333A3-7515-47B8-9EDC-EE0892D9C861}" type="slidenum">
              <a:rPr lang="en-US" smtClean="0"/>
              <a:pPr>
                <a:defRPr/>
              </a:pPr>
              <a:t>11</a:t>
            </a:fld>
            <a:endParaRPr lang="en-US" dirty="0"/>
          </a:p>
        </p:txBody>
      </p:sp>
      <p:sp>
        <p:nvSpPr>
          <p:cNvPr id="3" name="TextBox 2">
            <a:extLst>
              <a:ext uri="{FF2B5EF4-FFF2-40B4-BE49-F238E27FC236}">
                <a16:creationId xmlns:a16="http://schemas.microsoft.com/office/drawing/2014/main" id="{30FF9886-9C18-37CA-D495-5A8528FD5C2A}"/>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graphicFrame>
        <p:nvGraphicFramePr>
          <p:cNvPr id="8" name="Table 7">
            <a:extLst>
              <a:ext uri="{FF2B5EF4-FFF2-40B4-BE49-F238E27FC236}">
                <a16:creationId xmlns:a16="http://schemas.microsoft.com/office/drawing/2014/main" id="{16CD818A-F378-A5C0-551F-F6B5759B3333}"/>
              </a:ext>
            </a:extLst>
          </p:cNvPr>
          <p:cNvGraphicFramePr>
            <a:graphicFrameLocks noGrp="1"/>
          </p:cNvGraphicFramePr>
          <p:nvPr>
            <p:extLst>
              <p:ext uri="{D42A27DB-BD31-4B8C-83A1-F6EECF244321}">
                <p14:modId xmlns:p14="http://schemas.microsoft.com/office/powerpoint/2010/main" val="1231202071"/>
              </p:ext>
            </p:extLst>
          </p:nvPr>
        </p:nvGraphicFramePr>
        <p:xfrm>
          <a:off x="619125" y="947976"/>
          <a:ext cx="10953750" cy="5394079"/>
        </p:xfrm>
        <a:graphic>
          <a:graphicData uri="http://schemas.openxmlformats.org/drawingml/2006/table">
            <a:tbl>
              <a:tblPr firstRow="1" bandRow="1">
                <a:tableStyleId>{5C22544A-7EE6-4342-B048-85BDC9FD1C3A}</a:tableStyleId>
              </a:tblPr>
              <a:tblGrid>
                <a:gridCol w="3602240">
                  <a:extLst>
                    <a:ext uri="{9D8B030D-6E8A-4147-A177-3AD203B41FA5}">
                      <a16:colId xmlns:a16="http://schemas.microsoft.com/office/drawing/2014/main" val="1421495378"/>
                    </a:ext>
                  </a:extLst>
                </a:gridCol>
                <a:gridCol w="1617332">
                  <a:extLst>
                    <a:ext uri="{9D8B030D-6E8A-4147-A177-3AD203B41FA5}">
                      <a16:colId xmlns:a16="http://schemas.microsoft.com/office/drawing/2014/main" val="591501600"/>
                    </a:ext>
                  </a:extLst>
                </a:gridCol>
                <a:gridCol w="765467">
                  <a:extLst>
                    <a:ext uri="{9D8B030D-6E8A-4147-A177-3AD203B41FA5}">
                      <a16:colId xmlns:a16="http://schemas.microsoft.com/office/drawing/2014/main" val="1207680719"/>
                    </a:ext>
                  </a:extLst>
                </a:gridCol>
                <a:gridCol w="1145926">
                  <a:extLst>
                    <a:ext uri="{9D8B030D-6E8A-4147-A177-3AD203B41FA5}">
                      <a16:colId xmlns:a16="http://schemas.microsoft.com/office/drawing/2014/main" val="140282378"/>
                    </a:ext>
                  </a:extLst>
                </a:gridCol>
                <a:gridCol w="736162">
                  <a:extLst>
                    <a:ext uri="{9D8B030D-6E8A-4147-A177-3AD203B41FA5}">
                      <a16:colId xmlns:a16="http://schemas.microsoft.com/office/drawing/2014/main" val="3221079237"/>
                    </a:ext>
                  </a:extLst>
                </a:gridCol>
                <a:gridCol w="1053969">
                  <a:extLst>
                    <a:ext uri="{9D8B030D-6E8A-4147-A177-3AD203B41FA5}">
                      <a16:colId xmlns:a16="http://schemas.microsoft.com/office/drawing/2014/main" val="2867802003"/>
                    </a:ext>
                  </a:extLst>
                </a:gridCol>
                <a:gridCol w="1150473">
                  <a:extLst>
                    <a:ext uri="{9D8B030D-6E8A-4147-A177-3AD203B41FA5}">
                      <a16:colId xmlns:a16="http://schemas.microsoft.com/office/drawing/2014/main" val="980433517"/>
                    </a:ext>
                  </a:extLst>
                </a:gridCol>
                <a:gridCol w="882181">
                  <a:extLst>
                    <a:ext uri="{9D8B030D-6E8A-4147-A177-3AD203B41FA5}">
                      <a16:colId xmlns:a16="http://schemas.microsoft.com/office/drawing/2014/main" val="2527558045"/>
                    </a:ext>
                  </a:extLst>
                </a:gridCol>
              </a:tblGrid>
              <a:tr h="2355320">
                <a:tc>
                  <a:txBody>
                    <a:bodyPr/>
                    <a:lstStyle/>
                    <a:p>
                      <a:r>
                        <a:rPr lang="en-US" sz="1500" dirty="0">
                          <a:latin typeface="Times New Roman" panose="02020603050405020304" pitchFamily="18" charset="0"/>
                          <a:cs typeface="Times New Roman" panose="02020603050405020304" pitchFamily="18" charset="0"/>
                        </a:rPr>
                        <a:t>Features</a:t>
                      </a:r>
                    </a:p>
                  </a:txBody>
                  <a:tcPr/>
                </a:tc>
                <a:tc>
                  <a:txBody>
                    <a:bodyPr/>
                    <a:lstStyle/>
                    <a:p>
                      <a:r>
                        <a:rPr lang="en-US" sz="1500" dirty="0">
                          <a:latin typeface="Times New Roman" panose="02020603050405020304" pitchFamily="18" charset="0"/>
                          <a:cs typeface="Times New Roman" panose="02020603050405020304" pitchFamily="18" charset="0"/>
                        </a:rPr>
                        <a:t>M. A. B. Jeet, R. M. Haque, M. A. I. Sayem, A. Arman, and R. M. Rahman [8]</a:t>
                      </a:r>
                    </a:p>
                  </a:txBody>
                  <a:tcPr/>
                </a:tc>
                <a:tc>
                  <a:txBody>
                    <a:bodyPr/>
                    <a:lstStyle/>
                    <a:p>
                      <a:r>
                        <a:rPr lang="da-DK" sz="1500" dirty="0">
                          <a:latin typeface="Times New Roman" panose="02020603050405020304" pitchFamily="18" charset="0"/>
                          <a:cs typeface="Times New Roman" panose="02020603050405020304" pitchFamily="18" charset="0"/>
                        </a:rPr>
                        <a:t>T. Muham mad et al. [9] </a:t>
                      </a:r>
                      <a:endParaRPr lang="en-US" sz="1500" dirty="0">
                        <a:latin typeface="Times New Roman" panose="02020603050405020304" pitchFamily="18" charset="0"/>
                        <a:cs typeface="Times New Roman" panose="02020603050405020304" pitchFamily="18" charset="0"/>
                      </a:endParaRPr>
                    </a:p>
                  </a:txBody>
                  <a:tcPr/>
                </a:tc>
                <a:tc>
                  <a:txBody>
                    <a:bodyPr/>
                    <a:lstStyle/>
                    <a:p>
                      <a:r>
                        <a:rPr lang="sv-SE" sz="1500" dirty="0">
                          <a:latin typeface="Times New Roman" panose="02020603050405020304" pitchFamily="18" charset="0"/>
                          <a:cs typeface="Times New Roman" panose="02020603050405020304" pitchFamily="18" charset="0"/>
                        </a:rPr>
                        <a:t>M. A. Islam, M. R. Sikder, S. M. Ishtiaq, and A. Sattar [10] </a:t>
                      </a:r>
                      <a:endParaRPr lang="en-US" sz="1500" dirty="0">
                        <a:latin typeface="Times New Roman" panose="02020603050405020304" pitchFamily="18" charset="0"/>
                        <a:cs typeface="Times New Roman" panose="02020603050405020304" pitchFamily="18" charset="0"/>
                      </a:endParaRPr>
                    </a:p>
                  </a:txBody>
                  <a:tcPr/>
                </a:tc>
                <a:tc>
                  <a:txBody>
                    <a:bodyPr/>
                    <a:lstStyle/>
                    <a:p>
                      <a:r>
                        <a:rPr lang="fr-FR" sz="1500" dirty="0">
                          <a:latin typeface="Times New Roman" panose="02020603050405020304" pitchFamily="18" charset="0"/>
                          <a:cs typeface="Times New Roman" panose="02020603050405020304" pitchFamily="18" charset="0"/>
                        </a:rPr>
                        <a:t>M. Z. Islam et al. [13]</a:t>
                      </a:r>
                      <a:endParaRPr lang="en-US" sz="150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S. Islam, M. S. Sikder, M. F. Hossain, and P. </a:t>
                      </a:r>
                      <a:r>
                        <a:rPr lang="en-US" sz="1500" dirty="0" err="1">
                          <a:latin typeface="Times New Roman" panose="02020603050405020304" pitchFamily="18" charset="0"/>
                          <a:cs typeface="Times New Roman" panose="02020603050405020304" pitchFamily="18" charset="0"/>
                        </a:rPr>
                        <a:t>Chakrabort</a:t>
                      </a:r>
                      <a:r>
                        <a:rPr lang="en-US" sz="1500" dirty="0">
                          <a:latin typeface="Times New Roman" panose="02020603050405020304" pitchFamily="18" charset="0"/>
                          <a:cs typeface="Times New Roman" panose="02020603050405020304" pitchFamily="18" charset="0"/>
                        </a:rPr>
                        <a:t> y [14] </a:t>
                      </a:r>
                    </a:p>
                  </a:txBody>
                  <a:tcPr/>
                </a:tc>
                <a:tc>
                  <a:txBody>
                    <a:bodyPr/>
                    <a:lstStyle/>
                    <a:p>
                      <a:r>
                        <a:rPr lang="pl-PL" sz="1500" dirty="0">
                          <a:latin typeface="Times New Roman" panose="02020603050405020304" pitchFamily="18" charset="0"/>
                          <a:cs typeface="Times New Roman" panose="02020603050405020304" pitchFamily="18" charset="0"/>
                        </a:rPr>
                        <a:t>A. I. Kabir, S. Vyas, S. Mitra, M. M. Uddin, and Jakowan [17] </a:t>
                      </a:r>
                      <a:endParaRPr lang="en-US" sz="1500" dirty="0">
                        <a:latin typeface="Times New Roman" panose="02020603050405020304" pitchFamily="18" charset="0"/>
                        <a:cs typeface="Times New Roman" panose="02020603050405020304" pitchFamily="18" charset="0"/>
                      </a:endParaRPr>
                    </a:p>
                  </a:txBody>
                  <a:tcPr/>
                </a:tc>
                <a:tc>
                  <a:txBody>
                    <a:bodyPr/>
                    <a:lstStyle/>
                    <a:p>
                      <a:r>
                        <a:rPr lang="en-US" sz="1500" dirty="0">
                          <a:latin typeface="Times New Roman" panose="02020603050405020304" pitchFamily="18" charset="0"/>
                          <a:cs typeface="Times New Roman" panose="02020603050405020304" pitchFamily="18" charset="0"/>
                        </a:rPr>
                        <a:t>Proposed </a:t>
                      </a:r>
                      <a:r>
                        <a:rPr lang="en-US" sz="1500" dirty="0" err="1">
                          <a:latin typeface="Times New Roman" panose="02020603050405020304" pitchFamily="18" charset="0"/>
                          <a:cs typeface="Times New Roman" panose="02020603050405020304" pitchFamily="18" charset="0"/>
                        </a:rPr>
                        <a:t>Methodol</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ogy</a:t>
                      </a:r>
                      <a:endParaRPr lang="en-US" sz="15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98468857"/>
                  </a:ext>
                </a:extLst>
              </a:tr>
              <a:tr h="357501">
                <a:tc>
                  <a:txBody>
                    <a:bodyPr/>
                    <a:lstStyle/>
                    <a:p>
                      <a:r>
                        <a:rPr lang="en-US" sz="1500" dirty="0">
                          <a:latin typeface="Times New Roman" panose="02020603050405020304" pitchFamily="18" charset="0"/>
                          <a:cs typeface="Times New Roman" panose="02020603050405020304" pitchFamily="18" charset="0"/>
                        </a:rPr>
                        <a:t>Banks Stocks Price</a:t>
                      </a:r>
                    </a:p>
                  </a:txBody>
                  <a:tcPr/>
                </a:tc>
                <a:tc>
                  <a:txBody>
                    <a:bodyPr/>
                    <a:lstStyle/>
                    <a:p>
                      <a:r>
                        <a:rPr lang="en-US" sz="1500" dirty="0">
                          <a:latin typeface="Times New Roman" panose="02020603050405020304" pitchFamily="18" charset="0"/>
                          <a:cs typeface="Times New Roman" panose="02020603050405020304" pitchFamily="18" charset="0"/>
                        </a:rPr>
                        <a:t>YES</a:t>
                      </a:r>
                    </a:p>
                  </a:txBody>
                  <a:tcPr/>
                </a:tc>
                <a:tc>
                  <a:txBody>
                    <a:bodyPr/>
                    <a:lstStyle/>
                    <a:p>
                      <a:r>
                        <a:rPr lang="en-US" sz="1500" dirty="0">
                          <a:latin typeface="Times New Roman" panose="02020603050405020304" pitchFamily="18" charset="0"/>
                          <a:cs typeface="Times New Roman" panose="02020603050405020304" pitchFamily="18" charset="0"/>
                        </a:rPr>
                        <a:t>NO</a:t>
                      </a:r>
                    </a:p>
                  </a:txBody>
                  <a:tcPr/>
                </a:tc>
                <a:tc>
                  <a:txBody>
                    <a:bodyPr/>
                    <a:lstStyle/>
                    <a:p>
                      <a:r>
                        <a:rPr lang="en-US" sz="1500" dirty="0">
                          <a:latin typeface="Times New Roman" panose="02020603050405020304" pitchFamily="18" charset="0"/>
                          <a:cs typeface="Times New Roman" panose="02020603050405020304" pitchFamily="18" charset="0"/>
                        </a:rPr>
                        <a:t>NO</a:t>
                      </a:r>
                    </a:p>
                  </a:txBody>
                  <a:tcPr/>
                </a:tc>
                <a:tc>
                  <a:txBody>
                    <a:bodyPr/>
                    <a:lstStyle/>
                    <a:p>
                      <a:r>
                        <a:rPr lang="en-US" sz="1500" dirty="0">
                          <a:latin typeface="Times New Roman" panose="02020603050405020304" pitchFamily="18" charset="0"/>
                          <a:cs typeface="Times New Roman" panose="02020603050405020304" pitchFamily="18" charset="0"/>
                        </a:rPr>
                        <a:t>YES</a:t>
                      </a:r>
                    </a:p>
                  </a:txBody>
                  <a:tcPr/>
                </a:tc>
                <a:tc>
                  <a:txBody>
                    <a:bodyPr/>
                    <a:lstStyle/>
                    <a:p>
                      <a:r>
                        <a:rPr lang="en-US" sz="1500" dirty="0">
                          <a:latin typeface="Times New Roman" panose="02020603050405020304" pitchFamily="18" charset="0"/>
                          <a:cs typeface="Times New Roman" panose="02020603050405020304" pitchFamily="18" charset="0"/>
                        </a:rPr>
                        <a:t>NO</a:t>
                      </a:r>
                    </a:p>
                  </a:txBody>
                  <a:tcPr/>
                </a:tc>
                <a:tc>
                  <a:txBody>
                    <a:bodyPr/>
                    <a:lstStyle/>
                    <a:p>
                      <a:r>
                        <a:rPr lang="en-US" sz="1500" dirty="0">
                          <a:latin typeface="Times New Roman" panose="02020603050405020304" pitchFamily="18" charset="0"/>
                          <a:cs typeface="Times New Roman" panose="02020603050405020304" pitchFamily="18" charset="0"/>
                        </a:rPr>
                        <a:t>NO</a:t>
                      </a:r>
                    </a:p>
                  </a:txBody>
                  <a:tcPr/>
                </a:tc>
                <a:tc>
                  <a:txBody>
                    <a:bodyPr/>
                    <a:lstStyle/>
                    <a:p>
                      <a:r>
                        <a:rPr lang="en-US" sz="1500" dirty="0">
                          <a:latin typeface="Times New Roman" panose="02020603050405020304" pitchFamily="18" charset="0"/>
                          <a:cs typeface="Times New Roman" panose="02020603050405020304" pitchFamily="18" charset="0"/>
                        </a:rPr>
                        <a:t>YES</a:t>
                      </a:r>
                    </a:p>
                  </a:txBody>
                  <a:tcPr/>
                </a:tc>
                <a:extLst>
                  <a:ext uri="{0D108BD9-81ED-4DB2-BD59-A6C34878D82A}">
                    <a16:rowId xmlns:a16="http://schemas.microsoft.com/office/drawing/2014/main" val="566186583"/>
                  </a:ext>
                </a:extLst>
              </a:tr>
              <a:tr h="357501">
                <a:tc>
                  <a:txBody>
                    <a:bodyPr/>
                    <a:lstStyle/>
                    <a:p>
                      <a:r>
                        <a:rPr lang="en-US" sz="1500" dirty="0">
                          <a:latin typeface="Times New Roman" panose="02020603050405020304" pitchFamily="18" charset="0"/>
                          <a:cs typeface="Times New Roman" panose="02020603050405020304" pitchFamily="18" charset="0"/>
                        </a:rPr>
                        <a:t>Historical Data on Banks</a:t>
                      </a:r>
                    </a:p>
                  </a:txBody>
                  <a:tcPr/>
                </a:tc>
                <a:tc>
                  <a:txBody>
                    <a:bodyPr/>
                    <a:lstStyle/>
                    <a:p>
                      <a:r>
                        <a:rPr lang="en-US" sz="1500" dirty="0">
                          <a:latin typeface="Times New Roman" panose="02020603050405020304" pitchFamily="18" charset="0"/>
                          <a:cs typeface="Times New Roman" panose="02020603050405020304" pitchFamily="18" charset="0"/>
                        </a:rPr>
                        <a:t>NO</a:t>
                      </a:r>
                    </a:p>
                  </a:txBody>
                  <a:tcPr/>
                </a:tc>
                <a:tc>
                  <a:txBody>
                    <a:bodyPr/>
                    <a:lstStyle/>
                    <a:p>
                      <a:r>
                        <a:rPr lang="en-US" sz="1500" dirty="0">
                          <a:latin typeface="Times New Roman" panose="02020603050405020304" pitchFamily="18" charset="0"/>
                          <a:cs typeface="Times New Roman" panose="02020603050405020304" pitchFamily="18" charset="0"/>
                        </a:rPr>
                        <a:t>NO</a:t>
                      </a:r>
                    </a:p>
                  </a:txBody>
                  <a:tcPr/>
                </a:tc>
                <a:tc>
                  <a:txBody>
                    <a:bodyPr/>
                    <a:lstStyle/>
                    <a:p>
                      <a:r>
                        <a:rPr lang="en-US" sz="1500" dirty="0">
                          <a:latin typeface="Times New Roman" panose="02020603050405020304" pitchFamily="18" charset="0"/>
                          <a:cs typeface="Times New Roman" panose="02020603050405020304" pitchFamily="18" charset="0"/>
                        </a:rPr>
                        <a:t>NO</a:t>
                      </a:r>
                    </a:p>
                  </a:txBody>
                  <a:tcPr/>
                </a:tc>
                <a:tc>
                  <a:txBody>
                    <a:bodyPr/>
                    <a:lstStyle/>
                    <a:p>
                      <a:r>
                        <a:rPr lang="en-US" sz="1500" dirty="0">
                          <a:latin typeface="Times New Roman" panose="02020603050405020304" pitchFamily="18" charset="0"/>
                          <a:cs typeface="Times New Roman" panose="02020603050405020304" pitchFamily="18" charset="0"/>
                        </a:rPr>
                        <a:t>YES</a:t>
                      </a:r>
                    </a:p>
                  </a:txBody>
                  <a:tcPr/>
                </a:tc>
                <a:tc>
                  <a:txBody>
                    <a:bodyPr/>
                    <a:lstStyle/>
                    <a:p>
                      <a:r>
                        <a:rPr lang="en-US" sz="1500" dirty="0">
                          <a:latin typeface="Times New Roman" panose="02020603050405020304" pitchFamily="18" charset="0"/>
                          <a:cs typeface="Times New Roman" panose="02020603050405020304" pitchFamily="18" charset="0"/>
                        </a:rPr>
                        <a:t>NO</a:t>
                      </a:r>
                    </a:p>
                  </a:txBody>
                  <a:tcPr/>
                </a:tc>
                <a:tc>
                  <a:txBody>
                    <a:bodyPr/>
                    <a:lstStyle/>
                    <a:p>
                      <a:r>
                        <a:rPr lang="en-US" sz="1500" dirty="0">
                          <a:latin typeface="Times New Roman" panose="02020603050405020304" pitchFamily="18" charset="0"/>
                          <a:cs typeface="Times New Roman" panose="02020603050405020304" pitchFamily="18" charset="0"/>
                        </a:rPr>
                        <a:t>NO</a:t>
                      </a:r>
                    </a:p>
                  </a:txBody>
                  <a:tcPr/>
                </a:tc>
                <a:tc>
                  <a:txBody>
                    <a:bodyPr/>
                    <a:lstStyle/>
                    <a:p>
                      <a:r>
                        <a:rPr lang="en-US" sz="1500" dirty="0">
                          <a:latin typeface="Times New Roman" panose="02020603050405020304" pitchFamily="18" charset="0"/>
                          <a:cs typeface="Times New Roman" panose="02020603050405020304" pitchFamily="18" charset="0"/>
                        </a:rPr>
                        <a:t>YES</a:t>
                      </a:r>
                    </a:p>
                  </a:txBody>
                  <a:tcPr/>
                </a:tc>
                <a:extLst>
                  <a:ext uri="{0D108BD9-81ED-4DB2-BD59-A6C34878D82A}">
                    <a16:rowId xmlns:a16="http://schemas.microsoft.com/office/drawing/2014/main" val="316673931"/>
                  </a:ext>
                </a:extLst>
              </a:tr>
              <a:tr h="625627">
                <a:tc>
                  <a:txBody>
                    <a:bodyPr/>
                    <a:lstStyle/>
                    <a:p>
                      <a:r>
                        <a:rPr lang="en-US" sz="1500" dirty="0">
                          <a:latin typeface="Times New Roman" panose="02020603050405020304" pitchFamily="18" charset="0"/>
                          <a:cs typeface="Times New Roman" panose="02020603050405020304" pitchFamily="18" charset="0"/>
                        </a:rPr>
                        <a:t>Added new features based on (OHLCV)</a:t>
                      </a:r>
                    </a:p>
                  </a:txBody>
                  <a:tcPr/>
                </a:tc>
                <a:tc>
                  <a:txBody>
                    <a:bodyPr/>
                    <a:lstStyle/>
                    <a:p>
                      <a:r>
                        <a:rPr lang="en-US" sz="1500" dirty="0">
                          <a:latin typeface="Times New Roman" panose="02020603050405020304" pitchFamily="18" charset="0"/>
                          <a:cs typeface="Times New Roman" panose="02020603050405020304" pitchFamily="18" charset="0"/>
                        </a:rPr>
                        <a:t>NO</a:t>
                      </a:r>
                    </a:p>
                  </a:txBody>
                  <a:tcPr/>
                </a:tc>
                <a:tc>
                  <a:txBody>
                    <a:bodyPr/>
                    <a:lstStyle/>
                    <a:p>
                      <a:r>
                        <a:rPr lang="en-US" sz="1500" dirty="0">
                          <a:latin typeface="Times New Roman" panose="02020603050405020304" pitchFamily="18" charset="0"/>
                          <a:cs typeface="Times New Roman" panose="02020603050405020304" pitchFamily="18" charset="0"/>
                        </a:rPr>
                        <a:t>NO</a:t>
                      </a:r>
                    </a:p>
                  </a:txBody>
                  <a:tcPr/>
                </a:tc>
                <a:tc>
                  <a:txBody>
                    <a:bodyPr/>
                    <a:lstStyle/>
                    <a:p>
                      <a:r>
                        <a:rPr lang="en-US" sz="1500" dirty="0">
                          <a:latin typeface="Times New Roman" panose="02020603050405020304" pitchFamily="18" charset="0"/>
                          <a:cs typeface="Times New Roman" panose="02020603050405020304" pitchFamily="18" charset="0"/>
                        </a:rPr>
                        <a:t>NO</a:t>
                      </a:r>
                    </a:p>
                  </a:txBody>
                  <a:tcPr/>
                </a:tc>
                <a:tc>
                  <a:txBody>
                    <a:bodyPr/>
                    <a:lstStyle/>
                    <a:p>
                      <a:r>
                        <a:rPr lang="en-US" sz="1500" dirty="0">
                          <a:latin typeface="Times New Roman" panose="02020603050405020304" pitchFamily="18" charset="0"/>
                          <a:cs typeface="Times New Roman" panose="02020603050405020304" pitchFamily="18" charset="0"/>
                        </a:rPr>
                        <a:t>YES</a:t>
                      </a:r>
                    </a:p>
                  </a:txBody>
                  <a:tcPr/>
                </a:tc>
                <a:tc>
                  <a:txBody>
                    <a:bodyPr/>
                    <a:lstStyle/>
                    <a:p>
                      <a:r>
                        <a:rPr lang="en-US" sz="1500" dirty="0">
                          <a:latin typeface="Times New Roman" panose="02020603050405020304" pitchFamily="18" charset="0"/>
                          <a:cs typeface="Times New Roman" panose="02020603050405020304" pitchFamily="18" charset="0"/>
                        </a:rPr>
                        <a:t>NO</a:t>
                      </a:r>
                    </a:p>
                  </a:txBody>
                  <a:tcPr/>
                </a:tc>
                <a:tc>
                  <a:txBody>
                    <a:bodyPr/>
                    <a:lstStyle/>
                    <a:p>
                      <a:r>
                        <a:rPr lang="en-US" sz="1500" dirty="0">
                          <a:latin typeface="Times New Roman" panose="02020603050405020304" pitchFamily="18" charset="0"/>
                          <a:cs typeface="Times New Roman" panose="02020603050405020304" pitchFamily="18" charset="0"/>
                        </a:rPr>
                        <a:t>NO</a:t>
                      </a:r>
                    </a:p>
                  </a:txBody>
                  <a:tcPr/>
                </a:tc>
                <a:tc>
                  <a:txBody>
                    <a:bodyPr/>
                    <a:lstStyle/>
                    <a:p>
                      <a:r>
                        <a:rPr lang="en-US" sz="1500" dirty="0">
                          <a:latin typeface="Times New Roman" panose="02020603050405020304" pitchFamily="18" charset="0"/>
                          <a:cs typeface="Times New Roman" panose="02020603050405020304" pitchFamily="18" charset="0"/>
                        </a:rPr>
                        <a:t>YES</a:t>
                      </a:r>
                    </a:p>
                  </a:txBody>
                  <a:tcPr/>
                </a:tc>
                <a:extLst>
                  <a:ext uri="{0D108BD9-81ED-4DB2-BD59-A6C34878D82A}">
                    <a16:rowId xmlns:a16="http://schemas.microsoft.com/office/drawing/2014/main" val="4186354261"/>
                  </a:ext>
                </a:extLst>
              </a:tr>
              <a:tr h="357501">
                <a:tc>
                  <a:txBody>
                    <a:bodyPr/>
                    <a:lstStyle/>
                    <a:p>
                      <a:r>
                        <a:rPr lang="en-US" sz="1500" dirty="0">
                          <a:latin typeface="Times New Roman" panose="02020603050405020304" pitchFamily="18" charset="0"/>
                          <a:cs typeface="Times New Roman" panose="02020603050405020304" pitchFamily="18" charset="0"/>
                        </a:rPr>
                        <a:t>Machine learning models training</a:t>
                      </a:r>
                    </a:p>
                  </a:txBody>
                  <a:tcPr/>
                </a:tc>
                <a:tc>
                  <a:txBody>
                    <a:bodyPr/>
                    <a:lstStyle/>
                    <a:p>
                      <a:r>
                        <a:rPr lang="en-US" sz="1500" dirty="0">
                          <a:latin typeface="Times New Roman" panose="02020603050405020304" pitchFamily="18" charset="0"/>
                          <a:cs typeface="Times New Roman" panose="02020603050405020304" pitchFamily="18" charset="0"/>
                        </a:rPr>
                        <a:t>NO</a:t>
                      </a:r>
                    </a:p>
                  </a:txBody>
                  <a:tcPr/>
                </a:tc>
                <a:tc>
                  <a:txBody>
                    <a:bodyPr/>
                    <a:lstStyle/>
                    <a:p>
                      <a:r>
                        <a:rPr lang="en-US" sz="1500" dirty="0">
                          <a:latin typeface="Times New Roman" panose="02020603050405020304" pitchFamily="18" charset="0"/>
                          <a:cs typeface="Times New Roman" panose="02020603050405020304" pitchFamily="18" charset="0"/>
                        </a:rPr>
                        <a:t>NO</a:t>
                      </a:r>
                    </a:p>
                  </a:txBody>
                  <a:tcPr/>
                </a:tc>
                <a:tc>
                  <a:txBody>
                    <a:bodyPr/>
                    <a:lstStyle/>
                    <a:p>
                      <a:r>
                        <a:rPr lang="en-US" sz="1500" dirty="0">
                          <a:latin typeface="Times New Roman" panose="02020603050405020304" pitchFamily="18" charset="0"/>
                          <a:cs typeface="Times New Roman" panose="02020603050405020304" pitchFamily="18" charset="0"/>
                        </a:rPr>
                        <a:t>NO</a:t>
                      </a:r>
                    </a:p>
                  </a:txBody>
                  <a:tcPr/>
                </a:tc>
                <a:tc>
                  <a:txBody>
                    <a:bodyPr/>
                    <a:lstStyle/>
                    <a:p>
                      <a:r>
                        <a:rPr lang="en-US" sz="1500" dirty="0">
                          <a:latin typeface="Times New Roman" panose="02020603050405020304" pitchFamily="18" charset="0"/>
                          <a:cs typeface="Times New Roman" panose="02020603050405020304" pitchFamily="18" charset="0"/>
                        </a:rPr>
                        <a:t>YES</a:t>
                      </a:r>
                    </a:p>
                  </a:txBody>
                  <a:tcPr/>
                </a:tc>
                <a:tc>
                  <a:txBody>
                    <a:bodyPr/>
                    <a:lstStyle/>
                    <a:p>
                      <a:r>
                        <a:rPr lang="en-US" sz="1500" dirty="0">
                          <a:latin typeface="Times New Roman" panose="02020603050405020304" pitchFamily="18" charset="0"/>
                          <a:cs typeface="Times New Roman" panose="02020603050405020304" pitchFamily="18" charset="0"/>
                        </a:rPr>
                        <a:t>YES</a:t>
                      </a:r>
                    </a:p>
                  </a:txBody>
                  <a:tcPr/>
                </a:tc>
                <a:tc>
                  <a:txBody>
                    <a:bodyPr/>
                    <a:lstStyle/>
                    <a:p>
                      <a:r>
                        <a:rPr lang="en-US" sz="1500" dirty="0">
                          <a:latin typeface="Times New Roman" panose="02020603050405020304" pitchFamily="18" charset="0"/>
                          <a:cs typeface="Times New Roman" panose="02020603050405020304" pitchFamily="18" charset="0"/>
                        </a:rPr>
                        <a:t>YES</a:t>
                      </a:r>
                    </a:p>
                  </a:txBody>
                  <a:tcPr/>
                </a:tc>
                <a:tc>
                  <a:txBody>
                    <a:bodyPr/>
                    <a:lstStyle/>
                    <a:p>
                      <a:r>
                        <a:rPr lang="en-US" sz="1500" dirty="0">
                          <a:latin typeface="Times New Roman" panose="02020603050405020304" pitchFamily="18" charset="0"/>
                          <a:cs typeface="Times New Roman" panose="02020603050405020304" pitchFamily="18" charset="0"/>
                        </a:rPr>
                        <a:t>YES</a:t>
                      </a:r>
                    </a:p>
                  </a:txBody>
                  <a:tcPr/>
                </a:tc>
                <a:extLst>
                  <a:ext uri="{0D108BD9-81ED-4DB2-BD59-A6C34878D82A}">
                    <a16:rowId xmlns:a16="http://schemas.microsoft.com/office/drawing/2014/main" val="1814209359"/>
                  </a:ext>
                </a:extLst>
              </a:tr>
              <a:tr h="357501">
                <a:tc>
                  <a:txBody>
                    <a:bodyPr/>
                    <a:lstStyle/>
                    <a:p>
                      <a:r>
                        <a:rPr lang="en-US" sz="1500" dirty="0">
                          <a:latin typeface="Times New Roman" panose="02020603050405020304" pitchFamily="18" charset="0"/>
                          <a:cs typeface="Times New Roman" panose="02020603050405020304" pitchFamily="18" charset="0"/>
                        </a:rPr>
                        <a:t>Deep learning models training</a:t>
                      </a:r>
                    </a:p>
                  </a:txBody>
                  <a:tcPr/>
                </a:tc>
                <a:tc>
                  <a:txBody>
                    <a:bodyPr/>
                    <a:lstStyle/>
                    <a:p>
                      <a:r>
                        <a:rPr lang="en-US" sz="1500" dirty="0">
                          <a:latin typeface="Times New Roman" panose="02020603050405020304" pitchFamily="18" charset="0"/>
                          <a:cs typeface="Times New Roman" panose="02020603050405020304" pitchFamily="18" charset="0"/>
                        </a:rPr>
                        <a:t>YES</a:t>
                      </a:r>
                    </a:p>
                  </a:txBody>
                  <a:tcPr/>
                </a:tc>
                <a:tc>
                  <a:txBody>
                    <a:bodyPr/>
                    <a:lstStyle/>
                    <a:p>
                      <a:r>
                        <a:rPr lang="en-US" sz="1500" dirty="0">
                          <a:latin typeface="Times New Roman" panose="02020603050405020304" pitchFamily="18" charset="0"/>
                          <a:cs typeface="Times New Roman" panose="02020603050405020304" pitchFamily="18" charset="0"/>
                        </a:rPr>
                        <a:t>YES</a:t>
                      </a:r>
                    </a:p>
                  </a:txBody>
                  <a:tcPr/>
                </a:tc>
                <a:tc>
                  <a:txBody>
                    <a:bodyPr/>
                    <a:lstStyle/>
                    <a:p>
                      <a:r>
                        <a:rPr lang="en-US" sz="1500" dirty="0">
                          <a:latin typeface="Times New Roman" panose="02020603050405020304" pitchFamily="18" charset="0"/>
                          <a:cs typeface="Times New Roman" panose="02020603050405020304" pitchFamily="18" charset="0"/>
                        </a:rPr>
                        <a:t>YES</a:t>
                      </a:r>
                    </a:p>
                  </a:txBody>
                  <a:tcPr/>
                </a:tc>
                <a:tc>
                  <a:txBody>
                    <a:bodyPr/>
                    <a:lstStyle/>
                    <a:p>
                      <a:r>
                        <a:rPr lang="en-US" sz="1500" dirty="0">
                          <a:latin typeface="Times New Roman" panose="02020603050405020304" pitchFamily="18" charset="0"/>
                          <a:cs typeface="Times New Roman" panose="02020603050405020304" pitchFamily="18" charset="0"/>
                        </a:rPr>
                        <a:t>NO</a:t>
                      </a:r>
                    </a:p>
                  </a:txBody>
                  <a:tcPr/>
                </a:tc>
                <a:tc>
                  <a:txBody>
                    <a:bodyPr/>
                    <a:lstStyle/>
                    <a:p>
                      <a:r>
                        <a:rPr lang="en-US" sz="1500" dirty="0">
                          <a:latin typeface="Times New Roman" panose="02020603050405020304" pitchFamily="18" charset="0"/>
                          <a:cs typeface="Times New Roman" panose="02020603050405020304" pitchFamily="18" charset="0"/>
                        </a:rPr>
                        <a:t>NO</a:t>
                      </a:r>
                    </a:p>
                  </a:txBody>
                  <a:tcPr/>
                </a:tc>
                <a:tc>
                  <a:txBody>
                    <a:bodyPr/>
                    <a:lstStyle/>
                    <a:p>
                      <a:r>
                        <a:rPr lang="en-US" sz="1500" dirty="0">
                          <a:latin typeface="Times New Roman" panose="02020603050405020304" pitchFamily="18" charset="0"/>
                          <a:cs typeface="Times New Roman" panose="02020603050405020304" pitchFamily="18" charset="0"/>
                        </a:rPr>
                        <a:t>NO</a:t>
                      </a:r>
                    </a:p>
                  </a:txBody>
                  <a:tcPr/>
                </a:tc>
                <a:tc>
                  <a:txBody>
                    <a:bodyPr/>
                    <a:lstStyle/>
                    <a:p>
                      <a:r>
                        <a:rPr lang="en-US" sz="1500" dirty="0">
                          <a:latin typeface="Times New Roman" panose="02020603050405020304" pitchFamily="18" charset="0"/>
                          <a:cs typeface="Times New Roman" panose="02020603050405020304" pitchFamily="18" charset="0"/>
                        </a:rPr>
                        <a:t>YES</a:t>
                      </a:r>
                    </a:p>
                  </a:txBody>
                  <a:tcPr/>
                </a:tc>
                <a:extLst>
                  <a:ext uri="{0D108BD9-81ED-4DB2-BD59-A6C34878D82A}">
                    <a16:rowId xmlns:a16="http://schemas.microsoft.com/office/drawing/2014/main" val="2712199881"/>
                  </a:ext>
                </a:extLst>
              </a:tr>
              <a:tr h="357501">
                <a:tc>
                  <a:txBody>
                    <a:bodyPr/>
                    <a:lstStyle/>
                    <a:p>
                      <a:r>
                        <a:rPr lang="en-US" sz="1500" dirty="0">
                          <a:latin typeface="Times New Roman" panose="02020603050405020304" pitchFamily="18" charset="0"/>
                          <a:cs typeface="Times New Roman" panose="02020603050405020304" pitchFamily="18" charset="0"/>
                        </a:rPr>
                        <a:t>Next day close price prediction</a:t>
                      </a:r>
                    </a:p>
                  </a:txBody>
                  <a:tcPr/>
                </a:tc>
                <a:tc>
                  <a:txBody>
                    <a:bodyPr/>
                    <a:lstStyle/>
                    <a:p>
                      <a:r>
                        <a:rPr lang="en-US" sz="1500" dirty="0">
                          <a:latin typeface="Times New Roman" panose="02020603050405020304" pitchFamily="18" charset="0"/>
                          <a:cs typeface="Times New Roman" panose="02020603050405020304" pitchFamily="18" charset="0"/>
                        </a:rPr>
                        <a:t>YES</a:t>
                      </a:r>
                    </a:p>
                  </a:txBody>
                  <a:tcPr/>
                </a:tc>
                <a:tc>
                  <a:txBody>
                    <a:bodyPr/>
                    <a:lstStyle/>
                    <a:p>
                      <a:r>
                        <a:rPr lang="en-US" sz="1500" dirty="0">
                          <a:latin typeface="Times New Roman" panose="02020603050405020304" pitchFamily="18" charset="0"/>
                          <a:cs typeface="Times New Roman" panose="02020603050405020304" pitchFamily="18" charset="0"/>
                        </a:rPr>
                        <a:t>YES</a:t>
                      </a:r>
                    </a:p>
                  </a:txBody>
                  <a:tcPr/>
                </a:tc>
                <a:tc>
                  <a:txBody>
                    <a:bodyPr/>
                    <a:lstStyle/>
                    <a:p>
                      <a:r>
                        <a:rPr lang="en-US" sz="1500" dirty="0">
                          <a:latin typeface="Times New Roman" panose="02020603050405020304" pitchFamily="18" charset="0"/>
                          <a:cs typeface="Times New Roman" panose="02020603050405020304" pitchFamily="18" charset="0"/>
                        </a:rPr>
                        <a:t>NO</a:t>
                      </a:r>
                    </a:p>
                  </a:txBody>
                  <a:tcPr/>
                </a:tc>
                <a:tc>
                  <a:txBody>
                    <a:bodyPr/>
                    <a:lstStyle/>
                    <a:p>
                      <a:r>
                        <a:rPr lang="en-US" sz="1500" dirty="0">
                          <a:latin typeface="Times New Roman" panose="02020603050405020304" pitchFamily="18" charset="0"/>
                          <a:cs typeface="Times New Roman" panose="02020603050405020304" pitchFamily="18" charset="0"/>
                        </a:rPr>
                        <a:t>NO</a:t>
                      </a:r>
                    </a:p>
                  </a:txBody>
                  <a:tcPr/>
                </a:tc>
                <a:tc>
                  <a:txBody>
                    <a:bodyPr/>
                    <a:lstStyle/>
                    <a:p>
                      <a:r>
                        <a:rPr lang="en-US" sz="1500" dirty="0">
                          <a:latin typeface="Times New Roman" panose="02020603050405020304" pitchFamily="18" charset="0"/>
                          <a:cs typeface="Times New Roman" panose="02020603050405020304" pitchFamily="18" charset="0"/>
                        </a:rPr>
                        <a:t>YES</a:t>
                      </a:r>
                    </a:p>
                  </a:txBody>
                  <a:tcPr/>
                </a:tc>
                <a:tc>
                  <a:txBody>
                    <a:bodyPr/>
                    <a:lstStyle/>
                    <a:p>
                      <a:r>
                        <a:rPr lang="en-US" sz="1500" dirty="0">
                          <a:latin typeface="Times New Roman" panose="02020603050405020304" pitchFamily="18" charset="0"/>
                          <a:cs typeface="Times New Roman" panose="02020603050405020304" pitchFamily="18" charset="0"/>
                        </a:rPr>
                        <a:t>NO</a:t>
                      </a:r>
                    </a:p>
                  </a:txBody>
                  <a:tcPr/>
                </a:tc>
                <a:tc>
                  <a:txBody>
                    <a:bodyPr/>
                    <a:lstStyle/>
                    <a:p>
                      <a:r>
                        <a:rPr lang="en-US" sz="1500" dirty="0">
                          <a:latin typeface="Times New Roman" panose="02020603050405020304" pitchFamily="18" charset="0"/>
                          <a:cs typeface="Times New Roman" panose="02020603050405020304" pitchFamily="18" charset="0"/>
                        </a:rPr>
                        <a:t>YES</a:t>
                      </a:r>
                    </a:p>
                  </a:txBody>
                  <a:tcPr/>
                </a:tc>
                <a:extLst>
                  <a:ext uri="{0D108BD9-81ED-4DB2-BD59-A6C34878D82A}">
                    <a16:rowId xmlns:a16="http://schemas.microsoft.com/office/drawing/2014/main" val="210700054"/>
                  </a:ext>
                </a:extLst>
              </a:tr>
              <a:tr h="625627">
                <a:tc>
                  <a:txBody>
                    <a:bodyPr/>
                    <a:lstStyle/>
                    <a:p>
                      <a:r>
                        <a:rPr lang="en-US" sz="1500" dirty="0">
                          <a:latin typeface="Times New Roman" panose="02020603050405020304" pitchFamily="18" charset="0"/>
                          <a:cs typeface="Times New Roman" panose="02020603050405020304" pitchFamily="18" charset="0"/>
                        </a:rPr>
                        <a:t>Error Calculation using RMSE, MAE, R²</a:t>
                      </a:r>
                    </a:p>
                  </a:txBody>
                  <a:tcPr/>
                </a:tc>
                <a:tc>
                  <a:txBody>
                    <a:bodyPr/>
                    <a:lstStyle/>
                    <a:p>
                      <a:r>
                        <a:rPr lang="en-US" sz="1500" dirty="0">
                          <a:latin typeface="Times New Roman" panose="02020603050405020304" pitchFamily="18" charset="0"/>
                          <a:cs typeface="Times New Roman" panose="02020603050405020304" pitchFamily="18" charset="0"/>
                        </a:rPr>
                        <a:t>YES</a:t>
                      </a:r>
                    </a:p>
                  </a:txBody>
                  <a:tcPr/>
                </a:tc>
                <a:tc>
                  <a:txBody>
                    <a:bodyPr/>
                    <a:lstStyle/>
                    <a:p>
                      <a:r>
                        <a:rPr lang="en-US" sz="1500" dirty="0">
                          <a:latin typeface="Times New Roman" panose="02020603050405020304" pitchFamily="18" charset="0"/>
                          <a:cs typeface="Times New Roman" panose="02020603050405020304" pitchFamily="18" charset="0"/>
                        </a:rPr>
                        <a:t>YES</a:t>
                      </a:r>
                    </a:p>
                  </a:txBody>
                  <a:tcPr/>
                </a:tc>
                <a:tc>
                  <a:txBody>
                    <a:bodyPr/>
                    <a:lstStyle/>
                    <a:p>
                      <a:r>
                        <a:rPr lang="en-US" sz="1500" dirty="0">
                          <a:latin typeface="Times New Roman" panose="02020603050405020304" pitchFamily="18" charset="0"/>
                          <a:cs typeface="Times New Roman" panose="02020603050405020304" pitchFamily="18" charset="0"/>
                        </a:rPr>
                        <a:t>YES</a:t>
                      </a:r>
                    </a:p>
                  </a:txBody>
                  <a:tcPr/>
                </a:tc>
                <a:tc>
                  <a:txBody>
                    <a:bodyPr/>
                    <a:lstStyle/>
                    <a:p>
                      <a:r>
                        <a:rPr lang="en-US" sz="1500" dirty="0">
                          <a:latin typeface="Times New Roman" panose="02020603050405020304" pitchFamily="18" charset="0"/>
                          <a:cs typeface="Times New Roman" panose="02020603050405020304" pitchFamily="18" charset="0"/>
                        </a:rPr>
                        <a:t>NO</a:t>
                      </a:r>
                    </a:p>
                  </a:txBody>
                  <a:tcPr/>
                </a:tc>
                <a:tc>
                  <a:txBody>
                    <a:bodyPr/>
                    <a:lstStyle/>
                    <a:p>
                      <a:r>
                        <a:rPr lang="en-US" sz="1500" dirty="0">
                          <a:latin typeface="Times New Roman" panose="02020603050405020304" pitchFamily="18" charset="0"/>
                          <a:cs typeface="Times New Roman" panose="02020603050405020304" pitchFamily="18" charset="0"/>
                        </a:rPr>
                        <a:t>YES</a:t>
                      </a:r>
                    </a:p>
                  </a:txBody>
                  <a:tcPr/>
                </a:tc>
                <a:tc>
                  <a:txBody>
                    <a:bodyPr/>
                    <a:lstStyle/>
                    <a:p>
                      <a:r>
                        <a:rPr lang="en-US" sz="1500" dirty="0">
                          <a:latin typeface="Times New Roman" panose="02020603050405020304" pitchFamily="18" charset="0"/>
                          <a:cs typeface="Times New Roman" panose="02020603050405020304" pitchFamily="18" charset="0"/>
                        </a:rPr>
                        <a:t>YES</a:t>
                      </a:r>
                    </a:p>
                  </a:txBody>
                  <a:tcPr/>
                </a:tc>
                <a:tc>
                  <a:txBody>
                    <a:bodyPr/>
                    <a:lstStyle/>
                    <a:p>
                      <a:r>
                        <a:rPr lang="en-US" sz="1500" dirty="0">
                          <a:latin typeface="Times New Roman" panose="02020603050405020304" pitchFamily="18" charset="0"/>
                          <a:cs typeface="Times New Roman" panose="02020603050405020304" pitchFamily="18" charset="0"/>
                        </a:rPr>
                        <a:t>YES</a:t>
                      </a:r>
                    </a:p>
                  </a:txBody>
                  <a:tcPr/>
                </a:tc>
                <a:extLst>
                  <a:ext uri="{0D108BD9-81ED-4DB2-BD59-A6C34878D82A}">
                    <a16:rowId xmlns:a16="http://schemas.microsoft.com/office/drawing/2014/main" val="3333139746"/>
                  </a:ext>
                </a:extLst>
              </a:tr>
            </a:tbl>
          </a:graphicData>
        </a:graphic>
      </p:graphicFrame>
    </p:spTree>
    <p:extLst>
      <p:ext uri="{BB962C8B-B14F-4D97-AF65-F5344CB8AC3E}">
        <p14:creationId xmlns:p14="http://schemas.microsoft.com/office/powerpoint/2010/main" val="8256648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14521-E9FA-DA34-7711-183537691A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DC562B-C8B0-DFB9-BE83-E310EA918D09}"/>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Methodology</a:t>
            </a:r>
            <a:endParaRPr lang="en-US" dirty="0">
              <a:solidFill>
                <a:srgbClr val="7030A0"/>
              </a:solidFill>
            </a:endParaRPr>
          </a:p>
        </p:txBody>
      </p:sp>
      <p:sp>
        <p:nvSpPr>
          <p:cNvPr id="4" name="Slide Number Placeholder 3">
            <a:extLst>
              <a:ext uri="{FF2B5EF4-FFF2-40B4-BE49-F238E27FC236}">
                <a16:creationId xmlns:a16="http://schemas.microsoft.com/office/drawing/2014/main" id="{0F2E0854-7873-FEF3-2AA5-796931873145}"/>
              </a:ext>
            </a:extLst>
          </p:cNvPr>
          <p:cNvSpPr>
            <a:spLocks noGrp="1"/>
          </p:cNvSpPr>
          <p:nvPr>
            <p:ph type="sldNum" sz="quarter" idx="16"/>
          </p:nvPr>
        </p:nvSpPr>
        <p:spPr>
          <a:xfrm>
            <a:off x="9356344" y="5961650"/>
            <a:ext cx="2844800" cy="365125"/>
          </a:xfrm>
        </p:spPr>
        <p:txBody>
          <a:bodyPr/>
          <a:lstStyle/>
          <a:p>
            <a:pPr>
              <a:defRPr/>
            </a:pPr>
            <a:fld id="{4CD333A3-7515-47B8-9EDC-EE0892D9C861}" type="slidenum">
              <a:rPr lang="en-US" smtClean="0"/>
              <a:pPr>
                <a:defRPr/>
              </a:pPr>
              <a:t>12</a:t>
            </a:fld>
            <a:endParaRPr lang="en-US" dirty="0"/>
          </a:p>
        </p:txBody>
      </p:sp>
      <p:sp>
        <p:nvSpPr>
          <p:cNvPr id="3" name="TextBox 2">
            <a:extLst>
              <a:ext uri="{FF2B5EF4-FFF2-40B4-BE49-F238E27FC236}">
                <a16:creationId xmlns:a16="http://schemas.microsoft.com/office/drawing/2014/main" id="{DF898819-521A-BBC7-BEB8-BDAC854DF207}"/>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pic>
        <p:nvPicPr>
          <p:cNvPr id="19" name="Content Placeholder 18">
            <a:extLst>
              <a:ext uri="{FF2B5EF4-FFF2-40B4-BE49-F238E27FC236}">
                <a16:creationId xmlns:a16="http://schemas.microsoft.com/office/drawing/2014/main" id="{FAE1BFA4-2BC0-5D0D-7A94-FB308677F80B}"/>
              </a:ext>
            </a:extLst>
          </p:cNvPr>
          <p:cNvPicPr>
            <a:picLocks noGrp="1" noChangeAspect="1"/>
          </p:cNvPicPr>
          <p:nvPr>
            <p:ph sz="quarter" idx="13"/>
          </p:nvPr>
        </p:nvPicPr>
        <p:blipFill>
          <a:blip r:embed="rId2" cstate="print">
            <a:extLst>
              <a:ext uri="{28A0092B-C50C-407E-A947-70E740481C1C}">
                <a14:useLocalDpi xmlns:a14="http://schemas.microsoft.com/office/drawing/2010/main" val="0"/>
              </a:ext>
            </a:extLst>
          </a:blip>
          <a:stretch>
            <a:fillRect/>
          </a:stretch>
        </p:blipFill>
        <p:spPr>
          <a:xfrm>
            <a:off x="8772210" y="587553"/>
            <a:ext cx="2877179" cy="5682894"/>
          </a:xfrm>
          <a:prstGeom prst="rect">
            <a:avLst/>
          </a:prstGeom>
        </p:spPr>
      </p:pic>
      <p:sp>
        <p:nvSpPr>
          <p:cNvPr id="21" name="TextBox 20">
            <a:extLst>
              <a:ext uri="{FF2B5EF4-FFF2-40B4-BE49-F238E27FC236}">
                <a16:creationId xmlns:a16="http://schemas.microsoft.com/office/drawing/2014/main" id="{ADB71D65-96A9-3E23-7DB8-1F3905DA6619}"/>
              </a:ext>
            </a:extLst>
          </p:cNvPr>
          <p:cNvSpPr txBox="1"/>
          <p:nvPr/>
        </p:nvSpPr>
        <p:spPr>
          <a:xfrm>
            <a:off x="981454" y="1443841"/>
            <a:ext cx="7239001" cy="3970318"/>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methodology diagram illustrates the complete workflow of the proposed stock price prediction system. The process begins with collecting historical stock market data (OHLCV), followed by data cleaning, time-based sorting, and feature engineering to prepare meaningful input features. The dataset is then divided into training, validation, and testing sets, and feature scaling is applied for improved model performance.</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After preprocessing, both Machine Learning models (Linear Regression, Ridge Regression, SVR, and KNN) and Deep Learning models (LSTM, GRU, Transformer, and Time2Vec) are trained to predict future stock prices. Finally, the models are evaluated using performance metrics such as R², MAE, and RMSE, followed by result analysis and visualization to compare prediction accuracy and overall effectiveness.</a:t>
            </a:r>
          </a:p>
        </p:txBody>
      </p:sp>
    </p:spTree>
    <p:extLst>
      <p:ext uri="{BB962C8B-B14F-4D97-AF65-F5344CB8AC3E}">
        <p14:creationId xmlns:p14="http://schemas.microsoft.com/office/powerpoint/2010/main" val="10449665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66D41-7896-F661-1397-1164DEA210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AB5034-6A4A-B5E3-B2BB-58B89CE84D26}"/>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Feature Engineering</a:t>
            </a:r>
            <a:endParaRPr lang="en-US" dirty="0">
              <a:solidFill>
                <a:srgbClr val="7030A0"/>
              </a:solidFill>
            </a:endParaRPr>
          </a:p>
        </p:txBody>
      </p:sp>
      <p:sp>
        <p:nvSpPr>
          <p:cNvPr id="4" name="Slide Number Placeholder 3">
            <a:extLst>
              <a:ext uri="{FF2B5EF4-FFF2-40B4-BE49-F238E27FC236}">
                <a16:creationId xmlns:a16="http://schemas.microsoft.com/office/drawing/2014/main" id="{B7806122-39AF-5E42-8F69-7A63A696953A}"/>
              </a:ext>
            </a:extLst>
          </p:cNvPr>
          <p:cNvSpPr>
            <a:spLocks noGrp="1"/>
          </p:cNvSpPr>
          <p:nvPr>
            <p:ph type="sldNum" sz="quarter" idx="16"/>
          </p:nvPr>
        </p:nvSpPr>
        <p:spPr>
          <a:xfrm>
            <a:off x="9356344" y="5961650"/>
            <a:ext cx="2844800" cy="365125"/>
          </a:xfrm>
        </p:spPr>
        <p:txBody>
          <a:bodyPr/>
          <a:lstStyle/>
          <a:p>
            <a:pPr>
              <a:defRPr/>
            </a:pPr>
            <a:fld id="{4CD333A3-7515-47B8-9EDC-EE0892D9C861}" type="slidenum">
              <a:rPr lang="en-US" smtClean="0"/>
              <a:pPr>
                <a:defRPr/>
              </a:pPr>
              <a:t>13</a:t>
            </a:fld>
            <a:endParaRPr lang="en-US" dirty="0"/>
          </a:p>
        </p:txBody>
      </p:sp>
      <p:sp>
        <p:nvSpPr>
          <p:cNvPr id="3" name="TextBox 2">
            <a:extLst>
              <a:ext uri="{FF2B5EF4-FFF2-40B4-BE49-F238E27FC236}">
                <a16:creationId xmlns:a16="http://schemas.microsoft.com/office/drawing/2014/main" id="{F602B39F-805B-0901-A421-202EA03643DE}"/>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pic>
        <p:nvPicPr>
          <p:cNvPr id="8" name="Picture 7">
            <a:extLst>
              <a:ext uri="{FF2B5EF4-FFF2-40B4-BE49-F238E27FC236}">
                <a16:creationId xmlns:a16="http://schemas.microsoft.com/office/drawing/2014/main" id="{C1DB9431-DB4B-9D7D-550A-9E90F9ACDC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2550" y="1095060"/>
            <a:ext cx="9486900" cy="4823743"/>
          </a:xfrm>
          <a:prstGeom prst="rect">
            <a:avLst/>
          </a:prstGeom>
        </p:spPr>
      </p:pic>
    </p:spTree>
    <p:extLst>
      <p:ext uri="{BB962C8B-B14F-4D97-AF65-F5344CB8AC3E}">
        <p14:creationId xmlns:p14="http://schemas.microsoft.com/office/powerpoint/2010/main" val="41707991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FF2C01-9808-EFF9-DC1D-1D40A9C846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15AB20-FB03-0700-6636-1D443007D4FE}"/>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Model Architecture</a:t>
            </a:r>
            <a:endParaRPr lang="en-US" dirty="0">
              <a:solidFill>
                <a:srgbClr val="7030A0"/>
              </a:solidFill>
            </a:endParaRPr>
          </a:p>
        </p:txBody>
      </p:sp>
      <p:sp>
        <p:nvSpPr>
          <p:cNvPr id="4" name="Slide Number Placeholder 3">
            <a:extLst>
              <a:ext uri="{FF2B5EF4-FFF2-40B4-BE49-F238E27FC236}">
                <a16:creationId xmlns:a16="http://schemas.microsoft.com/office/drawing/2014/main" id="{075063C2-BC1D-2F19-66B7-747C451495E1}"/>
              </a:ext>
            </a:extLst>
          </p:cNvPr>
          <p:cNvSpPr>
            <a:spLocks noGrp="1"/>
          </p:cNvSpPr>
          <p:nvPr>
            <p:ph type="sldNum" sz="quarter" idx="16"/>
          </p:nvPr>
        </p:nvSpPr>
        <p:spPr>
          <a:xfrm>
            <a:off x="9356344" y="5961650"/>
            <a:ext cx="2844800" cy="365125"/>
          </a:xfrm>
        </p:spPr>
        <p:txBody>
          <a:bodyPr/>
          <a:lstStyle/>
          <a:p>
            <a:pPr>
              <a:defRPr/>
            </a:pPr>
            <a:fld id="{4CD333A3-7515-47B8-9EDC-EE0892D9C861}" type="slidenum">
              <a:rPr lang="en-US" smtClean="0"/>
              <a:pPr>
                <a:defRPr/>
              </a:pPr>
              <a:t>14</a:t>
            </a:fld>
            <a:endParaRPr lang="en-US" dirty="0"/>
          </a:p>
        </p:txBody>
      </p:sp>
      <p:sp>
        <p:nvSpPr>
          <p:cNvPr id="3" name="TextBox 2">
            <a:extLst>
              <a:ext uri="{FF2B5EF4-FFF2-40B4-BE49-F238E27FC236}">
                <a16:creationId xmlns:a16="http://schemas.microsoft.com/office/drawing/2014/main" id="{D2D0EC3C-25D7-1887-7DE5-AA9672BBF41F}"/>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pic>
        <p:nvPicPr>
          <p:cNvPr id="10" name="Picture 9">
            <a:extLst>
              <a:ext uri="{FF2B5EF4-FFF2-40B4-BE49-F238E27FC236}">
                <a16:creationId xmlns:a16="http://schemas.microsoft.com/office/drawing/2014/main" id="{F12B7A8C-42EA-111A-F391-6C20B963ED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153652"/>
            <a:ext cx="11582400" cy="4550696"/>
          </a:xfrm>
          <a:prstGeom prst="rect">
            <a:avLst/>
          </a:prstGeom>
        </p:spPr>
      </p:pic>
    </p:spTree>
    <p:extLst>
      <p:ext uri="{BB962C8B-B14F-4D97-AF65-F5344CB8AC3E}">
        <p14:creationId xmlns:p14="http://schemas.microsoft.com/office/powerpoint/2010/main" val="11849298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D83C9-9D73-2743-E767-E0062C1531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2FCEAD-DE50-0739-A4C4-99BF3EC9D997}"/>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Model Architecture</a:t>
            </a:r>
            <a:endParaRPr lang="en-US" dirty="0">
              <a:solidFill>
                <a:srgbClr val="7030A0"/>
              </a:solidFill>
            </a:endParaRPr>
          </a:p>
        </p:txBody>
      </p:sp>
      <p:sp>
        <p:nvSpPr>
          <p:cNvPr id="4" name="Slide Number Placeholder 3">
            <a:extLst>
              <a:ext uri="{FF2B5EF4-FFF2-40B4-BE49-F238E27FC236}">
                <a16:creationId xmlns:a16="http://schemas.microsoft.com/office/drawing/2014/main" id="{DB2891DF-13A3-A1F0-30A0-A0DAF98460B2}"/>
              </a:ext>
            </a:extLst>
          </p:cNvPr>
          <p:cNvSpPr>
            <a:spLocks noGrp="1"/>
          </p:cNvSpPr>
          <p:nvPr>
            <p:ph type="sldNum" sz="quarter" idx="16"/>
          </p:nvPr>
        </p:nvSpPr>
        <p:spPr>
          <a:xfrm>
            <a:off x="9356344" y="5961650"/>
            <a:ext cx="2844800" cy="365125"/>
          </a:xfrm>
        </p:spPr>
        <p:txBody>
          <a:bodyPr/>
          <a:lstStyle/>
          <a:p>
            <a:pPr>
              <a:defRPr/>
            </a:pPr>
            <a:fld id="{4CD333A3-7515-47B8-9EDC-EE0892D9C861}" type="slidenum">
              <a:rPr lang="en-US" smtClean="0"/>
              <a:pPr>
                <a:defRPr/>
              </a:pPr>
              <a:t>15</a:t>
            </a:fld>
            <a:endParaRPr lang="en-US" dirty="0"/>
          </a:p>
        </p:txBody>
      </p:sp>
      <p:sp>
        <p:nvSpPr>
          <p:cNvPr id="3" name="TextBox 2">
            <a:extLst>
              <a:ext uri="{FF2B5EF4-FFF2-40B4-BE49-F238E27FC236}">
                <a16:creationId xmlns:a16="http://schemas.microsoft.com/office/drawing/2014/main" id="{CA516B83-66C8-DC25-AFDC-64E0031FBDEC}"/>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pic>
        <p:nvPicPr>
          <p:cNvPr id="10" name="Picture 9">
            <a:extLst>
              <a:ext uri="{FF2B5EF4-FFF2-40B4-BE49-F238E27FC236}">
                <a16:creationId xmlns:a16="http://schemas.microsoft.com/office/drawing/2014/main" id="{AB38034F-0556-AB40-D28B-A2B91D90487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4800" y="1313855"/>
            <a:ext cx="11582400" cy="4230290"/>
          </a:xfrm>
          <a:prstGeom prst="rect">
            <a:avLst/>
          </a:prstGeom>
        </p:spPr>
      </p:pic>
    </p:spTree>
    <p:extLst>
      <p:ext uri="{BB962C8B-B14F-4D97-AF65-F5344CB8AC3E}">
        <p14:creationId xmlns:p14="http://schemas.microsoft.com/office/powerpoint/2010/main" val="39873427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BBF3C-3C5D-C215-6088-04AA23437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2E6185-9AEC-3592-5796-C4046727C3E4}"/>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Result and Analysis</a:t>
            </a:r>
            <a:endParaRPr lang="en-US" dirty="0">
              <a:solidFill>
                <a:srgbClr val="7030A0"/>
              </a:solidFill>
            </a:endParaRPr>
          </a:p>
        </p:txBody>
      </p:sp>
      <p:sp>
        <p:nvSpPr>
          <p:cNvPr id="4" name="Slide Number Placeholder 3">
            <a:extLst>
              <a:ext uri="{FF2B5EF4-FFF2-40B4-BE49-F238E27FC236}">
                <a16:creationId xmlns:a16="http://schemas.microsoft.com/office/drawing/2014/main" id="{FF88F8C7-5DE8-3C70-285A-1E8D17905895}"/>
              </a:ext>
            </a:extLst>
          </p:cNvPr>
          <p:cNvSpPr>
            <a:spLocks noGrp="1"/>
          </p:cNvSpPr>
          <p:nvPr>
            <p:ph type="sldNum" sz="quarter" idx="16"/>
          </p:nvPr>
        </p:nvSpPr>
        <p:spPr>
          <a:xfrm>
            <a:off x="9347200" y="5989637"/>
            <a:ext cx="2844800" cy="365125"/>
          </a:xfrm>
        </p:spPr>
        <p:txBody>
          <a:bodyPr/>
          <a:lstStyle/>
          <a:p>
            <a:pPr>
              <a:defRPr/>
            </a:pPr>
            <a:fld id="{4CD333A3-7515-47B8-9EDC-EE0892D9C861}" type="slidenum">
              <a:rPr lang="en-US" smtClean="0"/>
              <a:pPr>
                <a:defRPr/>
              </a:pPr>
              <a:t>16</a:t>
            </a:fld>
            <a:endParaRPr lang="en-US" dirty="0"/>
          </a:p>
        </p:txBody>
      </p:sp>
      <p:sp>
        <p:nvSpPr>
          <p:cNvPr id="3" name="TextBox 2">
            <a:extLst>
              <a:ext uri="{FF2B5EF4-FFF2-40B4-BE49-F238E27FC236}">
                <a16:creationId xmlns:a16="http://schemas.microsoft.com/office/drawing/2014/main" id="{AEAABF22-1DA3-7413-665E-9770C9910D19}"/>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graphicFrame>
        <p:nvGraphicFramePr>
          <p:cNvPr id="8" name="Table 7">
            <a:extLst>
              <a:ext uri="{FF2B5EF4-FFF2-40B4-BE49-F238E27FC236}">
                <a16:creationId xmlns:a16="http://schemas.microsoft.com/office/drawing/2014/main" id="{AC41DE0E-AAA3-C592-168A-F88B7B7455A2}"/>
              </a:ext>
            </a:extLst>
          </p:cNvPr>
          <p:cNvGraphicFramePr>
            <a:graphicFrameLocks noGrp="1"/>
          </p:cNvGraphicFramePr>
          <p:nvPr>
            <p:extLst>
              <p:ext uri="{D42A27DB-BD31-4B8C-83A1-F6EECF244321}">
                <p14:modId xmlns:p14="http://schemas.microsoft.com/office/powerpoint/2010/main" val="938656956"/>
              </p:ext>
            </p:extLst>
          </p:nvPr>
        </p:nvGraphicFramePr>
        <p:xfrm>
          <a:off x="2001982" y="1524000"/>
          <a:ext cx="7827819" cy="3962402"/>
        </p:xfrm>
        <a:graphic>
          <a:graphicData uri="http://schemas.openxmlformats.org/drawingml/2006/table">
            <a:tbl>
              <a:tblPr firstRow="1" bandRow="1">
                <a:tableStyleId>{5C22544A-7EE6-4342-B048-85BDC9FD1C3A}</a:tableStyleId>
              </a:tblPr>
              <a:tblGrid>
                <a:gridCol w="1565564">
                  <a:extLst>
                    <a:ext uri="{9D8B030D-6E8A-4147-A177-3AD203B41FA5}">
                      <a16:colId xmlns:a16="http://schemas.microsoft.com/office/drawing/2014/main" val="1422316077"/>
                    </a:ext>
                  </a:extLst>
                </a:gridCol>
                <a:gridCol w="1323274">
                  <a:extLst>
                    <a:ext uri="{9D8B030D-6E8A-4147-A177-3AD203B41FA5}">
                      <a16:colId xmlns:a16="http://schemas.microsoft.com/office/drawing/2014/main" val="532052580"/>
                    </a:ext>
                  </a:extLst>
                </a:gridCol>
                <a:gridCol w="1491014">
                  <a:extLst>
                    <a:ext uri="{9D8B030D-6E8A-4147-A177-3AD203B41FA5}">
                      <a16:colId xmlns:a16="http://schemas.microsoft.com/office/drawing/2014/main" val="3012179778"/>
                    </a:ext>
                  </a:extLst>
                </a:gridCol>
                <a:gridCol w="1538743">
                  <a:extLst>
                    <a:ext uri="{9D8B030D-6E8A-4147-A177-3AD203B41FA5}">
                      <a16:colId xmlns:a16="http://schemas.microsoft.com/office/drawing/2014/main" val="457029736"/>
                    </a:ext>
                  </a:extLst>
                </a:gridCol>
                <a:gridCol w="1909224">
                  <a:extLst>
                    <a:ext uri="{9D8B030D-6E8A-4147-A177-3AD203B41FA5}">
                      <a16:colId xmlns:a16="http://schemas.microsoft.com/office/drawing/2014/main" val="1129084923"/>
                    </a:ext>
                  </a:extLst>
                </a:gridCol>
              </a:tblGrid>
              <a:tr h="682291">
                <a:tc>
                  <a:txBody>
                    <a:bodyPr/>
                    <a:lstStyle/>
                    <a:p>
                      <a:r>
                        <a:rPr lang="en-US" sz="1600" dirty="0">
                          <a:latin typeface="Times New Roman" panose="02020603050405020304" pitchFamily="18" charset="0"/>
                          <a:cs typeface="Times New Roman" panose="02020603050405020304" pitchFamily="18" charset="0"/>
                        </a:rPr>
                        <a:t>Model</a:t>
                      </a:r>
                    </a:p>
                  </a:txBody>
                  <a:tcPr/>
                </a:tc>
                <a:tc>
                  <a:txBody>
                    <a:bodyPr/>
                    <a:lstStyle/>
                    <a:p>
                      <a:r>
                        <a:rPr lang="en-US" sz="1600" dirty="0">
                          <a:latin typeface="Times New Roman" panose="02020603050405020304" pitchFamily="18" charset="0"/>
                          <a:cs typeface="Times New Roman" panose="02020603050405020304" pitchFamily="18" charset="0"/>
                        </a:rPr>
                        <a:t>BRAC BANK</a:t>
                      </a:r>
                    </a:p>
                  </a:txBody>
                  <a:tcPr/>
                </a:tc>
                <a:tc>
                  <a:txBody>
                    <a:bodyPr/>
                    <a:lstStyle/>
                    <a:p>
                      <a:r>
                        <a:rPr lang="en-US" sz="1600" dirty="0">
                          <a:latin typeface="Times New Roman" panose="02020603050405020304" pitchFamily="18" charset="0"/>
                          <a:cs typeface="Times New Roman" panose="02020603050405020304" pitchFamily="18" charset="0"/>
                        </a:rPr>
                        <a:t>CITY BANK</a:t>
                      </a:r>
                    </a:p>
                  </a:txBody>
                  <a:tcPr/>
                </a:tc>
                <a:tc>
                  <a:txBody>
                    <a:bodyPr/>
                    <a:lstStyle/>
                    <a:p>
                      <a:r>
                        <a:rPr lang="en-US" sz="1600" dirty="0">
                          <a:latin typeface="Times New Roman" panose="02020603050405020304" pitchFamily="18" charset="0"/>
                          <a:cs typeface="Times New Roman" panose="02020603050405020304" pitchFamily="18" charset="0"/>
                        </a:rPr>
                        <a:t>EASTERN BANK</a:t>
                      </a:r>
                    </a:p>
                  </a:txBody>
                  <a:tcPr/>
                </a:tc>
                <a:tc>
                  <a:txBody>
                    <a:bodyPr/>
                    <a:lstStyle/>
                    <a:p>
                      <a:r>
                        <a:rPr lang="en-US" sz="1600" dirty="0">
                          <a:latin typeface="Times New Roman" panose="02020603050405020304" pitchFamily="18" charset="0"/>
                          <a:cs typeface="Times New Roman" panose="02020603050405020304" pitchFamily="18" charset="0"/>
                        </a:rPr>
                        <a:t>AVG R²</a:t>
                      </a:r>
                    </a:p>
                  </a:txBody>
                  <a:tcPr/>
                </a:tc>
                <a:extLst>
                  <a:ext uri="{0D108BD9-81ED-4DB2-BD59-A6C34878D82A}">
                    <a16:rowId xmlns:a16="http://schemas.microsoft.com/office/drawing/2014/main" val="3499967638"/>
                  </a:ext>
                </a:extLst>
              </a:tr>
              <a:tr h="682291">
                <a:tc>
                  <a:txBody>
                    <a:bodyPr/>
                    <a:lstStyle/>
                    <a:p>
                      <a:r>
                        <a:rPr lang="en-US" sz="1600" dirty="0">
                          <a:latin typeface="Times New Roman" panose="02020603050405020304" pitchFamily="18" charset="0"/>
                          <a:cs typeface="Times New Roman" panose="02020603050405020304" pitchFamily="18" charset="0"/>
                        </a:rPr>
                        <a:t>Linear Regression</a:t>
                      </a:r>
                    </a:p>
                  </a:txBody>
                  <a:tcPr/>
                </a:tc>
                <a:tc>
                  <a:txBody>
                    <a:bodyPr/>
                    <a:lstStyle/>
                    <a:p>
                      <a:r>
                        <a:rPr lang="en-US" sz="1600" dirty="0">
                          <a:latin typeface="Times New Roman" panose="02020603050405020304" pitchFamily="18" charset="0"/>
                          <a:cs typeface="Times New Roman" panose="02020603050405020304" pitchFamily="18" charset="0"/>
                        </a:rPr>
                        <a:t>0.9726</a:t>
                      </a:r>
                    </a:p>
                  </a:txBody>
                  <a:tcPr/>
                </a:tc>
                <a:tc>
                  <a:txBody>
                    <a:bodyPr/>
                    <a:lstStyle/>
                    <a:p>
                      <a:r>
                        <a:rPr lang="en-US" sz="1600" dirty="0">
                          <a:latin typeface="Times New Roman" panose="02020603050405020304" pitchFamily="18" charset="0"/>
                          <a:cs typeface="Times New Roman" panose="02020603050405020304" pitchFamily="18" charset="0"/>
                        </a:rPr>
                        <a:t>0.8973</a:t>
                      </a:r>
                    </a:p>
                  </a:txBody>
                  <a:tcPr/>
                </a:tc>
                <a:tc>
                  <a:txBody>
                    <a:bodyPr/>
                    <a:lstStyle/>
                    <a:p>
                      <a:r>
                        <a:rPr lang="en-US" sz="1600" dirty="0">
                          <a:latin typeface="Times New Roman" panose="02020603050405020304" pitchFamily="18" charset="0"/>
                          <a:cs typeface="Times New Roman" panose="02020603050405020304" pitchFamily="18" charset="0"/>
                        </a:rPr>
                        <a:t>0.8809</a:t>
                      </a:r>
                    </a:p>
                  </a:txBody>
                  <a:tcPr/>
                </a:tc>
                <a:tc>
                  <a:txBody>
                    <a:bodyPr/>
                    <a:lstStyle/>
                    <a:p>
                      <a:r>
                        <a:rPr lang="en-US" sz="1600" dirty="0">
                          <a:latin typeface="Times New Roman" panose="02020603050405020304" pitchFamily="18" charset="0"/>
                          <a:cs typeface="Times New Roman" panose="02020603050405020304" pitchFamily="18" charset="0"/>
                        </a:rPr>
                        <a:t>0.9169</a:t>
                      </a:r>
                    </a:p>
                  </a:txBody>
                  <a:tcPr/>
                </a:tc>
                <a:extLst>
                  <a:ext uri="{0D108BD9-81ED-4DB2-BD59-A6C34878D82A}">
                    <a16:rowId xmlns:a16="http://schemas.microsoft.com/office/drawing/2014/main" val="3141218985"/>
                  </a:ext>
                </a:extLst>
              </a:tr>
              <a:tr h="432970">
                <a:tc>
                  <a:txBody>
                    <a:bodyPr/>
                    <a:lstStyle/>
                    <a:p>
                      <a:r>
                        <a:rPr lang="en-US" sz="1600" dirty="0">
                          <a:latin typeface="Times New Roman" panose="02020603050405020304" pitchFamily="18" charset="0"/>
                          <a:cs typeface="Times New Roman" panose="02020603050405020304" pitchFamily="18" charset="0"/>
                        </a:rPr>
                        <a:t>SVR</a:t>
                      </a:r>
                    </a:p>
                  </a:txBody>
                  <a:tcPr/>
                </a:tc>
                <a:tc>
                  <a:txBody>
                    <a:bodyPr/>
                    <a:lstStyle/>
                    <a:p>
                      <a:r>
                        <a:rPr lang="en-US" sz="1600" dirty="0">
                          <a:latin typeface="Times New Roman" panose="02020603050405020304" pitchFamily="18" charset="0"/>
                          <a:cs typeface="Times New Roman" panose="02020603050405020304" pitchFamily="18" charset="0"/>
                        </a:rPr>
                        <a:t>0.9850</a:t>
                      </a:r>
                    </a:p>
                  </a:txBody>
                  <a:tcPr/>
                </a:tc>
                <a:tc>
                  <a:txBody>
                    <a:bodyPr/>
                    <a:lstStyle/>
                    <a:p>
                      <a:r>
                        <a:rPr lang="en-US" sz="1600" dirty="0">
                          <a:latin typeface="Times New Roman" panose="02020603050405020304" pitchFamily="18" charset="0"/>
                          <a:cs typeface="Times New Roman" panose="02020603050405020304" pitchFamily="18" charset="0"/>
                        </a:rPr>
                        <a:t>0.9412</a:t>
                      </a:r>
                    </a:p>
                  </a:txBody>
                  <a:tcPr/>
                </a:tc>
                <a:tc>
                  <a:txBody>
                    <a:bodyPr/>
                    <a:lstStyle/>
                    <a:p>
                      <a:r>
                        <a:rPr lang="en-US" sz="1600" dirty="0">
                          <a:latin typeface="Times New Roman" panose="02020603050405020304" pitchFamily="18" charset="0"/>
                          <a:cs typeface="Times New Roman" panose="02020603050405020304" pitchFamily="18" charset="0"/>
                        </a:rPr>
                        <a:t>0.5598</a:t>
                      </a:r>
                    </a:p>
                  </a:txBody>
                  <a:tcPr/>
                </a:tc>
                <a:tc>
                  <a:txBody>
                    <a:bodyPr/>
                    <a:lstStyle/>
                    <a:p>
                      <a:r>
                        <a:rPr lang="en-US" sz="1600" dirty="0">
                          <a:latin typeface="Times New Roman" panose="02020603050405020304" pitchFamily="18" charset="0"/>
                          <a:cs typeface="Times New Roman" panose="02020603050405020304" pitchFamily="18" charset="0"/>
                        </a:rPr>
                        <a:t>0.8286</a:t>
                      </a:r>
                    </a:p>
                  </a:txBody>
                  <a:tcPr/>
                </a:tc>
                <a:extLst>
                  <a:ext uri="{0D108BD9-81ED-4DB2-BD59-A6C34878D82A}">
                    <a16:rowId xmlns:a16="http://schemas.microsoft.com/office/drawing/2014/main" val="3000329748"/>
                  </a:ext>
                </a:extLst>
              </a:tr>
              <a:tr h="432970">
                <a:tc>
                  <a:txBody>
                    <a:bodyPr/>
                    <a:lstStyle/>
                    <a:p>
                      <a:r>
                        <a:rPr lang="en-US" sz="1600" dirty="0">
                          <a:latin typeface="Times New Roman" panose="02020603050405020304" pitchFamily="18" charset="0"/>
                          <a:cs typeface="Times New Roman" panose="02020603050405020304" pitchFamily="18" charset="0"/>
                        </a:rPr>
                        <a:t>KNN</a:t>
                      </a:r>
                    </a:p>
                  </a:txBody>
                  <a:tcPr/>
                </a:tc>
                <a:tc>
                  <a:txBody>
                    <a:bodyPr/>
                    <a:lstStyle/>
                    <a:p>
                      <a:r>
                        <a:rPr lang="en-US" sz="1600" dirty="0">
                          <a:latin typeface="Times New Roman" panose="02020603050405020304" pitchFamily="18" charset="0"/>
                          <a:cs typeface="Times New Roman" panose="02020603050405020304" pitchFamily="18" charset="0"/>
                        </a:rPr>
                        <a:t>0.9609</a:t>
                      </a:r>
                    </a:p>
                  </a:txBody>
                  <a:tcPr/>
                </a:tc>
                <a:tc>
                  <a:txBody>
                    <a:bodyPr/>
                    <a:lstStyle/>
                    <a:p>
                      <a:r>
                        <a:rPr lang="en-US" sz="1600" dirty="0">
                          <a:latin typeface="Times New Roman" panose="02020603050405020304" pitchFamily="18" charset="0"/>
                          <a:cs typeface="Times New Roman" panose="02020603050405020304" pitchFamily="18" charset="0"/>
                        </a:rPr>
                        <a:t>0.9467</a:t>
                      </a:r>
                    </a:p>
                  </a:txBody>
                  <a:tcPr/>
                </a:tc>
                <a:tc>
                  <a:txBody>
                    <a:bodyPr/>
                    <a:lstStyle/>
                    <a:p>
                      <a:r>
                        <a:rPr lang="en-US" sz="1600" dirty="0">
                          <a:latin typeface="Times New Roman" panose="02020603050405020304" pitchFamily="18" charset="0"/>
                          <a:cs typeface="Times New Roman" panose="02020603050405020304" pitchFamily="18" charset="0"/>
                        </a:rPr>
                        <a:t>0.2878</a:t>
                      </a:r>
                    </a:p>
                  </a:txBody>
                  <a:tcPr/>
                </a:tc>
                <a:tc>
                  <a:txBody>
                    <a:bodyPr/>
                    <a:lstStyle/>
                    <a:p>
                      <a:r>
                        <a:rPr lang="en-US" sz="1600" dirty="0">
                          <a:latin typeface="Times New Roman" panose="02020603050405020304" pitchFamily="18" charset="0"/>
                          <a:cs typeface="Times New Roman" panose="02020603050405020304" pitchFamily="18" charset="0"/>
                        </a:rPr>
                        <a:t>0.7318</a:t>
                      </a:r>
                    </a:p>
                  </a:txBody>
                  <a:tcPr/>
                </a:tc>
                <a:extLst>
                  <a:ext uri="{0D108BD9-81ED-4DB2-BD59-A6C34878D82A}">
                    <a16:rowId xmlns:a16="http://schemas.microsoft.com/office/drawing/2014/main" val="3716761846"/>
                  </a:ext>
                </a:extLst>
              </a:tr>
              <a:tr h="432970">
                <a:tc>
                  <a:txBody>
                    <a:bodyPr/>
                    <a:lstStyle/>
                    <a:p>
                      <a:r>
                        <a:rPr lang="en-US" sz="1600" b="1" dirty="0">
                          <a:latin typeface="Times New Roman" panose="02020603050405020304" pitchFamily="18" charset="0"/>
                          <a:cs typeface="Times New Roman" panose="02020603050405020304" pitchFamily="18" charset="0"/>
                        </a:rPr>
                        <a:t>Ridge</a:t>
                      </a:r>
                    </a:p>
                  </a:txBody>
                  <a:tcPr/>
                </a:tc>
                <a:tc>
                  <a:txBody>
                    <a:bodyPr/>
                    <a:lstStyle/>
                    <a:p>
                      <a:r>
                        <a:rPr lang="en-US" sz="1600" b="1" dirty="0">
                          <a:latin typeface="Times New Roman" panose="02020603050405020304" pitchFamily="18" charset="0"/>
                          <a:cs typeface="Times New Roman" panose="02020603050405020304" pitchFamily="18" charset="0"/>
                        </a:rPr>
                        <a:t>0.9841</a:t>
                      </a:r>
                    </a:p>
                  </a:txBody>
                  <a:tcPr/>
                </a:tc>
                <a:tc>
                  <a:txBody>
                    <a:bodyPr/>
                    <a:lstStyle/>
                    <a:p>
                      <a:r>
                        <a:rPr lang="en-US" sz="1600" b="1" dirty="0">
                          <a:latin typeface="Times New Roman" panose="02020603050405020304" pitchFamily="18" charset="0"/>
                          <a:cs typeface="Times New Roman" panose="02020603050405020304" pitchFamily="18" charset="0"/>
                        </a:rPr>
                        <a:t>0.9698</a:t>
                      </a:r>
                    </a:p>
                  </a:txBody>
                  <a:tcPr/>
                </a:tc>
                <a:tc>
                  <a:txBody>
                    <a:bodyPr/>
                    <a:lstStyle/>
                    <a:p>
                      <a:r>
                        <a:rPr lang="en-US" sz="1600" b="1" dirty="0">
                          <a:latin typeface="Times New Roman" panose="02020603050405020304" pitchFamily="18" charset="0"/>
                          <a:cs typeface="Times New Roman" panose="02020603050405020304" pitchFamily="18" charset="0"/>
                        </a:rPr>
                        <a:t>0.9561</a:t>
                      </a:r>
                    </a:p>
                  </a:txBody>
                  <a:tcPr/>
                </a:tc>
                <a:tc>
                  <a:txBody>
                    <a:bodyPr/>
                    <a:lstStyle/>
                    <a:p>
                      <a:r>
                        <a:rPr lang="en-US" sz="1600" b="1" dirty="0">
                          <a:latin typeface="Times New Roman" panose="02020603050405020304" pitchFamily="18" charset="0"/>
                          <a:cs typeface="Times New Roman" panose="02020603050405020304" pitchFamily="18" charset="0"/>
                        </a:rPr>
                        <a:t>0.97</a:t>
                      </a:r>
                    </a:p>
                  </a:txBody>
                  <a:tcPr/>
                </a:tc>
                <a:extLst>
                  <a:ext uri="{0D108BD9-81ED-4DB2-BD59-A6C34878D82A}">
                    <a16:rowId xmlns:a16="http://schemas.microsoft.com/office/drawing/2014/main" val="3320099412"/>
                  </a:ext>
                </a:extLst>
              </a:tr>
              <a:tr h="432970">
                <a:tc>
                  <a:txBody>
                    <a:bodyPr/>
                    <a:lstStyle/>
                    <a:p>
                      <a:r>
                        <a:rPr lang="en-US" sz="1600" dirty="0">
                          <a:latin typeface="Times New Roman" panose="02020603050405020304" pitchFamily="18" charset="0"/>
                          <a:cs typeface="Times New Roman" panose="02020603050405020304" pitchFamily="18" charset="0"/>
                        </a:rPr>
                        <a:t>LSTM</a:t>
                      </a:r>
                    </a:p>
                  </a:txBody>
                  <a:tcPr/>
                </a:tc>
                <a:tc>
                  <a:txBody>
                    <a:bodyPr/>
                    <a:lstStyle/>
                    <a:p>
                      <a:r>
                        <a:rPr lang="en-US" sz="1600" dirty="0">
                          <a:latin typeface="Times New Roman" panose="02020603050405020304" pitchFamily="18" charset="0"/>
                          <a:cs typeface="Times New Roman" panose="02020603050405020304" pitchFamily="18" charset="0"/>
                        </a:rPr>
                        <a:t>0.9420</a:t>
                      </a:r>
                    </a:p>
                  </a:txBody>
                  <a:tcPr/>
                </a:tc>
                <a:tc>
                  <a:txBody>
                    <a:bodyPr/>
                    <a:lstStyle/>
                    <a:p>
                      <a:r>
                        <a:rPr lang="en-US" sz="1600" dirty="0">
                          <a:latin typeface="Times New Roman" panose="02020603050405020304" pitchFamily="18" charset="0"/>
                          <a:cs typeface="Times New Roman" panose="02020603050405020304" pitchFamily="18" charset="0"/>
                        </a:rPr>
                        <a:t>0.9011</a:t>
                      </a:r>
                    </a:p>
                  </a:txBody>
                  <a:tcPr/>
                </a:tc>
                <a:tc>
                  <a:txBody>
                    <a:bodyPr/>
                    <a:lstStyle/>
                    <a:p>
                      <a:r>
                        <a:rPr lang="en-US" sz="1600" dirty="0">
                          <a:latin typeface="Times New Roman" panose="02020603050405020304" pitchFamily="18" charset="0"/>
                          <a:cs typeface="Times New Roman" panose="02020603050405020304" pitchFamily="18" charset="0"/>
                        </a:rPr>
                        <a:t>0.7528</a:t>
                      </a:r>
                    </a:p>
                  </a:txBody>
                  <a:tcPr/>
                </a:tc>
                <a:tc>
                  <a:txBody>
                    <a:bodyPr/>
                    <a:lstStyle/>
                    <a:p>
                      <a:r>
                        <a:rPr lang="en-US" sz="1600" dirty="0">
                          <a:latin typeface="Times New Roman" panose="02020603050405020304" pitchFamily="18" charset="0"/>
                          <a:cs typeface="Times New Roman" panose="02020603050405020304" pitchFamily="18" charset="0"/>
                        </a:rPr>
                        <a:t>0.8653</a:t>
                      </a:r>
                    </a:p>
                  </a:txBody>
                  <a:tcPr/>
                </a:tc>
                <a:extLst>
                  <a:ext uri="{0D108BD9-81ED-4DB2-BD59-A6C34878D82A}">
                    <a16:rowId xmlns:a16="http://schemas.microsoft.com/office/drawing/2014/main" val="3311349876"/>
                  </a:ext>
                </a:extLst>
              </a:tr>
              <a:tr h="432970">
                <a:tc>
                  <a:txBody>
                    <a:bodyPr/>
                    <a:lstStyle/>
                    <a:p>
                      <a:r>
                        <a:rPr lang="en-US" sz="1600" dirty="0">
                          <a:latin typeface="Times New Roman" panose="02020603050405020304" pitchFamily="18" charset="0"/>
                          <a:cs typeface="Times New Roman" panose="02020603050405020304" pitchFamily="18" charset="0"/>
                        </a:rPr>
                        <a:t>GRU</a:t>
                      </a:r>
                    </a:p>
                  </a:txBody>
                  <a:tcPr/>
                </a:tc>
                <a:tc>
                  <a:txBody>
                    <a:bodyPr/>
                    <a:lstStyle/>
                    <a:p>
                      <a:r>
                        <a:rPr lang="en-US" sz="1600" dirty="0">
                          <a:latin typeface="Times New Roman" panose="02020603050405020304" pitchFamily="18" charset="0"/>
                          <a:cs typeface="Times New Roman" panose="02020603050405020304" pitchFamily="18" charset="0"/>
                        </a:rPr>
                        <a:t>0.9282</a:t>
                      </a:r>
                    </a:p>
                  </a:txBody>
                  <a:tcPr/>
                </a:tc>
                <a:tc>
                  <a:txBody>
                    <a:bodyPr/>
                    <a:lstStyle/>
                    <a:p>
                      <a:r>
                        <a:rPr lang="en-US" sz="1600" dirty="0">
                          <a:latin typeface="Times New Roman" panose="02020603050405020304" pitchFamily="18" charset="0"/>
                          <a:cs typeface="Times New Roman" panose="02020603050405020304" pitchFamily="18" charset="0"/>
                        </a:rPr>
                        <a:t>0.8883</a:t>
                      </a:r>
                    </a:p>
                  </a:txBody>
                  <a:tcPr/>
                </a:tc>
                <a:tc>
                  <a:txBody>
                    <a:bodyPr/>
                    <a:lstStyle/>
                    <a:p>
                      <a:r>
                        <a:rPr lang="en-US" sz="1600" dirty="0">
                          <a:latin typeface="Times New Roman" panose="02020603050405020304" pitchFamily="18" charset="0"/>
                          <a:cs typeface="Times New Roman" panose="02020603050405020304" pitchFamily="18" charset="0"/>
                        </a:rPr>
                        <a:t>0.6603</a:t>
                      </a:r>
                    </a:p>
                  </a:txBody>
                  <a:tcPr/>
                </a:tc>
                <a:tc>
                  <a:txBody>
                    <a:bodyPr/>
                    <a:lstStyle/>
                    <a:p>
                      <a:r>
                        <a:rPr lang="en-US" sz="1600" dirty="0">
                          <a:latin typeface="Times New Roman" panose="02020603050405020304" pitchFamily="18" charset="0"/>
                          <a:cs typeface="Times New Roman" panose="02020603050405020304" pitchFamily="18" charset="0"/>
                        </a:rPr>
                        <a:t>0.8256</a:t>
                      </a:r>
                    </a:p>
                  </a:txBody>
                  <a:tcPr/>
                </a:tc>
                <a:extLst>
                  <a:ext uri="{0D108BD9-81ED-4DB2-BD59-A6C34878D82A}">
                    <a16:rowId xmlns:a16="http://schemas.microsoft.com/office/drawing/2014/main" val="1579601049"/>
                  </a:ext>
                </a:extLst>
              </a:tr>
              <a:tr h="432970">
                <a:tc>
                  <a:txBody>
                    <a:bodyPr/>
                    <a:lstStyle/>
                    <a:p>
                      <a:r>
                        <a:rPr lang="en-US" sz="1600" dirty="0">
                          <a:latin typeface="Times New Roman" panose="02020603050405020304" pitchFamily="18" charset="0"/>
                          <a:cs typeface="Times New Roman" panose="02020603050405020304" pitchFamily="18" charset="0"/>
                        </a:rPr>
                        <a:t>Transformer</a:t>
                      </a:r>
                    </a:p>
                  </a:txBody>
                  <a:tcPr/>
                </a:tc>
                <a:tc>
                  <a:txBody>
                    <a:bodyPr/>
                    <a:lstStyle/>
                    <a:p>
                      <a:r>
                        <a:rPr lang="en-US" sz="1600" dirty="0">
                          <a:latin typeface="Times New Roman" panose="02020603050405020304" pitchFamily="18" charset="0"/>
                          <a:cs typeface="Times New Roman" panose="02020603050405020304" pitchFamily="18" charset="0"/>
                        </a:rPr>
                        <a:t>0.8955</a:t>
                      </a:r>
                    </a:p>
                  </a:txBody>
                  <a:tcPr/>
                </a:tc>
                <a:tc>
                  <a:txBody>
                    <a:bodyPr/>
                    <a:lstStyle/>
                    <a:p>
                      <a:r>
                        <a:rPr lang="en-US" sz="1600" dirty="0">
                          <a:latin typeface="Times New Roman" panose="02020603050405020304" pitchFamily="18" charset="0"/>
                          <a:cs typeface="Times New Roman" panose="02020603050405020304" pitchFamily="18" charset="0"/>
                        </a:rPr>
                        <a:t>0.7036</a:t>
                      </a:r>
                    </a:p>
                  </a:txBody>
                  <a:tcPr/>
                </a:tc>
                <a:tc>
                  <a:txBody>
                    <a:bodyPr/>
                    <a:lstStyle/>
                    <a:p>
                      <a:r>
                        <a:rPr lang="en-US" sz="1600" dirty="0">
                          <a:latin typeface="Times New Roman" panose="02020603050405020304" pitchFamily="18" charset="0"/>
                          <a:cs typeface="Times New Roman" panose="02020603050405020304" pitchFamily="18" charset="0"/>
                        </a:rPr>
                        <a:t>0.6617</a:t>
                      </a:r>
                    </a:p>
                  </a:txBody>
                  <a:tcPr/>
                </a:tc>
                <a:tc>
                  <a:txBody>
                    <a:bodyPr/>
                    <a:lstStyle/>
                    <a:p>
                      <a:r>
                        <a:rPr lang="en-US" sz="1600" dirty="0">
                          <a:latin typeface="Times New Roman" panose="02020603050405020304" pitchFamily="18" charset="0"/>
                          <a:cs typeface="Times New Roman" panose="02020603050405020304" pitchFamily="18" charset="0"/>
                        </a:rPr>
                        <a:t>0.7536</a:t>
                      </a:r>
                    </a:p>
                  </a:txBody>
                  <a:tcPr/>
                </a:tc>
                <a:extLst>
                  <a:ext uri="{0D108BD9-81ED-4DB2-BD59-A6C34878D82A}">
                    <a16:rowId xmlns:a16="http://schemas.microsoft.com/office/drawing/2014/main" val="2900003143"/>
                  </a:ext>
                </a:extLst>
              </a:tr>
            </a:tbl>
          </a:graphicData>
        </a:graphic>
      </p:graphicFrame>
      <p:sp>
        <p:nvSpPr>
          <p:cNvPr id="9" name="TextBox 8">
            <a:extLst>
              <a:ext uri="{FF2B5EF4-FFF2-40B4-BE49-F238E27FC236}">
                <a16:creationId xmlns:a16="http://schemas.microsoft.com/office/drawing/2014/main" id="{E77F15CB-921B-BDF1-F6A7-14CE4E067FBC}"/>
              </a:ext>
            </a:extLst>
          </p:cNvPr>
          <p:cNvSpPr txBox="1"/>
          <p:nvPr/>
        </p:nvSpPr>
        <p:spPr>
          <a:xfrm>
            <a:off x="3505200" y="5638800"/>
            <a:ext cx="5029200"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Table: R² result table</a:t>
            </a:r>
          </a:p>
        </p:txBody>
      </p:sp>
    </p:spTree>
    <p:extLst>
      <p:ext uri="{BB962C8B-B14F-4D97-AF65-F5344CB8AC3E}">
        <p14:creationId xmlns:p14="http://schemas.microsoft.com/office/powerpoint/2010/main" val="25025762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9E5C-71F2-3105-2435-0102C1334E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611926-D2A5-F445-0117-A4074CC94842}"/>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Result and Analysis</a:t>
            </a:r>
            <a:endParaRPr lang="en-US" dirty="0">
              <a:solidFill>
                <a:srgbClr val="7030A0"/>
              </a:solidFill>
            </a:endParaRPr>
          </a:p>
        </p:txBody>
      </p:sp>
      <p:sp>
        <p:nvSpPr>
          <p:cNvPr id="4" name="Slide Number Placeholder 3">
            <a:extLst>
              <a:ext uri="{FF2B5EF4-FFF2-40B4-BE49-F238E27FC236}">
                <a16:creationId xmlns:a16="http://schemas.microsoft.com/office/drawing/2014/main" id="{BC820640-2CE5-2763-409D-C0C0D296CBCF}"/>
              </a:ext>
            </a:extLst>
          </p:cNvPr>
          <p:cNvSpPr>
            <a:spLocks noGrp="1"/>
          </p:cNvSpPr>
          <p:nvPr>
            <p:ph type="sldNum" sz="quarter" idx="16"/>
          </p:nvPr>
        </p:nvSpPr>
        <p:spPr>
          <a:xfrm>
            <a:off x="9347200" y="5989637"/>
            <a:ext cx="2844800" cy="365125"/>
          </a:xfrm>
        </p:spPr>
        <p:txBody>
          <a:bodyPr/>
          <a:lstStyle/>
          <a:p>
            <a:pPr>
              <a:defRPr/>
            </a:pPr>
            <a:fld id="{4CD333A3-7515-47B8-9EDC-EE0892D9C861}" type="slidenum">
              <a:rPr lang="en-US" smtClean="0"/>
              <a:pPr>
                <a:defRPr/>
              </a:pPr>
              <a:t>17</a:t>
            </a:fld>
            <a:endParaRPr lang="en-US" dirty="0"/>
          </a:p>
        </p:txBody>
      </p:sp>
      <p:sp>
        <p:nvSpPr>
          <p:cNvPr id="3" name="TextBox 2">
            <a:extLst>
              <a:ext uri="{FF2B5EF4-FFF2-40B4-BE49-F238E27FC236}">
                <a16:creationId xmlns:a16="http://schemas.microsoft.com/office/drawing/2014/main" id="{6B0481A9-B6A6-5839-3819-C47F1F1AA0A9}"/>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graphicFrame>
        <p:nvGraphicFramePr>
          <p:cNvPr id="8" name="Table 7">
            <a:extLst>
              <a:ext uri="{FF2B5EF4-FFF2-40B4-BE49-F238E27FC236}">
                <a16:creationId xmlns:a16="http://schemas.microsoft.com/office/drawing/2014/main" id="{3C931E3A-3CF4-A1BC-F10D-57311EA2991A}"/>
              </a:ext>
            </a:extLst>
          </p:cNvPr>
          <p:cNvGraphicFramePr>
            <a:graphicFrameLocks noGrp="1"/>
          </p:cNvGraphicFramePr>
          <p:nvPr>
            <p:extLst>
              <p:ext uri="{D42A27DB-BD31-4B8C-83A1-F6EECF244321}">
                <p14:modId xmlns:p14="http://schemas.microsoft.com/office/powerpoint/2010/main" val="1179318489"/>
              </p:ext>
            </p:extLst>
          </p:nvPr>
        </p:nvGraphicFramePr>
        <p:xfrm>
          <a:off x="2001982" y="1524000"/>
          <a:ext cx="7827819" cy="3962402"/>
        </p:xfrm>
        <a:graphic>
          <a:graphicData uri="http://schemas.openxmlformats.org/drawingml/2006/table">
            <a:tbl>
              <a:tblPr firstRow="1" bandRow="1">
                <a:tableStyleId>{5C22544A-7EE6-4342-B048-85BDC9FD1C3A}</a:tableStyleId>
              </a:tblPr>
              <a:tblGrid>
                <a:gridCol w="1565564">
                  <a:extLst>
                    <a:ext uri="{9D8B030D-6E8A-4147-A177-3AD203B41FA5}">
                      <a16:colId xmlns:a16="http://schemas.microsoft.com/office/drawing/2014/main" val="1422316077"/>
                    </a:ext>
                  </a:extLst>
                </a:gridCol>
                <a:gridCol w="1323274">
                  <a:extLst>
                    <a:ext uri="{9D8B030D-6E8A-4147-A177-3AD203B41FA5}">
                      <a16:colId xmlns:a16="http://schemas.microsoft.com/office/drawing/2014/main" val="532052580"/>
                    </a:ext>
                  </a:extLst>
                </a:gridCol>
                <a:gridCol w="1491014">
                  <a:extLst>
                    <a:ext uri="{9D8B030D-6E8A-4147-A177-3AD203B41FA5}">
                      <a16:colId xmlns:a16="http://schemas.microsoft.com/office/drawing/2014/main" val="3012179778"/>
                    </a:ext>
                  </a:extLst>
                </a:gridCol>
                <a:gridCol w="1538743">
                  <a:extLst>
                    <a:ext uri="{9D8B030D-6E8A-4147-A177-3AD203B41FA5}">
                      <a16:colId xmlns:a16="http://schemas.microsoft.com/office/drawing/2014/main" val="457029736"/>
                    </a:ext>
                  </a:extLst>
                </a:gridCol>
                <a:gridCol w="1909224">
                  <a:extLst>
                    <a:ext uri="{9D8B030D-6E8A-4147-A177-3AD203B41FA5}">
                      <a16:colId xmlns:a16="http://schemas.microsoft.com/office/drawing/2014/main" val="1129084923"/>
                    </a:ext>
                  </a:extLst>
                </a:gridCol>
              </a:tblGrid>
              <a:tr h="682291">
                <a:tc>
                  <a:txBody>
                    <a:bodyPr/>
                    <a:lstStyle/>
                    <a:p>
                      <a:r>
                        <a:rPr lang="en-US" sz="1600" dirty="0">
                          <a:latin typeface="Times New Roman" panose="02020603050405020304" pitchFamily="18" charset="0"/>
                          <a:cs typeface="Times New Roman" panose="02020603050405020304" pitchFamily="18" charset="0"/>
                        </a:rPr>
                        <a:t>Model</a:t>
                      </a:r>
                    </a:p>
                  </a:txBody>
                  <a:tcPr/>
                </a:tc>
                <a:tc>
                  <a:txBody>
                    <a:bodyPr/>
                    <a:lstStyle/>
                    <a:p>
                      <a:r>
                        <a:rPr lang="en-US" sz="1600" dirty="0">
                          <a:latin typeface="Times New Roman" panose="02020603050405020304" pitchFamily="18" charset="0"/>
                          <a:cs typeface="Times New Roman" panose="02020603050405020304" pitchFamily="18" charset="0"/>
                        </a:rPr>
                        <a:t>BRAC BANK</a:t>
                      </a:r>
                    </a:p>
                  </a:txBody>
                  <a:tcPr/>
                </a:tc>
                <a:tc>
                  <a:txBody>
                    <a:bodyPr/>
                    <a:lstStyle/>
                    <a:p>
                      <a:r>
                        <a:rPr lang="en-US" sz="1600" dirty="0">
                          <a:latin typeface="Times New Roman" panose="02020603050405020304" pitchFamily="18" charset="0"/>
                          <a:cs typeface="Times New Roman" panose="02020603050405020304" pitchFamily="18" charset="0"/>
                        </a:rPr>
                        <a:t>CITY BANK</a:t>
                      </a:r>
                    </a:p>
                  </a:txBody>
                  <a:tcPr/>
                </a:tc>
                <a:tc>
                  <a:txBody>
                    <a:bodyPr/>
                    <a:lstStyle/>
                    <a:p>
                      <a:r>
                        <a:rPr lang="en-US" sz="1600" dirty="0">
                          <a:latin typeface="Times New Roman" panose="02020603050405020304" pitchFamily="18" charset="0"/>
                          <a:cs typeface="Times New Roman" panose="02020603050405020304" pitchFamily="18" charset="0"/>
                        </a:rPr>
                        <a:t>EASTERN BANK</a:t>
                      </a:r>
                    </a:p>
                  </a:txBody>
                  <a:tcPr/>
                </a:tc>
                <a:tc>
                  <a:txBody>
                    <a:bodyPr/>
                    <a:lstStyle/>
                    <a:p>
                      <a:r>
                        <a:rPr lang="en-US" sz="1600" dirty="0">
                          <a:latin typeface="Times New Roman" panose="02020603050405020304" pitchFamily="18" charset="0"/>
                          <a:cs typeface="Times New Roman" panose="02020603050405020304" pitchFamily="18" charset="0"/>
                        </a:rPr>
                        <a:t>AVG RMSE</a:t>
                      </a:r>
                    </a:p>
                  </a:txBody>
                  <a:tcPr/>
                </a:tc>
                <a:extLst>
                  <a:ext uri="{0D108BD9-81ED-4DB2-BD59-A6C34878D82A}">
                    <a16:rowId xmlns:a16="http://schemas.microsoft.com/office/drawing/2014/main" val="3499967638"/>
                  </a:ext>
                </a:extLst>
              </a:tr>
              <a:tr h="682291">
                <a:tc>
                  <a:txBody>
                    <a:bodyPr/>
                    <a:lstStyle/>
                    <a:p>
                      <a:r>
                        <a:rPr lang="en-US" sz="1600" dirty="0">
                          <a:latin typeface="Times New Roman" panose="02020603050405020304" pitchFamily="18" charset="0"/>
                          <a:cs typeface="Times New Roman" panose="02020603050405020304" pitchFamily="18" charset="0"/>
                        </a:rPr>
                        <a:t>Linear Regression</a:t>
                      </a:r>
                    </a:p>
                  </a:txBody>
                  <a:tcPr/>
                </a:tc>
                <a:tc>
                  <a:txBody>
                    <a:bodyPr/>
                    <a:lstStyle/>
                    <a:p>
                      <a:r>
                        <a:rPr lang="en-US" sz="1600" dirty="0">
                          <a:latin typeface="Times New Roman" panose="02020603050405020304" pitchFamily="18" charset="0"/>
                          <a:cs typeface="Times New Roman" panose="02020603050405020304" pitchFamily="18" charset="0"/>
                        </a:rPr>
                        <a:t>1.7316</a:t>
                      </a:r>
                    </a:p>
                  </a:txBody>
                  <a:tcPr/>
                </a:tc>
                <a:tc>
                  <a:txBody>
                    <a:bodyPr/>
                    <a:lstStyle/>
                    <a:p>
                      <a:r>
                        <a:rPr lang="en-US" sz="1600" dirty="0">
                          <a:latin typeface="Times New Roman" panose="02020603050405020304" pitchFamily="18" charset="0"/>
                          <a:cs typeface="Times New Roman" panose="02020603050405020304" pitchFamily="18" charset="0"/>
                        </a:rPr>
                        <a:t>0.8714</a:t>
                      </a:r>
                    </a:p>
                  </a:txBody>
                  <a:tcPr/>
                </a:tc>
                <a:tc>
                  <a:txBody>
                    <a:bodyPr/>
                    <a:lstStyle/>
                    <a:p>
                      <a:r>
                        <a:rPr lang="en-US" sz="1600" dirty="0">
                          <a:latin typeface="Times New Roman" panose="02020603050405020304" pitchFamily="18" charset="0"/>
                          <a:cs typeface="Times New Roman" panose="02020603050405020304" pitchFamily="18" charset="0"/>
                        </a:rPr>
                        <a:t>0.5665</a:t>
                      </a:r>
                    </a:p>
                  </a:txBody>
                  <a:tcPr/>
                </a:tc>
                <a:tc>
                  <a:txBody>
                    <a:bodyPr/>
                    <a:lstStyle/>
                    <a:p>
                      <a:r>
                        <a:rPr lang="en-US" sz="1600" dirty="0">
                          <a:latin typeface="Times New Roman" panose="02020603050405020304" pitchFamily="18" charset="0"/>
                          <a:cs typeface="Times New Roman" panose="02020603050405020304" pitchFamily="18" charset="0"/>
                        </a:rPr>
                        <a:t>1.0565</a:t>
                      </a:r>
                    </a:p>
                  </a:txBody>
                  <a:tcPr/>
                </a:tc>
                <a:extLst>
                  <a:ext uri="{0D108BD9-81ED-4DB2-BD59-A6C34878D82A}">
                    <a16:rowId xmlns:a16="http://schemas.microsoft.com/office/drawing/2014/main" val="3141218985"/>
                  </a:ext>
                </a:extLst>
              </a:tr>
              <a:tr h="432970">
                <a:tc>
                  <a:txBody>
                    <a:bodyPr/>
                    <a:lstStyle/>
                    <a:p>
                      <a:r>
                        <a:rPr lang="en-US" sz="1600" dirty="0">
                          <a:latin typeface="Times New Roman" panose="02020603050405020304" pitchFamily="18" charset="0"/>
                          <a:cs typeface="Times New Roman" panose="02020603050405020304" pitchFamily="18" charset="0"/>
                        </a:rPr>
                        <a:t>SVR</a:t>
                      </a:r>
                    </a:p>
                  </a:txBody>
                  <a:tcPr/>
                </a:tc>
                <a:tc>
                  <a:txBody>
                    <a:bodyPr/>
                    <a:lstStyle/>
                    <a:p>
                      <a:r>
                        <a:rPr lang="en-US" sz="1600" dirty="0">
                          <a:latin typeface="Times New Roman" panose="02020603050405020304" pitchFamily="18" charset="0"/>
                          <a:cs typeface="Times New Roman" panose="02020603050405020304" pitchFamily="18" charset="0"/>
                        </a:rPr>
                        <a:t>1.2822</a:t>
                      </a:r>
                    </a:p>
                  </a:txBody>
                  <a:tcPr/>
                </a:tc>
                <a:tc>
                  <a:txBody>
                    <a:bodyPr/>
                    <a:lstStyle/>
                    <a:p>
                      <a:r>
                        <a:rPr lang="en-US" sz="1600" dirty="0">
                          <a:latin typeface="Times New Roman" panose="02020603050405020304" pitchFamily="18" charset="0"/>
                          <a:cs typeface="Times New Roman" panose="02020603050405020304" pitchFamily="18" charset="0"/>
                        </a:rPr>
                        <a:t>0.6594</a:t>
                      </a:r>
                    </a:p>
                  </a:txBody>
                  <a:tcPr/>
                </a:tc>
                <a:tc>
                  <a:txBody>
                    <a:bodyPr/>
                    <a:lstStyle/>
                    <a:p>
                      <a:r>
                        <a:rPr lang="en-US" sz="1600" dirty="0">
                          <a:latin typeface="Times New Roman" panose="02020603050405020304" pitchFamily="18" charset="0"/>
                          <a:cs typeface="Times New Roman" panose="02020603050405020304" pitchFamily="18" charset="0"/>
                        </a:rPr>
                        <a:t>1.0893</a:t>
                      </a:r>
                    </a:p>
                  </a:txBody>
                  <a:tcPr/>
                </a:tc>
                <a:tc>
                  <a:txBody>
                    <a:bodyPr/>
                    <a:lstStyle/>
                    <a:p>
                      <a:r>
                        <a:rPr lang="en-US" sz="1600" dirty="0">
                          <a:latin typeface="Times New Roman" panose="02020603050405020304" pitchFamily="18" charset="0"/>
                          <a:cs typeface="Times New Roman" panose="02020603050405020304" pitchFamily="18" charset="0"/>
                        </a:rPr>
                        <a:t>1.0103</a:t>
                      </a:r>
                    </a:p>
                  </a:txBody>
                  <a:tcPr/>
                </a:tc>
                <a:extLst>
                  <a:ext uri="{0D108BD9-81ED-4DB2-BD59-A6C34878D82A}">
                    <a16:rowId xmlns:a16="http://schemas.microsoft.com/office/drawing/2014/main" val="3000329748"/>
                  </a:ext>
                </a:extLst>
              </a:tr>
              <a:tr h="432970">
                <a:tc>
                  <a:txBody>
                    <a:bodyPr/>
                    <a:lstStyle/>
                    <a:p>
                      <a:r>
                        <a:rPr lang="en-US" sz="1600" dirty="0">
                          <a:latin typeface="Times New Roman" panose="02020603050405020304" pitchFamily="18" charset="0"/>
                          <a:cs typeface="Times New Roman" panose="02020603050405020304" pitchFamily="18" charset="0"/>
                        </a:rPr>
                        <a:t>KNN</a:t>
                      </a:r>
                    </a:p>
                  </a:txBody>
                  <a:tcPr/>
                </a:tc>
                <a:tc>
                  <a:txBody>
                    <a:bodyPr/>
                    <a:lstStyle/>
                    <a:p>
                      <a:r>
                        <a:rPr lang="en-US" sz="1600" dirty="0">
                          <a:latin typeface="Times New Roman" panose="02020603050405020304" pitchFamily="18" charset="0"/>
                          <a:cs typeface="Times New Roman" panose="02020603050405020304" pitchFamily="18" charset="0"/>
                        </a:rPr>
                        <a:t>2.0700</a:t>
                      </a:r>
                    </a:p>
                  </a:txBody>
                  <a:tcPr/>
                </a:tc>
                <a:tc>
                  <a:txBody>
                    <a:bodyPr/>
                    <a:lstStyle/>
                    <a:p>
                      <a:r>
                        <a:rPr lang="en-US" sz="1600" dirty="0">
                          <a:latin typeface="Times New Roman" panose="02020603050405020304" pitchFamily="18" charset="0"/>
                          <a:cs typeface="Times New Roman" panose="02020603050405020304" pitchFamily="18" charset="0"/>
                        </a:rPr>
                        <a:t>0.6277</a:t>
                      </a:r>
                    </a:p>
                  </a:txBody>
                  <a:tcPr/>
                </a:tc>
                <a:tc>
                  <a:txBody>
                    <a:bodyPr/>
                    <a:lstStyle/>
                    <a:p>
                      <a:r>
                        <a:rPr lang="en-US" sz="1600" dirty="0">
                          <a:latin typeface="Times New Roman" panose="02020603050405020304" pitchFamily="18" charset="0"/>
                          <a:cs typeface="Times New Roman" panose="02020603050405020304" pitchFamily="18" charset="0"/>
                        </a:rPr>
                        <a:t>1.3855</a:t>
                      </a:r>
                    </a:p>
                  </a:txBody>
                  <a:tcPr/>
                </a:tc>
                <a:tc>
                  <a:txBody>
                    <a:bodyPr/>
                    <a:lstStyle/>
                    <a:p>
                      <a:r>
                        <a:rPr lang="en-US" sz="1600" dirty="0">
                          <a:latin typeface="Times New Roman" panose="02020603050405020304" pitchFamily="18" charset="0"/>
                          <a:cs typeface="Times New Roman" panose="02020603050405020304" pitchFamily="18" charset="0"/>
                        </a:rPr>
                        <a:t>1.3610</a:t>
                      </a:r>
                    </a:p>
                  </a:txBody>
                  <a:tcPr/>
                </a:tc>
                <a:extLst>
                  <a:ext uri="{0D108BD9-81ED-4DB2-BD59-A6C34878D82A}">
                    <a16:rowId xmlns:a16="http://schemas.microsoft.com/office/drawing/2014/main" val="3716761846"/>
                  </a:ext>
                </a:extLst>
              </a:tr>
              <a:tr h="432970">
                <a:tc>
                  <a:txBody>
                    <a:bodyPr/>
                    <a:lstStyle/>
                    <a:p>
                      <a:r>
                        <a:rPr lang="en-US" sz="1600" b="1" dirty="0">
                          <a:latin typeface="Times New Roman" panose="02020603050405020304" pitchFamily="18" charset="0"/>
                          <a:cs typeface="Times New Roman" panose="02020603050405020304" pitchFamily="18" charset="0"/>
                        </a:rPr>
                        <a:t>Ridge</a:t>
                      </a:r>
                    </a:p>
                  </a:txBody>
                  <a:tcPr/>
                </a:tc>
                <a:tc>
                  <a:txBody>
                    <a:bodyPr/>
                    <a:lstStyle/>
                    <a:p>
                      <a:r>
                        <a:rPr lang="en-US" sz="1600" b="1" dirty="0">
                          <a:latin typeface="Times New Roman" panose="02020603050405020304" pitchFamily="18" charset="0"/>
                          <a:cs typeface="Times New Roman" panose="02020603050405020304" pitchFamily="18" charset="0"/>
                        </a:rPr>
                        <a:t>1.3202</a:t>
                      </a:r>
                    </a:p>
                  </a:txBody>
                  <a:tcPr/>
                </a:tc>
                <a:tc>
                  <a:txBody>
                    <a:bodyPr/>
                    <a:lstStyle/>
                    <a:p>
                      <a:r>
                        <a:rPr lang="en-US" sz="1600" b="1" dirty="0">
                          <a:latin typeface="Times New Roman" panose="02020603050405020304" pitchFamily="18" charset="0"/>
                          <a:cs typeface="Times New Roman" panose="02020603050405020304" pitchFamily="18" charset="0"/>
                        </a:rPr>
                        <a:t>0.4728</a:t>
                      </a:r>
                    </a:p>
                  </a:txBody>
                  <a:tcPr/>
                </a:tc>
                <a:tc>
                  <a:txBody>
                    <a:bodyPr/>
                    <a:lstStyle/>
                    <a:p>
                      <a:r>
                        <a:rPr lang="en-US" sz="1600" b="1" dirty="0">
                          <a:latin typeface="Times New Roman" panose="02020603050405020304" pitchFamily="18" charset="0"/>
                          <a:cs typeface="Times New Roman" panose="02020603050405020304" pitchFamily="18" charset="0"/>
                        </a:rPr>
                        <a:t>0.3439</a:t>
                      </a:r>
                    </a:p>
                  </a:txBody>
                  <a:tcPr/>
                </a:tc>
                <a:tc>
                  <a:txBody>
                    <a:bodyPr/>
                    <a:lstStyle/>
                    <a:p>
                      <a:r>
                        <a:rPr lang="en-US" sz="1600" b="1" dirty="0">
                          <a:latin typeface="Times New Roman" panose="02020603050405020304" pitchFamily="18" charset="0"/>
                          <a:cs typeface="Times New Roman" panose="02020603050405020304" pitchFamily="18" charset="0"/>
                        </a:rPr>
                        <a:t>0.7123</a:t>
                      </a:r>
                    </a:p>
                  </a:txBody>
                  <a:tcPr/>
                </a:tc>
                <a:extLst>
                  <a:ext uri="{0D108BD9-81ED-4DB2-BD59-A6C34878D82A}">
                    <a16:rowId xmlns:a16="http://schemas.microsoft.com/office/drawing/2014/main" val="3320099412"/>
                  </a:ext>
                </a:extLst>
              </a:tr>
              <a:tr h="432970">
                <a:tc>
                  <a:txBody>
                    <a:bodyPr/>
                    <a:lstStyle/>
                    <a:p>
                      <a:r>
                        <a:rPr lang="en-US" sz="1600" dirty="0">
                          <a:latin typeface="Times New Roman" panose="02020603050405020304" pitchFamily="18" charset="0"/>
                          <a:cs typeface="Times New Roman" panose="02020603050405020304" pitchFamily="18" charset="0"/>
                        </a:rPr>
                        <a:t>LSTM</a:t>
                      </a:r>
                    </a:p>
                  </a:txBody>
                  <a:tcPr/>
                </a:tc>
                <a:tc>
                  <a:txBody>
                    <a:bodyPr/>
                    <a:lstStyle/>
                    <a:p>
                      <a:r>
                        <a:rPr lang="en-US" sz="1600" dirty="0">
                          <a:latin typeface="Times New Roman" panose="02020603050405020304" pitchFamily="18" charset="0"/>
                          <a:cs typeface="Times New Roman" panose="02020603050405020304" pitchFamily="18" charset="0"/>
                        </a:rPr>
                        <a:t>2.4604</a:t>
                      </a:r>
                    </a:p>
                  </a:txBody>
                  <a:tcPr/>
                </a:tc>
                <a:tc>
                  <a:txBody>
                    <a:bodyPr/>
                    <a:lstStyle/>
                    <a:p>
                      <a:r>
                        <a:rPr lang="en-US" sz="1600" dirty="0">
                          <a:latin typeface="Times New Roman" panose="02020603050405020304" pitchFamily="18" charset="0"/>
                          <a:cs typeface="Times New Roman" panose="02020603050405020304" pitchFamily="18" charset="0"/>
                        </a:rPr>
                        <a:t>0.8897</a:t>
                      </a:r>
                    </a:p>
                  </a:txBody>
                  <a:tcPr/>
                </a:tc>
                <a:tc>
                  <a:txBody>
                    <a:bodyPr/>
                    <a:lstStyle/>
                    <a:p>
                      <a:r>
                        <a:rPr lang="en-US" sz="1600" dirty="0">
                          <a:latin typeface="Times New Roman" panose="02020603050405020304" pitchFamily="18" charset="0"/>
                          <a:cs typeface="Times New Roman" panose="02020603050405020304" pitchFamily="18" charset="0"/>
                        </a:rPr>
                        <a:t>0.8419</a:t>
                      </a:r>
                    </a:p>
                  </a:txBody>
                  <a:tcPr/>
                </a:tc>
                <a:tc>
                  <a:txBody>
                    <a:bodyPr/>
                    <a:lstStyle/>
                    <a:p>
                      <a:r>
                        <a:rPr lang="en-US" sz="1600" dirty="0">
                          <a:latin typeface="Times New Roman" panose="02020603050405020304" pitchFamily="18" charset="0"/>
                          <a:cs typeface="Times New Roman" panose="02020603050405020304" pitchFamily="18" charset="0"/>
                        </a:rPr>
                        <a:t>1.3973</a:t>
                      </a:r>
                    </a:p>
                  </a:txBody>
                  <a:tcPr/>
                </a:tc>
                <a:extLst>
                  <a:ext uri="{0D108BD9-81ED-4DB2-BD59-A6C34878D82A}">
                    <a16:rowId xmlns:a16="http://schemas.microsoft.com/office/drawing/2014/main" val="3311349876"/>
                  </a:ext>
                </a:extLst>
              </a:tr>
              <a:tr h="432970">
                <a:tc>
                  <a:txBody>
                    <a:bodyPr/>
                    <a:lstStyle/>
                    <a:p>
                      <a:r>
                        <a:rPr lang="en-US" sz="1600" dirty="0">
                          <a:latin typeface="Times New Roman" panose="02020603050405020304" pitchFamily="18" charset="0"/>
                          <a:cs typeface="Times New Roman" panose="02020603050405020304" pitchFamily="18" charset="0"/>
                        </a:rPr>
                        <a:t>GRU</a:t>
                      </a:r>
                    </a:p>
                  </a:txBody>
                  <a:tcPr/>
                </a:tc>
                <a:tc>
                  <a:txBody>
                    <a:bodyPr/>
                    <a:lstStyle/>
                    <a:p>
                      <a:r>
                        <a:rPr lang="en-US" sz="1600" dirty="0">
                          <a:latin typeface="Times New Roman" panose="02020603050405020304" pitchFamily="18" charset="0"/>
                          <a:cs typeface="Times New Roman" panose="02020603050405020304" pitchFamily="18" charset="0"/>
                        </a:rPr>
                        <a:t>2.7375</a:t>
                      </a:r>
                    </a:p>
                  </a:txBody>
                  <a:tcPr/>
                </a:tc>
                <a:tc>
                  <a:txBody>
                    <a:bodyPr/>
                    <a:lstStyle/>
                    <a:p>
                      <a:r>
                        <a:rPr lang="en-US" sz="1600" dirty="0">
                          <a:latin typeface="Times New Roman" panose="02020603050405020304" pitchFamily="18" charset="0"/>
                          <a:cs typeface="Times New Roman" panose="02020603050405020304" pitchFamily="18" charset="0"/>
                        </a:rPr>
                        <a:t>0.9458</a:t>
                      </a:r>
                    </a:p>
                  </a:txBody>
                  <a:tcPr/>
                </a:tc>
                <a:tc>
                  <a:txBody>
                    <a:bodyPr/>
                    <a:lstStyle/>
                    <a:p>
                      <a:r>
                        <a:rPr lang="en-US" sz="1600" dirty="0">
                          <a:latin typeface="Times New Roman" panose="02020603050405020304" pitchFamily="18" charset="0"/>
                          <a:cs typeface="Times New Roman" panose="02020603050405020304" pitchFamily="18" charset="0"/>
                        </a:rPr>
                        <a:t>0.9870</a:t>
                      </a:r>
                    </a:p>
                  </a:txBody>
                  <a:tcPr/>
                </a:tc>
                <a:tc>
                  <a:txBody>
                    <a:bodyPr/>
                    <a:lstStyle/>
                    <a:p>
                      <a:r>
                        <a:rPr lang="en-US" sz="1600" dirty="0">
                          <a:latin typeface="Times New Roman" panose="02020603050405020304" pitchFamily="18" charset="0"/>
                          <a:cs typeface="Times New Roman" panose="02020603050405020304" pitchFamily="18" charset="0"/>
                        </a:rPr>
                        <a:t>1.5567</a:t>
                      </a:r>
                    </a:p>
                  </a:txBody>
                  <a:tcPr/>
                </a:tc>
                <a:extLst>
                  <a:ext uri="{0D108BD9-81ED-4DB2-BD59-A6C34878D82A}">
                    <a16:rowId xmlns:a16="http://schemas.microsoft.com/office/drawing/2014/main" val="1579601049"/>
                  </a:ext>
                </a:extLst>
              </a:tr>
              <a:tr h="432970">
                <a:tc>
                  <a:txBody>
                    <a:bodyPr/>
                    <a:lstStyle/>
                    <a:p>
                      <a:r>
                        <a:rPr lang="en-US" sz="1600" dirty="0">
                          <a:latin typeface="Times New Roman" panose="02020603050405020304" pitchFamily="18" charset="0"/>
                          <a:cs typeface="Times New Roman" panose="02020603050405020304" pitchFamily="18" charset="0"/>
                        </a:rPr>
                        <a:t>Transformer</a:t>
                      </a:r>
                    </a:p>
                  </a:txBody>
                  <a:tcPr/>
                </a:tc>
                <a:tc>
                  <a:txBody>
                    <a:bodyPr/>
                    <a:lstStyle/>
                    <a:p>
                      <a:r>
                        <a:rPr lang="en-US" sz="1600" dirty="0">
                          <a:latin typeface="Times New Roman" panose="02020603050405020304" pitchFamily="18" charset="0"/>
                          <a:cs typeface="Times New Roman" panose="02020603050405020304" pitchFamily="18" charset="0"/>
                        </a:rPr>
                        <a:t>3.3023</a:t>
                      </a:r>
                    </a:p>
                  </a:txBody>
                  <a:tcPr/>
                </a:tc>
                <a:tc>
                  <a:txBody>
                    <a:bodyPr/>
                    <a:lstStyle/>
                    <a:p>
                      <a:r>
                        <a:rPr lang="en-US" sz="1600" dirty="0">
                          <a:latin typeface="Times New Roman" panose="02020603050405020304" pitchFamily="18" charset="0"/>
                          <a:cs typeface="Times New Roman" panose="02020603050405020304" pitchFamily="18" charset="0"/>
                        </a:rPr>
                        <a:t>1.5403</a:t>
                      </a:r>
                    </a:p>
                  </a:txBody>
                  <a:tcPr/>
                </a:tc>
                <a:tc>
                  <a:txBody>
                    <a:bodyPr/>
                    <a:lstStyle/>
                    <a:p>
                      <a:r>
                        <a:rPr lang="en-US" sz="1600" dirty="0">
                          <a:latin typeface="Times New Roman" panose="02020603050405020304" pitchFamily="18" charset="0"/>
                          <a:cs typeface="Times New Roman" panose="02020603050405020304" pitchFamily="18" charset="0"/>
                        </a:rPr>
                        <a:t>0.9849</a:t>
                      </a:r>
                    </a:p>
                  </a:txBody>
                  <a:tcPr/>
                </a:tc>
                <a:tc>
                  <a:txBody>
                    <a:bodyPr/>
                    <a:lstStyle/>
                    <a:p>
                      <a:r>
                        <a:rPr lang="en-US" sz="1600" dirty="0">
                          <a:latin typeface="Times New Roman" panose="02020603050405020304" pitchFamily="18" charset="0"/>
                          <a:cs typeface="Times New Roman" panose="02020603050405020304" pitchFamily="18" charset="0"/>
                        </a:rPr>
                        <a:t>1.9425</a:t>
                      </a:r>
                    </a:p>
                  </a:txBody>
                  <a:tcPr/>
                </a:tc>
                <a:extLst>
                  <a:ext uri="{0D108BD9-81ED-4DB2-BD59-A6C34878D82A}">
                    <a16:rowId xmlns:a16="http://schemas.microsoft.com/office/drawing/2014/main" val="2900003143"/>
                  </a:ext>
                </a:extLst>
              </a:tr>
            </a:tbl>
          </a:graphicData>
        </a:graphic>
      </p:graphicFrame>
      <p:sp>
        <p:nvSpPr>
          <p:cNvPr id="9" name="TextBox 8">
            <a:extLst>
              <a:ext uri="{FF2B5EF4-FFF2-40B4-BE49-F238E27FC236}">
                <a16:creationId xmlns:a16="http://schemas.microsoft.com/office/drawing/2014/main" id="{2B1A0F4A-C33B-BE17-7836-4C4E257894AC}"/>
              </a:ext>
            </a:extLst>
          </p:cNvPr>
          <p:cNvSpPr txBox="1"/>
          <p:nvPr/>
        </p:nvSpPr>
        <p:spPr>
          <a:xfrm>
            <a:off x="3505200" y="5638800"/>
            <a:ext cx="5029200"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Table: RMSE result table</a:t>
            </a:r>
          </a:p>
        </p:txBody>
      </p:sp>
    </p:spTree>
    <p:extLst>
      <p:ext uri="{BB962C8B-B14F-4D97-AF65-F5344CB8AC3E}">
        <p14:creationId xmlns:p14="http://schemas.microsoft.com/office/powerpoint/2010/main" val="16595676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831A7-5800-FC8D-F75D-8F42FB4945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05BCCE-AAC4-E10A-9CE7-2EDCC25278AF}"/>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Result and Analysis</a:t>
            </a:r>
            <a:endParaRPr lang="en-US" dirty="0">
              <a:solidFill>
                <a:srgbClr val="7030A0"/>
              </a:solidFill>
            </a:endParaRPr>
          </a:p>
        </p:txBody>
      </p:sp>
      <p:sp>
        <p:nvSpPr>
          <p:cNvPr id="4" name="Slide Number Placeholder 3">
            <a:extLst>
              <a:ext uri="{FF2B5EF4-FFF2-40B4-BE49-F238E27FC236}">
                <a16:creationId xmlns:a16="http://schemas.microsoft.com/office/drawing/2014/main" id="{5438A08E-026F-88E3-DA14-78EACE634005}"/>
              </a:ext>
            </a:extLst>
          </p:cNvPr>
          <p:cNvSpPr>
            <a:spLocks noGrp="1"/>
          </p:cNvSpPr>
          <p:nvPr>
            <p:ph type="sldNum" sz="quarter" idx="16"/>
          </p:nvPr>
        </p:nvSpPr>
        <p:spPr>
          <a:xfrm>
            <a:off x="9347200" y="5989637"/>
            <a:ext cx="2844800" cy="365125"/>
          </a:xfrm>
        </p:spPr>
        <p:txBody>
          <a:bodyPr/>
          <a:lstStyle/>
          <a:p>
            <a:pPr>
              <a:defRPr/>
            </a:pPr>
            <a:fld id="{4CD333A3-7515-47B8-9EDC-EE0892D9C861}" type="slidenum">
              <a:rPr lang="en-US" smtClean="0"/>
              <a:pPr>
                <a:defRPr/>
              </a:pPr>
              <a:t>18</a:t>
            </a:fld>
            <a:endParaRPr lang="en-US" dirty="0"/>
          </a:p>
        </p:txBody>
      </p:sp>
      <p:sp>
        <p:nvSpPr>
          <p:cNvPr id="3" name="TextBox 2">
            <a:extLst>
              <a:ext uri="{FF2B5EF4-FFF2-40B4-BE49-F238E27FC236}">
                <a16:creationId xmlns:a16="http://schemas.microsoft.com/office/drawing/2014/main" id="{556EC492-2209-6AD9-0DA4-060AB501B5D2}"/>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graphicFrame>
        <p:nvGraphicFramePr>
          <p:cNvPr id="8" name="Table 7">
            <a:extLst>
              <a:ext uri="{FF2B5EF4-FFF2-40B4-BE49-F238E27FC236}">
                <a16:creationId xmlns:a16="http://schemas.microsoft.com/office/drawing/2014/main" id="{91CCC361-A176-A5E0-B600-03D40C157044}"/>
              </a:ext>
            </a:extLst>
          </p:cNvPr>
          <p:cNvGraphicFramePr>
            <a:graphicFrameLocks noGrp="1"/>
          </p:cNvGraphicFramePr>
          <p:nvPr>
            <p:extLst>
              <p:ext uri="{D42A27DB-BD31-4B8C-83A1-F6EECF244321}">
                <p14:modId xmlns:p14="http://schemas.microsoft.com/office/powerpoint/2010/main" val="3428842942"/>
              </p:ext>
            </p:extLst>
          </p:nvPr>
        </p:nvGraphicFramePr>
        <p:xfrm>
          <a:off x="2001982" y="1524000"/>
          <a:ext cx="7827819" cy="3962402"/>
        </p:xfrm>
        <a:graphic>
          <a:graphicData uri="http://schemas.openxmlformats.org/drawingml/2006/table">
            <a:tbl>
              <a:tblPr firstRow="1" bandRow="1">
                <a:tableStyleId>{5C22544A-7EE6-4342-B048-85BDC9FD1C3A}</a:tableStyleId>
              </a:tblPr>
              <a:tblGrid>
                <a:gridCol w="1565564">
                  <a:extLst>
                    <a:ext uri="{9D8B030D-6E8A-4147-A177-3AD203B41FA5}">
                      <a16:colId xmlns:a16="http://schemas.microsoft.com/office/drawing/2014/main" val="1422316077"/>
                    </a:ext>
                  </a:extLst>
                </a:gridCol>
                <a:gridCol w="1323274">
                  <a:extLst>
                    <a:ext uri="{9D8B030D-6E8A-4147-A177-3AD203B41FA5}">
                      <a16:colId xmlns:a16="http://schemas.microsoft.com/office/drawing/2014/main" val="532052580"/>
                    </a:ext>
                  </a:extLst>
                </a:gridCol>
                <a:gridCol w="1491014">
                  <a:extLst>
                    <a:ext uri="{9D8B030D-6E8A-4147-A177-3AD203B41FA5}">
                      <a16:colId xmlns:a16="http://schemas.microsoft.com/office/drawing/2014/main" val="3012179778"/>
                    </a:ext>
                  </a:extLst>
                </a:gridCol>
                <a:gridCol w="1538743">
                  <a:extLst>
                    <a:ext uri="{9D8B030D-6E8A-4147-A177-3AD203B41FA5}">
                      <a16:colId xmlns:a16="http://schemas.microsoft.com/office/drawing/2014/main" val="457029736"/>
                    </a:ext>
                  </a:extLst>
                </a:gridCol>
                <a:gridCol w="1909224">
                  <a:extLst>
                    <a:ext uri="{9D8B030D-6E8A-4147-A177-3AD203B41FA5}">
                      <a16:colId xmlns:a16="http://schemas.microsoft.com/office/drawing/2014/main" val="1129084923"/>
                    </a:ext>
                  </a:extLst>
                </a:gridCol>
              </a:tblGrid>
              <a:tr h="682291">
                <a:tc>
                  <a:txBody>
                    <a:bodyPr/>
                    <a:lstStyle/>
                    <a:p>
                      <a:r>
                        <a:rPr lang="en-US" sz="1600" dirty="0">
                          <a:latin typeface="Times New Roman" panose="02020603050405020304" pitchFamily="18" charset="0"/>
                          <a:cs typeface="Times New Roman" panose="02020603050405020304" pitchFamily="18" charset="0"/>
                        </a:rPr>
                        <a:t>Model</a:t>
                      </a:r>
                    </a:p>
                  </a:txBody>
                  <a:tcPr/>
                </a:tc>
                <a:tc>
                  <a:txBody>
                    <a:bodyPr/>
                    <a:lstStyle/>
                    <a:p>
                      <a:r>
                        <a:rPr lang="en-US" sz="1600" dirty="0">
                          <a:latin typeface="Times New Roman" panose="02020603050405020304" pitchFamily="18" charset="0"/>
                          <a:cs typeface="Times New Roman" panose="02020603050405020304" pitchFamily="18" charset="0"/>
                        </a:rPr>
                        <a:t>BRAC BANK</a:t>
                      </a:r>
                    </a:p>
                  </a:txBody>
                  <a:tcPr/>
                </a:tc>
                <a:tc>
                  <a:txBody>
                    <a:bodyPr/>
                    <a:lstStyle/>
                    <a:p>
                      <a:r>
                        <a:rPr lang="en-US" sz="1600" dirty="0">
                          <a:latin typeface="Times New Roman" panose="02020603050405020304" pitchFamily="18" charset="0"/>
                          <a:cs typeface="Times New Roman" panose="02020603050405020304" pitchFamily="18" charset="0"/>
                        </a:rPr>
                        <a:t>CITY BANK</a:t>
                      </a:r>
                    </a:p>
                  </a:txBody>
                  <a:tcPr/>
                </a:tc>
                <a:tc>
                  <a:txBody>
                    <a:bodyPr/>
                    <a:lstStyle/>
                    <a:p>
                      <a:r>
                        <a:rPr lang="en-US" sz="1600" dirty="0">
                          <a:latin typeface="Times New Roman" panose="02020603050405020304" pitchFamily="18" charset="0"/>
                          <a:cs typeface="Times New Roman" panose="02020603050405020304" pitchFamily="18" charset="0"/>
                        </a:rPr>
                        <a:t>EASTERN BANK</a:t>
                      </a:r>
                    </a:p>
                  </a:txBody>
                  <a:tcPr/>
                </a:tc>
                <a:tc>
                  <a:txBody>
                    <a:bodyPr/>
                    <a:lstStyle/>
                    <a:p>
                      <a:r>
                        <a:rPr lang="en-US" sz="1600" dirty="0">
                          <a:latin typeface="Times New Roman" panose="02020603050405020304" pitchFamily="18" charset="0"/>
                          <a:cs typeface="Times New Roman" panose="02020603050405020304" pitchFamily="18" charset="0"/>
                        </a:rPr>
                        <a:t>AVG MAE</a:t>
                      </a:r>
                    </a:p>
                  </a:txBody>
                  <a:tcPr/>
                </a:tc>
                <a:extLst>
                  <a:ext uri="{0D108BD9-81ED-4DB2-BD59-A6C34878D82A}">
                    <a16:rowId xmlns:a16="http://schemas.microsoft.com/office/drawing/2014/main" val="3499967638"/>
                  </a:ext>
                </a:extLst>
              </a:tr>
              <a:tr h="682291">
                <a:tc>
                  <a:txBody>
                    <a:bodyPr/>
                    <a:lstStyle/>
                    <a:p>
                      <a:r>
                        <a:rPr lang="en-US" sz="1600" dirty="0">
                          <a:latin typeface="Times New Roman" panose="02020603050405020304" pitchFamily="18" charset="0"/>
                          <a:cs typeface="Times New Roman" panose="02020603050405020304" pitchFamily="18" charset="0"/>
                        </a:rPr>
                        <a:t>Linear Regression</a:t>
                      </a:r>
                    </a:p>
                  </a:txBody>
                  <a:tcPr/>
                </a:tc>
                <a:tc>
                  <a:txBody>
                    <a:bodyPr/>
                    <a:lstStyle/>
                    <a:p>
                      <a:r>
                        <a:rPr lang="en-US" sz="1600" dirty="0">
                          <a:latin typeface="Times New Roman" panose="02020603050405020304" pitchFamily="18" charset="0"/>
                          <a:cs typeface="Times New Roman" panose="02020603050405020304" pitchFamily="18" charset="0"/>
                        </a:rPr>
                        <a:t>0.8698</a:t>
                      </a:r>
                    </a:p>
                  </a:txBody>
                  <a:tcPr/>
                </a:tc>
                <a:tc>
                  <a:txBody>
                    <a:bodyPr/>
                    <a:lstStyle/>
                    <a:p>
                      <a:r>
                        <a:rPr lang="en-US" sz="1600" dirty="0">
                          <a:latin typeface="Times New Roman" panose="02020603050405020304" pitchFamily="18" charset="0"/>
                          <a:cs typeface="Times New Roman" panose="02020603050405020304" pitchFamily="18" charset="0"/>
                        </a:rPr>
                        <a:t>0.3149</a:t>
                      </a:r>
                    </a:p>
                  </a:txBody>
                  <a:tcPr/>
                </a:tc>
                <a:tc>
                  <a:txBody>
                    <a:bodyPr/>
                    <a:lstStyle/>
                    <a:p>
                      <a:r>
                        <a:rPr lang="en-US" sz="1600" dirty="0">
                          <a:latin typeface="Times New Roman" panose="02020603050405020304" pitchFamily="18" charset="0"/>
                          <a:cs typeface="Times New Roman" panose="02020603050405020304" pitchFamily="18" charset="0"/>
                        </a:rPr>
                        <a:t>0.2301</a:t>
                      </a:r>
                    </a:p>
                  </a:txBody>
                  <a:tcPr/>
                </a:tc>
                <a:tc>
                  <a:txBody>
                    <a:bodyPr/>
                    <a:lstStyle/>
                    <a:p>
                      <a:r>
                        <a:rPr lang="en-US" sz="1600" dirty="0">
                          <a:latin typeface="Times New Roman" panose="02020603050405020304" pitchFamily="18" charset="0"/>
                          <a:cs typeface="Times New Roman" panose="02020603050405020304" pitchFamily="18" charset="0"/>
                        </a:rPr>
                        <a:t>0.4716</a:t>
                      </a:r>
                    </a:p>
                  </a:txBody>
                  <a:tcPr/>
                </a:tc>
                <a:extLst>
                  <a:ext uri="{0D108BD9-81ED-4DB2-BD59-A6C34878D82A}">
                    <a16:rowId xmlns:a16="http://schemas.microsoft.com/office/drawing/2014/main" val="3141218985"/>
                  </a:ext>
                </a:extLst>
              </a:tr>
              <a:tr h="432970">
                <a:tc>
                  <a:txBody>
                    <a:bodyPr/>
                    <a:lstStyle/>
                    <a:p>
                      <a:r>
                        <a:rPr lang="en-US" sz="1600" dirty="0">
                          <a:latin typeface="Times New Roman" panose="02020603050405020304" pitchFamily="18" charset="0"/>
                          <a:cs typeface="Times New Roman" panose="02020603050405020304" pitchFamily="18" charset="0"/>
                        </a:rPr>
                        <a:t>SVR</a:t>
                      </a:r>
                    </a:p>
                  </a:txBody>
                  <a:tcPr/>
                </a:tc>
                <a:tc>
                  <a:txBody>
                    <a:bodyPr/>
                    <a:lstStyle/>
                    <a:p>
                      <a:r>
                        <a:rPr lang="en-US" sz="1600" dirty="0">
                          <a:latin typeface="Times New Roman" panose="02020603050405020304" pitchFamily="18" charset="0"/>
                          <a:cs typeface="Times New Roman" panose="02020603050405020304" pitchFamily="18" charset="0"/>
                        </a:rPr>
                        <a:t>0.8381</a:t>
                      </a:r>
                    </a:p>
                  </a:txBody>
                  <a:tcPr/>
                </a:tc>
                <a:tc>
                  <a:txBody>
                    <a:bodyPr/>
                    <a:lstStyle/>
                    <a:p>
                      <a:r>
                        <a:rPr lang="en-US" sz="1600" dirty="0">
                          <a:latin typeface="Times New Roman" panose="02020603050405020304" pitchFamily="18" charset="0"/>
                          <a:cs typeface="Times New Roman" panose="02020603050405020304" pitchFamily="18" charset="0"/>
                        </a:rPr>
                        <a:t>0.3038</a:t>
                      </a:r>
                    </a:p>
                  </a:txBody>
                  <a:tcPr/>
                </a:tc>
                <a:tc>
                  <a:txBody>
                    <a:bodyPr/>
                    <a:lstStyle/>
                    <a:p>
                      <a:r>
                        <a:rPr lang="en-US" sz="1600" dirty="0">
                          <a:latin typeface="Times New Roman" panose="02020603050405020304" pitchFamily="18" charset="0"/>
                          <a:cs typeface="Times New Roman" panose="02020603050405020304" pitchFamily="18" charset="0"/>
                        </a:rPr>
                        <a:t>0.4765</a:t>
                      </a:r>
                    </a:p>
                  </a:txBody>
                  <a:tcPr/>
                </a:tc>
                <a:tc>
                  <a:txBody>
                    <a:bodyPr/>
                    <a:lstStyle/>
                    <a:p>
                      <a:r>
                        <a:rPr lang="en-US" sz="1600" dirty="0">
                          <a:latin typeface="Times New Roman" panose="02020603050405020304" pitchFamily="18" charset="0"/>
                          <a:cs typeface="Times New Roman" panose="02020603050405020304" pitchFamily="18" charset="0"/>
                        </a:rPr>
                        <a:t>0.5394</a:t>
                      </a:r>
                    </a:p>
                  </a:txBody>
                  <a:tcPr/>
                </a:tc>
                <a:extLst>
                  <a:ext uri="{0D108BD9-81ED-4DB2-BD59-A6C34878D82A}">
                    <a16:rowId xmlns:a16="http://schemas.microsoft.com/office/drawing/2014/main" val="3000329748"/>
                  </a:ext>
                </a:extLst>
              </a:tr>
              <a:tr h="432970">
                <a:tc>
                  <a:txBody>
                    <a:bodyPr/>
                    <a:lstStyle/>
                    <a:p>
                      <a:r>
                        <a:rPr lang="en-US" sz="1600" dirty="0">
                          <a:latin typeface="Times New Roman" panose="02020603050405020304" pitchFamily="18" charset="0"/>
                          <a:cs typeface="Times New Roman" panose="02020603050405020304" pitchFamily="18" charset="0"/>
                        </a:rPr>
                        <a:t>KNN</a:t>
                      </a:r>
                    </a:p>
                  </a:txBody>
                  <a:tcPr/>
                </a:tc>
                <a:tc>
                  <a:txBody>
                    <a:bodyPr/>
                    <a:lstStyle/>
                    <a:p>
                      <a:r>
                        <a:rPr lang="en-US" sz="1600" dirty="0">
                          <a:latin typeface="Times New Roman" panose="02020603050405020304" pitchFamily="18" charset="0"/>
                          <a:cs typeface="Times New Roman" panose="02020603050405020304" pitchFamily="18" charset="0"/>
                        </a:rPr>
                        <a:t>1.4478</a:t>
                      </a:r>
                    </a:p>
                  </a:txBody>
                  <a:tcPr/>
                </a:tc>
                <a:tc>
                  <a:txBody>
                    <a:bodyPr/>
                    <a:lstStyle/>
                    <a:p>
                      <a:r>
                        <a:rPr lang="en-US" sz="1600" dirty="0">
                          <a:latin typeface="Times New Roman" panose="02020603050405020304" pitchFamily="18" charset="0"/>
                          <a:cs typeface="Times New Roman" panose="02020603050405020304" pitchFamily="18" charset="0"/>
                        </a:rPr>
                        <a:t>0.4299</a:t>
                      </a:r>
                    </a:p>
                  </a:txBody>
                  <a:tcPr/>
                </a:tc>
                <a:tc>
                  <a:txBody>
                    <a:bodyPr/>
                    <a:lstStyle/>
                    <a:p>
                      <a:r>
                        <a:rPr lang="en-US" sz="1600" dirty="0">
                          <a:latin typeface="Times New Roman" panose="02020603050405020304" pitchFamily="18" charset="0"/>
                          <a:cs typeface="Times New Roman" panose="02020603050405020304" pitchFamily="18" charset="0"/>
                        </a:rPr>
                        <a:t>1.0121</a:t>
                      </a:r>
                    </a:p>
                  </a:txBody>
                  <a:tcPr/>
                </a:tc>
                <a:tc>
                  <a:txBody>
                    <a:bodyPr/>
                    <a:lstStyle/>
                    <a:p>
                      <a:r>
                        <a:rPr lang="en-US" sz="1600" dirty="0">
                          <a:latin typeface="Times New Roman" panose="02020603050405020304" pitchFamily="18" charset="0"/>
                          <a:cs typeface="Times New Roman" panose="02020603050405020304" pitchFamily="18" charset="0"/>
                        </a:rPr>
                        <a:t>0.9632</a:t>
                      </a:r>
                    </a:p>
                  </a:txBody>
                  <a:tcPr/>
                </a:tc>
                <a:extLst>
                  <a:ext uri="{0D108BD9-81ED-4DB2-BD59-A6C34878D82A}">
                    <a16:rowId xmlns:a16="http://schemas.microsoft.com/office/drawing/2014/main" val="3716761846"/>
                  </a:ext>
                </a:extLst>
              </a:tr>
              <a:tr h="432970">
                <a:tc>
                  <a:txBody>
                    <a:bodyPr/>
                    <a:lstStyle/>
                    <a:p>
                      <a:r>
                        <a:rPr lang="en-US" sz="1600" b="1" dirty="0">
                          <a:latin typeface="Times New Roman" panose="02020603050405020304" pitchFamily="18" charset="0"/>
                          <a:cs typeface="Times New Roman" panose="02020603050405020304" pitchFamily="18" charset="0"/>
                        </a:rPr>
                        <a:t>Ridge</a:t>
                      </a:r>
                    </a:p>
                  </a:txBody>
                  <a:tcPr/>
                </a:tc>
                <a:tc>
                  <a:txBody>
                    <a:bodyPr/>
                    <a:lstStyle/>
                    <a:p>
                      <a:r>
                        <a:rPr lang="en-US" sz="1600" b="1" dirty="0">
                          <a:latin typeface="Times New Roman" panose="02020603050405020304" pitchFamily="18" charset="0"/>
                          <a:cs typeface="Times New Roman" panose="02020603050405020304" pitchFamily="18" charset="0"/>
                        </a:rPr>
                        <a:t>0.8478</a:t>
                      </a:r>
                    </a:p>
                  </a:txBody>
                  <a:tcPr/>
                </a:tc>
                <a:tc>
                  <a:txBody>
                    <a:bodyPr/>
                    <a:lstStyle/>
                    <a:p>
                      <a:r>
                        <a:rPr lang="en-US" sz="1600" b="1" dirty="0">
                          <a:latin typeface="Times New Roman" panose="02020603050405020304" pitchFamily="18" charset="0"/>
                          <a:cs typeface="Times New Roman" panose="02020603050405020304" pitchFamily="18" charset="0"/>
                        </a:rPr>
                        <a:t>0.2775</a:t>
                      </a:r>
                    </a:p>
                  </a:txBody>
                  <a:tcPr/>
                </a:tc>
                <a:tc>
                  <a:txBody>
                    <a:bodyPr/>
                    <a:lstStyle/>
                    <a:p>
                      <a:r>
                        <a:rPr lang="en-US" sz="1600" b="1" dirty="0">
                          <a:latin typeface="Times New Roman" panose="02020603050405020304" pitchFamily="18" charset="0"/>
                          <a:cs typeface="Times New Roman" panose="02020603050405020304" pitchFamily="18" charset="0"/>
                        </a:rPr>
                        <a:t>0.2157</a:t>
                      </a:r>
                    </a:p>
                  </a:txBody>
                  <a:tcPr/>
                </a:tc>
                <a:tc>
                  <a:txBody>
                    <a:bodyPr/>
                    <a:lstStyle/>
                    <a:p>
                      <a:r>
                        <a:rPr lang="en-US" sz="1600" b="1" dirty="0">
                          <a:latin typeface="Times New Roman" panose="02020603050405020304" pitchFamily="18" charset="0"/>
                          <a:cs typeface="Times New Roman" panose="02020603050405020304" pitchFamily="18" charset="0"/>
                        </a:rPr>
                        <a:t>0.447</a:t>
                      </a:r>
                    </a:p>
                  </a:txBody>
                  <a:tcPr/>
                </a:tc>
                <a:extLst>
                  <a:ext uri="{0D108BD9-81ED-4DB2-BD59-A6C34878D82A}">
                    <a16:rowId xmlns:a16="http://schemas.microsoft.com/office/drawing/2014/main" val="3320099412"/>
                  </a:ext>
                </a:extLst>
              </a:tr>
              <a:tr h="432970">
                <a:tc>
                  <a:txBody>
                    <a:bodyPr/>
                    <a:lstStyle/>
                    <a:p>
                      <a:r>
                        <a:rPr lang="en-US" sz="1600" dirty="0">
                          <a:latin typeface="Times New Roman" panose="02020603050405020304" pitchFamily="18" charset="0"/>
                          <a:cs typeface="Times New Roman" panose="02020603050405020304" pitchFamily="18" charset="0"/>
                        </a:rPr>
                        <a:t>LSTM</a:t>
                      </a:r>
                    </a:p>
                  </a:txBody>
                  <a:tcPr/>
                </a:tc>
                <a:tc>
                  <a:txBody>
                    <a:bodyPr/>
                    <a:lstStyle/>
                    <a:p>
                      <a:r>
                        <a:rPr lang="en-US" sz="1600" dirty="0">
                          <a:latin typeface="Times New Roman" panose="02020603050405020304" pitchFamily="18" charset="0"/>
                          <a:cs typeface="Times New Roman" panose="02020603050405020304" pitchFamily="18" charset="0"/>
                        </a:rPr>
                        <a:t>1.7663</a:t>
                      </a:r>
                    </a:p>
                  </a:txBody>
                  <a:tcPr/>
                </a:tc>
                <a:tc>
                  <a:txBody>
                    <a:bodyPr/>
                    <a:lstStyle/>
                    <a:p>
                      <a:r>
                        <a:rPr lang="en-US" sz="1600" dirty="0">
                          <a:latin typeface="Times New Roman" panose="02020603050405020304" pitchFamily="18" charset="0"/>
                          <a:cs typeface="Times New Roman" panose="02020603050405020304" pitchFamily="18" charset="0"/>
                        </a:rPr>
                        <a:t>0.5347</a:t>
                      </a:r>
                    </a:p>
                  </a:txBody>
                  <a:tcPr/>
                </a:tc>
                <a:tc>
                  <a:txBody>
                    <a:bodyPr/>
                    <a:lstStyle/>
                    <a:p>
                      <a:r>
                        <a:rPr lang="en-US" sz="1600" dirty="0">
                          <a:latin typeface="Times New Roman" panose="02020603050405020304" pitchFamily="18" charset="0"/>
                          <a:cs typeface="Times New Roman" panose="02020603050405020304" pitchFamily="18" charset="0"/>
                        </a:rPr>
                        <a:t>0.6033</a:t>
                      </a:r>
                    </a:p>
                  </a:txBody>
                  <a:tcPr/>
                </a:tc>
                <a:tc>
                  <a:txBody>
                    <a:bodyPr/>
                    <a:lstStyle/>
                    <a:p>
                      <a:r>
                        <a:rPr lang="en-US" sz="1600" dirty="0">
                          <a:latin typeface="Times New Roman" panose="02020603050405020304" pitchFamily="18" charset="0"/>
                          <a:cs typeface="Times New Roman" panose="02020603050405020304" pitchFamily="18" charset="0"/>
                        </a:rPr>
                        <a:t>0.9681</a:t>
                      </a:r>
                    </a:p>
                  </a:txBody>
                  <a:tcPr/>
                </a:tc>
                <a:extLst>
                  <a:ext uri="{0D108BD9-81ED-4DB2-BD59-A6C34878D82A}">
                    <a16:rowId xmlns:a16="http://schemas.microsoft.com/office/drawing/2014/main" val="3311349876"/>
                  </a:ext>
                </a:extLst>
              </a:tr>
              <a:tr h="432970">
                <a:tc>
                  <a:txBody>
                    <a:bodyPr/>
                    <a:lstStyle/>
                    <a:p>
                      <a:r>
                        <a:rPr lang="en-US" sz="1600" dirty="0">
                          <a:latin typeface="Times New Roman" panose="02020603050405020304" pitchFamily="18" charset="0"/>
                          <a:cs typeface="Times New Roman" panose="02020603050405020304" pitchFamily="18" charset="0"/>
                        </a:rPr>
                        <a:t>GRU</a:t>
                      </a:r>
                    </a:p>
                  </a:txBody>
                  <a:tcPr/>
                </a:tc>
                <a:tc>
                  <a:txBody>
                    <a:bodyPr/>
                    <a:lstStyle/>
                    <a:p>
                      <a:r>
                        <a:rPr lang="en-US" sz="1600" dirty="0">
                          <a:latin typeface="Times New Roman" panose="02020603050405020304" pitchFamily="18" charset="0"/>
                          <a:cs typeface="Times New Roman" panose="02020603050405020304" pitchFamily="18" charset="0"/>
                        </a:rPr>
                        <a:t>1.6761</a:t>
                      </a:r>
                    </a:p>
                  </a:txBody>
                  <a:tcPr/>
                </a:tc>
                <a:tc>
                  <a:txBody>
                    <a:bodyPr/>
                    <a:lstStyle/>
                    <a:p>
                      <a:r>
                        <a:rPr lang="en-US" sz="1600" dirty="0">
                          <a:latin typeface="Times New Roman" panose="02020603050405020304" pitchFamily="18" charset="0"/>
                          <a:cs typeface="Times New Roman" panose="02020603050405020304" pitchFamily="18" charset="0"/>
                        </a:rPr>
                        <a:t>0.5617</a:t>
                      </a:r>
                    </a:p>
                  </a:txBody>
                  <a:tcPr/>
                </a:tc>
                <a:tc>
                  <a:txBody>
                    <a:bodyPr/>
                    <a:lstStyle/>
                    <a:p>
                      <a:r>
                        <a:rPr lang="en-US" sz="1600" dirty="0">
                          <a:latin typeface="Times New Roman" panose="02020603050405020304" pitchFamily="18" charset="0"/>
                          <a:cs typeface="Times New Roman" panose="02020603050405020304" pitchFamily="18" charset="0"/>
                        </a:rPr>
                        <a:t>0.7646</a:t>
                      </a:r>
                    </a:p>
                  </a:txBody>
                  <a:tcPr/>
                </a:tc>
                <a:tc>
                  <a:txBody>
                    <a:bodyPr/>
                    <a:lstStyle/>
                    <a:p>
                      <a:r>
                        <a:rPr lang="en-US" sz="1600" dirty="0">
                          <a:latin typeface="Times New Roman" panose="02020603050405020304" pitchFamily="18" charset="0"/>
                          <a:cs typeface="Times New Roman" panose="02020603050405020304" pitchFamily="18" charset="0"/>
                        </a:rPr>
                        <a:t>1.0008</a:t>
                      </a:r>
                    </a:p>
                  </a:txBody>
                  <a:tcPr/>
                </a:tc>
                <a:extLst>
                  <a:ext uri="{0D108BD9-81ED-4DB2-BD59-A6C34878D82A}">
                    <a16:rowId xmlns:a16="http://schemas.microsoft.com/office/drawing/2014/main" val="1579601049"/>
                  </a:ext>
                </a:extLst>
              </a:tr>
              <a:tr h="432970">
                <a:tc>
                  <a:txBody>
                    <a:bodyPr/>
                    <a:lstStyle/>
                    <a:p>
                      <a:r>
                        <a:rPr lang="en-US" sz="1600" dirty="0">
                          <a:latin typeface="Times New Roman" panose="02020603050405020304" pitchFamily="18" charset="0"/>
                          <a:cs typeface="Times New Roman" panose="02020603050405020304" pitchFamily="18" charset="0"/>
                        </a:rPr>
                        <a:t>Transformer</a:t>
                      </a:r>
                    </a:p>
                  </a:txBody>
                  <a:tcPr/>
                </a:tc>
                <a:tc>
                  <a:txBody>
                    <a:bodyPr/>
                    <a:lstStyle/>
                    <a:p>
                      <a:r>
                        <a:rPr lang="en-US" sz="1600" dirty="0">
                          <a:latin typeface="Times New Roman" panose="02020603050405020304" pitchFamily="18" charset="0"/>
                          <a:cs typeface="Times New Roman" panose="02020603050405020304" pitchFamily="18" charset="0"/>
                        </a:rPr>
                        <a:t>2.5510</a:t>
                      </a:r>
                    </a:p>
                  </a:txBody>
                  <a:tcPr/>
                </a:tc>
                <a:tc>
                  <a:txBody>
                    <a:bodyPr/>
                    <a:lstStyle/>
                    <a:p>
                      <a:r>
                        <a:rPr lang="en-US" sz="1600" dirty="0">
                          <a:latin typeface="Times New Roman" panose="02020603050405020304" pitchFamily="18" charset="0"/>
                          <a:cs typeface="Times New Roman" panose="02020603050405020304" pitchFamily="18" charset="0"/>
                        </a:rPr>
                        <a:t>1.0373</a:t>
                      </a:r>
                    </a:p>
                  </a:txBody>
                  <a:tcPr/>
                </a:tc>
                <a:tc>
                  <a:txBody>
                    <a:bodyPr/>
                    <a:lstStyle/>
                    <a:p>
                      <a:r>
                        <a:rPr lang="en-US" sz="1600" dirty="0">
                          <a:latin typeface="Times New Roman" panose="02020603050405020304" pitchFamily="18" charset="0"/>
                          <a:cs typeface="Times New Roman" panose="02020603050405020304" pitchFamily="18" charset="0"/>
                        </a:rPr>
                        <a:t>0.7447</a:t>
                      </a:r>
                    </a:p>
                  </a:txBody>
                  <a:tcPr/>
                </a:tc>
                <a:tc>
                  <a:txBody>
                    <a:bodyPr/>
                    <a:lstStyle/>
                    <a:p>
                      <a:r>
                        <a:rPr lang="en-US" sz="1600" dirty="0">
                          <a:latin typeface="Times New Roman" panose="02020603050405020304" pitchFamily="18" charset="0"/>
                          <a:cs typeface="Times New Roman" panose="02020603050405020304" pitchFamily="18" charset="0"/>
                        </a:rPr>
                        <a:t>1.4443</a:t>
                      </a:r>
                    </a:p>
                  </a:txBody>
                  <a:tcPr/>
                </a:tc>
                <a:extLst>
                  <a:ext uri="{0D108BD9-81ED-4DB2-BD59-A6C34878D82A}">
                    <a16:rowId xmlns:a16="http://schemas.microsoft.com/office/drawing/2014/main" val="2900003143"/>
                  </a:ext>
                </a:extLst>
              </a:tr>
            </a:tbl>
          </a:graphicData>
        </a:graphic>
      </p:graphicFrame>
      <p:sp>
        <p:nvSpPr>
          <p:cNvPr id="9" name="TextBox 8">
            <a:extLst>
              <a:ext uri="{FF2B5EF4-FFF2-40B4-BE49-F238E27FC236}">
                <a16:creationId xmlns:a16="http://schemas.microsoft.com/office/drawing/2014/main" id="{2FB56D73-EB9B-7CE0-263F-42F942EFDC82}"/>
              </a:ext>
            </a:extLst>
          </p:cNvPr>
          <p:cNvSpPr txBox="1"/>
          <p:nvPr/>
        </p:nvSpPr>
        <p:spPr>
          <a:xfrm>
            <a:off x="3505200" y="5638800"/>
            <a:ext cx="5029200"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Table: MAE result table</a:t>
            </a:r>
          </a:p>
        </p:txBody>
      </p:sp>
    </p:spTree>
    <p:extLst>
      <p:ext uri="{BB962C8B-B14F-4D97-AF65-F5344CB8AC3E}">
        <p14:creationId xmlns:p14="http://schemas.microsoft.com/office/powerpoint/2010/main" val="37215454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19151-EE65-F867-548A-B5254C265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6EC504-1BCF-FA96-37EA-488F9CF51DFA}"/>
              </a:ext>
            </a:extLst>
          </p:cNvPr>
          <p:cNvSpPr>
            <a:spLocks noGrp="1"/>
          </p:cNvSpPr>
          <p:nvPr>
            <p:ph type="title"/>
          </p:nvPr>
        </p:nvSpPr>
        <p:spPr>
          <a:xfrm>
            <a:off x="1981200" y="274638"/>
            <a:ext cx="8229600" cy="868362"/>
          </a:xfrm>
        </p:spPr>
        <p:txBody>
          <a:bodyPr>
            <a:normAutofit/>
          </a:bodyPr>
          <a:lstStyle/>
          <a:p>
            <a:r>
              <a:rPr lang="en-US" dirty="0">
                <a:solidFill>
                  <a:srgbClr val="7030A0"/>
                </a:solidFill>
                <a:latin typeface="Times New Roman" pitchFamily="18" charset="0"/>
                <a:cs typeface="Times New Roman" pitchFamily="18" charset="0"/>
              </a:rPr>
              <a:t>BRAC BANK</a:t>
            </a:r>
            <a:endParaRPr lang="en-US" dirty="0">
              <a:solidFill>
                <a:srgbClr val="7030A0"/>
              </a:solidFill>
            </a:endParaRPr>
          </a:p>
        </p:txBody>
      </p:sp>
      <p:sp>
        <p:nvSpPr>
          <p:cNvPr id="4" name="Slide Number Placeholder 3">
            <a:extLst>
              <a:ext uri="{FF2B5EF4-FFF2-40B4-BE49-F238E27FC236}">
                <a16:creationId xmlns:a16="http://schemas.microsoft.com/office/drawing/2014/main" id="{8C1A6456-7733-64E4-CE7E-587E40E8F8DC}"/>
              </a:ext>
            </a:extLst>
          </p:cNvPr>
          <p:cNvSpPr>
            <a:spLocks noGrp="1"/>
          </p:cNvSpPr>
          <p:nvPr>
            <p:ph type="sldNum" sz="quarter" idx="16"/>
          </p:nvPr>
        </p:nvSpPr>
        <p:spPr>
          <a:xfrm>
            <a:off x="9347200" y="6017676"/>
            <a:ext cx="2844800" cy="365125"/>
          </a:xfrm>
        </p:spPr>
        <p:txBody>
          <a:bodyPr/>
          <a:lstStyle/>
          <a:p>
            <a:pPr>
              <a:defRPr/>
            </a:pPr>
            <a:fld id="{4CD333A3-7515-47B8-9EDC-EE0892D9C861}" type="slidenum">
              <a:rPr lang="en-US" smtClean="0"/>
              <a:pPr>
                <a:defRPr/>
              </a:pPr>
              <a:t>19</a:t>
            </a:fld>
            <a:endParaRPr lang="en-US" dirty="0"/>
          </a:p>
        </p:txBody>
      </p:sp>
      <p:sp>
        <p:nvSpPr>
          <p:cNvPr id="5" name="TextBox 4">
            <a:extLst>
              <a:ext uri="{FF2B5EF4-FFF2-40B4-BE49-F238E27FC236}">
                <a16:creationId xmlns:a16="http://schemas.microsoft.com/office/drawing/2014/main" id="{F6B14FC1-F67E-8203-7D5B-416E642361A4}"/>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pic>
        <p:nvPicPr>
          <p:cNvPr id="6" name="Picture 5">
            <a:extLst>
              <a:ext uri="{FF2B5EF4-FFF2-40B4-BE49-F238E27FC236}">
                <a16:creationId xmlns:a16="http://schemas.microsoft.com/office/drawing/2014/main" id="{C2995EFB-3EA8-6E84-8310-89E5081B97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64823" y="1143000"/>
            <a:ext cx="6248400" cy="2465483"/>
          </a:xfrm>
          <a:prstGeom prst="rect">
            <a:avLst/>
          </a:prstGeom>
        </p:spPr>
      </p:pic>
      <p:pic>
        <p:nvPicPr>
          <p:cNvPr id="9" name="Picture 8">
            <a:extLst>
              <a:ext uri="{FF2B5EF4-FFF2-40B4-BE49-F238E27FC236}">
                <a16:creationId xmlns:a16="http://schemas.microsoft.com/office/drawing/2014/main" id="{028B1B4C-24D7-F4AB-A440-6903496E77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36152" y="3780654"/>
            <a:ext cx="6105741" cy="2409193"/>
          </a:xfrm>
          <a:prstGeom prst="rect">
            <a:avLst/>
          </a:prstGeom>
        </p:spPr>
      </p:pic>
    </p:spTree>
    <p:extLst>
      <p:ext uri="{BB962C8B-B14F-4D97-AF65-F5344CB8AC3E}">
        <p14:creationId xmlns:p14="http://schemas.microsoft.com/office/powerpoint/2010/main" val="38645028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59E7EA-E600-46A9-C34F-FD3536D45A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FDF98A-73D3-7586-64A4-F664F1BE62AB}"/>
              </a:ext>
            </a:extLst>
          </p:cNvPr>
          <p:cNvSpPr>
            <a:spLocks noGrp="1"/>
          </p:cNvSpPr>
          <p:nvPr>
            <p:ph type="title"/>
          </p:nvPr>
        </p:nvSpPr>
        <p:spPr>
          <a:xfrm>
            <a:off x="1981200" y="274638"/>
            <a:ext cx="8229600" cy="868362"/>
          </a:xfrm>
        </p:spPr>
        <p:txBody>
          <a:bodyPr>
            <a:normAutofit/>
          </a:bodyPr>
          <a:lstStyle/>
          <a:p>
            <a:r>
              <a:rPr lang="en-US" dirty="0">
                <a:solidFill>
                  <a:srgbClr val="7030A0"/>
                </a:solidFill>
                <a:latin typeface="Times New Roman" pitchFamily="18" charset="0"/>
                <a:cs typeface="Times New Roman" pitchFamily="18" charset="0"/>
              </a:rPr>
              <a:t>CITY BANK</a:t>
            </a:r>
            <a:endParaRPr lang="en-US" dirty="0">
              <a:solidFill>
                <a:srgbClr val="7030A0"/>
              </a:solidFill>
            </a:endParaRPr>
          </a:p>
        </p:txBody>
      </p:sp>
      <p:sp>
        <p:nvSpPr>
          <p:cNvPr id="4" name="Slide Number Placeholder 3">
            <a:extLst>
              <a:ext uri="{FF2B5EF4-FFF2-40B4-BE49-F238E27FC236}">
                <a16:creationId xmlns:a16="http://schemas.microsoft.com/office/drawing/2014/main" id="{061DB2C5-DDF3-B604-7324-982E9123CB26}"/>
              </a:ext>
            </a:extLst>
          </p:cNvPr>
          <p:cNvSpPr>
            <a:spLocks noGrp="1"/>
          </p:cNvSpPr>
          <p:nvPr>
            <p:ph type="sldNum" sz="quarter" idx="16"/>
          </p:nvPr>
        </p:nvSpPr>
        <p:spPr>
          <a:xfrm>
            <a:off x="9347200" y="6017676"/>
            <a:ext cx="2844800" cy="365125"/>
          </a:xfrm>
        </p:spPr>
        <p:txBody>
          <a:bodyPr/>
          <a:lstStyle/>
          <a:p>
            <a:pPr>
              <a:defRPr/>
            </a:pPr>
            <a:fld id="{4CD333A3-7515-47B8-9EDC-EE0892D9C861}" type="slidenum">
              <a:rPr lang="en-US" smtClean="0"/>
              <a:pPr>
                <a:defRPr/>
              </a:pPr>
              <a:t>20</a:t>
            </a:fld>
            <a:endParaRPr lang="en-US" dirty="0"/>
          </a:p>
        </p:txBody>
      </p:sp>
      <p:sp>
        <p:nvSpPr>
          <p:cNvPr id="5" name="TextBox 4">
            <a:extLst>
              <a:ext uri="{FF2B5EF4-FFF2-40B4-BE49-F238E27FC236}">
                <a16:creationId xmlns:a16="http://schemas.microsoft.com/office/drawing/2014/main" id="{4D30F753-C248-A8CB-A3AB-94F9ABC2BBF7}"/>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pic>
        <p:nvPicPr>
          <p:cNvPr id="6" name="Picture 5">
            <a:extLst>
              <a:ext uri="{FF2B5EF4-FFF2-40B4-BE49-F238E27FC236}">
                <a16:creationId xmlns:a16="http://schemas.microsoft.com/office/drawing/2014/main" id="{D4CA4776-4477-C7C3-409A-C9A933C0296A}"/>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564823" y="1144236"/>
            <a:ext cx="6248400" cy="2463010"/>
          </a:xfrm>
          <a:prstGeom prst="rect">
            <a:avLst/>
          </a:prstGeom>
        </p:spPr>
      </p:pic>
      <p:pic>
        <p:nvPicPr>
          <p:cNvPr id="9" name="Picture 8">
            <a:extLst>
              <a:ext uri="{FF2B5EF4-FFF2-40B4-BE49-F238E27FC236}">
                <a16:creationId xmlns:a16="http://schemas.microsoft.com/office/drawing/2014/main" id="{8A734F10-3994-592F-A3ED-D02FC3A91A9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636152" y="3780654"/>
            <a:ext cx="6105741" cy="2409192"/>
          </a:xfrm>
          <a:prstGeom prst="rect">
            <a:avLst/>
          </a:prstGeom>
        </p:spPr>
      </p:pic>
    </p:spTree>
    <p:extLst>
      <p:ext uri="{BB962C8B-B14F-4D97-AF65-F5344CB8AC3E}">
        <p14:creationId xmlns:p14="http://schemas.microsoft.com/office/powerpoint/2010/main" val="10838774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F178D-E32E-6E00-7509-BFD8567CB6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0F0BC9-CD83-52CB-EA33-8BCE78AD1781}"/>
              </a:ext>
            </a:extLst>
          </p:cNvPr>
          <p:cNvSpPr>
            <a:spLocks noGrp="1"/>
          </p:cNvSpPr>
          <p:nvPr>
            <p:ph type="title"/>
          </p:nvPr>
        </p:nvSpPr>
        <p:spPr>
          <a:xfrm>
            <a:off x="1981200" y="274638"/>
            <a:ext cx="8229600" cy="868362"/>
          </a:xfrm>
        </p:spPr>
        <p:txBody>
          <a:bodyPr>
            <a:normAutofit/>
          </a:bodyPr>
          <a:lstStyle/>
          <a:p>
            <a:r>
              <a:rPr lang="en-US" dirty="0">
                <a:solidFill>
                  <a:srgbClr val="7030A0"/>
                </a:solidFill>
                <a:latin typeface="Times New Roman" pitchFamily="18" charset="0"/>
                <a:cs typeface="Times New Roman" pitchFamily="18" charset="0"/>
              </a:rPr>
              <a:t>EASTERN BANK</a:t>
            </a:r>
            <a:endParaRPr lang="en-US" dirty="0">
              <a:solidFill>
                <a:srgbClr val="7030A0"/>
              </a:solidFill>
            </a:endParaRPr>
          </a:p>
        </p:txBody>
      </p:sp>
      <p:sp>
        <p:nvSpPr>
          <p:cNvPr id="4" name="Slide Number Placeholder 3">
            <a:extLst>
              <a:ext uri="{FF2B5EF4-FFF2-40B4-BE49-F238E27FC236}">
                <a16:creationId xmlns:a16="http://schemas.microsoft.com/office/drawing/2014/main" id="{79606E6E-6C0E-D8CA-A90A-DF8F17D398B7}"/>
              </a:ext>
            </a:extLst>
          </p:cNvPr>
          <p:cNvSpPr>
            <a:spLocks noGrp="1"/>
          </p:cNvSpPr>
          <p:nvPr>
            <p:ph type="sldNum" sz="quarter" idx="16"/>
          </p:nvPr>
        </p:nvSpPr>
        <p:spPr>
          <a:xfrm>
            <a:off x="9347200" y="6017676"/>
            <a:ext cx="2844800" cy="365125"/>
          </a:xfrm>
        </p:spPr>
        <p:txBody>
          <a:bodyPr/>
          <a:lstStyle/>
          <a:p>
            <a:pPr>
              <a:defRPr/>
            </a:pPr>
            <a:fld id="{4CD333A3-7515-47B8-9EDC-EE0892D9C861}" type="slidenum">
              <a:rPr lang="en-US" smtClean="0"/>
              <a:pPr>
                <a:defRPr/>
              </a:pPr>
              <a:t>21</a:t>
            </a:fld>
            <a:endParaRPr lang="en-US" dirty="0"/>
          </a:p>
        </p:txBody>
      </p:sp>
      <p:sp>
        <p:nvSpPr>
          <p:cNvPr id="5" name="TextBox 4">
            <a:extLst>
              <a:ext uri="{FF2B5EF4-FFF2-40B4-BE49-F238E27FC236}">
                <a16:creationId xmlns:a16="http://schemas.microsoft.com/office/drawing/2014/main" id="{C757C057-E80C-D12E-5FF8-7AD33EEFD470}"/>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pic>
        <p:nvPicPr>
          <p:cNvPr id="6" name="Picture 5">
            <a:extLst>
              <a:ext uri="{FF2B5EF4-FFF2-40B4-BE49-F238E27FC236}">
                <a16:creationId xmlns:a16="http://schemas.microsoft.com/office/drawing/2014/main" id="{999DE553-7CDE-550A-E20B-87D9477F977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564823" y="1143000"/>
            <a:ext cx="6248399" cy="2465483"/>
          </a:xfrm>
          <a:prstGeom prst="rect">
            <a:avLst/>
          </a:prstGeom>
        </p:spPr>
      </p:pic>
      <p:pic>
        <p:nvPicPr>
          <p:cNvPr id="9" name="Picture 8">
            <a:extLst>
              <a:ext uri="{FF2B5EF4-FFF2-40B4-BE49-F238E27FC236}">
                <a16:creationId xmlns:a16="http://schemas.microsoft.com/office/drawing/2014/main" id="{6C54F167-BFBB-544E-5E3F-4E369306441F}"/>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636152" y="3780654"/>
            <a:ext cx="6105741" cy="2409192"/>
          </a:xfrm>
          <a:prstGeom prst="rect">
            <a:avLst/>
          </a:prstGeom>
        </p:spPr>
      </p:pic>
    </p:spTree>
    <p:extLst>
      <p:ext uri="{BB962C8B-B14F-4D97-AF65-F5344CB8AC3E}">
        <p14:creationId xmlns:p14="http://schemas.microsoft.com/office/powerpoint/2010/main" val="36383971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A2A34-910C-52FB-12A8-FA252DB358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EBF819-FC53-5253-B9E2-DE1A0CDFA8C9}"/>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Novelty of the Work</a:t>
            </a:r>
          </a:p>
        </p:txBody>
      </p:sp>
      <p:sp>
        <p:nvSpPr>
          <p:cNvPr id="4" name="Slide Number Placeholder 3">
            <a:extLst>
              <a:ext uri="{FF2B5EF4-FFF2-40B4-BE49-F238E27FC236}">
                <a16:creationId xmlns:a16="http://schemas.microsoft.com/office/drawing/2014/main" id="{1E154D71-E901-049B-93F8-CAD5BC299B06}"/>
              </a:ext>
            </a:extLst>
          </p:cNvPr>
          <p:cNvSpPr>
            <a:spLocks noGrp="1"/>
          </p:cNvSpPr>
          <p:nvPr>
            <p:ph type="sldNum" sz="quarter" idx="16"/>
          </p:nvPr>
        </p:nvSpPr>
        <p:spPr>
          <a:xfrm>
            <a:off x="9347200" y="5959475"/>
            <a:ext cx="2844800" cy="365125"/>
          </a:xfrm>
        </p:spPr>
        <p:txBody>
          <a:bodyPr/>
          <a:lstStyle/>
          <a:p>
            <a:pPr>
              <a:defRPr/>
            </a:pPr>
            <a:fld id="{4CD333A3-7515-47B8-9EDC-EE0892D9C861}" type="slidenum">
              <a:rPr lang="en-US" smtClean="0"/>
              <a:pPr>
                <a:defRPr/>
              </a:pPr>
              <a:t>22</a:t>
            </a:fld>
            <a:endParaRPr lang="en-US" dirty="0"/>
          </a:p>
        </p:txBody>
      </p:sp>
      <p:sp>
        <p:nvSpPr>
          <p:cNvPr id="3" name="TextBox 2">
            <a:extLst>
              <a:ext uri="{FF2B5EF4-FFF2-40B4-BE49-F238E27FC236}">
                <a16:creationId xmlns:a16="http://schemas.microsoft.com/office/drawing/2014/main" id="{BD882494-1CF7-C6C6-FB3F-1E5CF30DAEEF}"/>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7" name="Content Placeholder 6">
            <a:extLst>
              <a:ext uri="{FF2B5EF4-FFF2-40B4-BE49-F238E27FC236}">
                <a16:creationId xmlns:a16="http://schemas.microsoft.com/office/drawing/2014/main" id="{DDCE6682-3813-3F08-9462-F98CAA2F1DBF}"/>
              </a:ext>
            </a:extLst>
          </p:cNvPr>
          <p:cNvSpPr>
            <a:spLocks noGrp="1"/>
          </p:cNvSpPr>
          <p:nvPr>
            <p:ph sz="quarter" idx="13"/>
          </p:nvPr>
        </p:nvSpPr>
        <p:spPr/>
        <p:txBody>
          <a:bodyPr/>
          <a:lstStyle/>
          <a:p>
            <a:pPr algn="just"/>
            <a:r>
              <a:rPr lang="en-US" dirty="0">
                <a:solidFill>
                  <a:schemeClr val="tx1"/>
                </a:solidFill>
                <a:latin typeface="Times New Roman" panose="02020603050405020304" pitchFamily="18" charset="0"/>
                <a:cs typeface="Times New Roman" panose="02020603050405020304" pitchFamily="18" charset="0"/>
              </a:rPr>
              <a:t>Unified Pipeline Across Multiple Banks.</a:t>
            </a:r>
          </a:p>
          <a:p>
            <a:pPr algn="just"/>
            <a:r>
              <a:rPr lang="en-US" dirty="0">
                <a:solidFill>
                  <a:schemeClr val="tx1"/>
                </a:solidFill>
                <a:latin typeface="Times New Roman" panose="02020603050405020304" pitchFamily="18" charset="0"/>
                <a:cs typeface="Times New Roman" panose="02020603050405020304" pitchFamily="18" charset="0"/>
              </a:rPr>
              <a:t>ML vs DL under feature-Engineered conditions.</a:t>
            </a:r>
          </a:p>
          <a:p>
            <a:pPr algn="just"/>
            <a:r>
              <a:rPr lang="en-US" dirty="0">
                <a:solidFill>
                  <a:schemeClr val="tx1"/>
                </a:solidFill>
                <a:latin typeface="Times New Roman" panose="02020603050405020304" pitchFamily="18" charset="0"/>
                <a:cs typeface="Times New Roman" panose="02020603050405020304" pitchFamily="18" charset="0"/>
              </a:rPr>
              <a:t>Consistency-based Evaluation across datasets.</a:t>
            </a:r>
          </a:p>
          <a:p>
            <a:pPr marL="0" indent="0">
              <a:buNone/>
            </a:pPr>
            <a:endParaRPr lang="en-US" dirty="0"/>
          </a:p>
        </p:txBody>
      </p:sp>
    </p:spTree>
    <p:extLst>
      <p:ext uri="{BB962C8B-B14F-4D97-AF65-F5344CB8AC3E}">
        <p14:creationId xmlns:p14="http://schemas.microsoft.com/office/powerpoint/2010/main" val="9202743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DED34C-F2CE-1904-46F5-88AEBCFDCB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68F151-7ED2-C606-99FB-D15E7A10395B}"/>
              </a:ext>
            </a:extLst>
          </p:cNvPr>
          <p:cNvSpPr>
            <a:spLocks noGrp="1"/>
          </p:cNvSpPr>
          <p:nvPr>
            <p:ph type="title"/>
          </p:nvPr>
        </p:nvSpPr>
        <p:spPr>
          <a:xfrm>
            <a:off x="1371600" y="350838"/>
            <a:ext cx="9448800" cy="868362"/>
          </a:xfrm>
        </p:spPr>
        <p:txBody>
          <a:bodyPr>
            <a:normAutofit/>
          </a:bodyPr>
          <a:lstStyle/>
          <a:p>
            <a:r>
              <a:rPr lang="en-US" dirty="0">
                <a:solidFill>
                  <a:srgbClr val="7030A0"/>
                </a:solidFill>
                <a:latin typeface="Times New Roman" panose="02020603050405020304" pitchFamily="18" charset="0"/>
                <a:cs typeface="Times New Roman" pitchFamily="18" charset="0"/>
              </a:rPr>
              <a:t>Sample dataset</a:t>
            </a:r>
          </a:p>
        </p:txBody>
      </p:sp>
      <p:sp>
        <p:nvSpPr>
          <p:cNvPr id="4" name="Slide Number Placeholder 3">
            <a:extLst>
              <a:ext uri="{FF2B5EF4-FFF2-40B4-BE49-F238E27FC236}">
                <a16:creationId xmlns:a16="http://schemas.microsoft.com/office/drawing/2014/main" id="{1411460F-2BC7-EBFF-8ED1-489F5E220AB5}"/>
              </a:ext>
            </a:extLst>
          </p:cNvPr>
          <p:cNvSpPr>
            <a:spLocks noGrp="1"/>
          </p:cNvSpPr>
          <p:nvPr>
            <p:ph type="sldNum" sz="quarter" idx="16"/>
          </p:nvPr>
        </p:nvSpPr>
        <p:spPr>
          <a:xfrm>
            <a:off x="9341104" y="6019800"/>
            <a:ext cx="2844800" cy="365125"/>
          </a:xfrm>
        </p:spPr>
        <p:txBody>
          <a:bodyPr/>
          <a:lstStyle/>
          <a:p>
            <a:pPr>
              <a:defRPr/>
            </a:pPr>
            <a:fld id="{4CD333A3-7515-47B8-9EDC-EE0892D9C861}" type="slidenum">
              <a:rPr lang="en-US" smtClean="0">
                <a:latin typeface="Times New Roman" panose="02020603050405020304" pitchFamily="18" charset="0"/>
                <a:cs typeface="Times New Roman" panose="02020603050405020304" pitchFamily="18" charset="0"/>
              </a:rPr>
              <a:pPr>
                <a:defRPr/>
              </a:pPr>
              <a:t>23</a:t>
            </a:fld>
            <a:endParaRPr lang="en-US"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F501D11-526D-F3D4-2D04-828C5DF8BC5F}"/>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latin typeface="Times New Roman" panose="02020603050405020304" pitchFamily="18" charset="0"/>
                <a:cs typeface="Times New Roman" panose="02020603050405020304" pitchFamily="18" charset="0"/>
              </a:rPr>
              <a:t>B.Sc. Final-Defense</a:t>
            </a:r>
          </a:p>
        </p:txBody>
      </p:sp>
      <p:pic>
        <p:nvPicPr>
          <p:cNvPr id="6" name="Picture 5">
            <a:extLst>
              <a:ext uri="{FF2B5EF4-FFF2-40B4-BE49-F238E27FC236}">
                <a16:creationId xmlns:a16="http://schemas.microsoft.com/office/drawing/2014/main" id="{C3B1C947-DFE8-9E2E-F5D8-E0B17C4F5F39}"/>
              </a:ext>
            </a:extLst>
          </p:cNvPr>
          <p:cNvPicPr>
            <a:picLocks noChangeAspect="1"/>
          </p:cNvPicPr>
          <p:nvPr/>
        </p:nvPicPr>
        <p:blipFill>
          <a:blip r:embed="rId2">
            <a:extLst>
              <a:ext uri="{28A0092B-C50C-407E-A947-70E740481C1C}">
                <a14:useLocalDpi xmlns:a14="http://schemas.microsoft.com/office/drawing/2010/main" val="0"/>
              </a:ext>
            </a:extLst>
          </a:blip>
          <a:srcRect b="21396"/>
          <a:stretch>
            <a:fillRect/>
          </a:stretch>
        </p:blipFill>
        <p:spPr>
          <a:xfrm>
            <a:off x="2895600" y="1264061"/>
            <a:ext cx="8983329" cy="1819598"/>
          </a:xfrm>
          <a:prstGeom prst="rect">
            <a:avLst/>
          </a:prstGeom>
        </p:spPr>
      </p:pic>
      <p:sp>
        <p:nvSpPr>
          <p:cNvPr id="7" name="TextBox 6">
            <a:extLst>
              <a:ext uri="{FF2B5EF4-FFF2-40B4-BE49-F238E27FC236}">
                <a16:creationId xmlns:a16="http://schemas.microsoft.com/office/drawing/2014/main" id="{E8305A5F-8A47-E2F9-3645-446AB81C2127}"/>
              </a:ext>
            </a:extLst>
          </p:cNvPr>
          <p:cNvSpPr txBox="1"/>
          <p:nvPr/>
        </p:nvSpPr>
        <p:spPr>
          <a:xfrm>
            <a:off x="381000" y="1847165"/>
            <a:ext cx="2209800" cy="646331"/>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Before Feature Engineering</a:t>
            </a:r>
          </a:p>
        </p:txBody>
      </p:sp>
      <p:pic>
        <p:nvPicPr>
          <p:cNvPr id="9" name="Picture 8">
            <a:extLst>
              <a:ext uri="{FF2B5EF4-FFF2-40B4-BE49-F238E27FC236}">
                <a16:creationId xmlns:a16="http://schemas.microsoft.com/office/drawing/2014/main" id="{80746173-495F-CD65-6097-F7036DEFA8C6}"/>
              </a:ext>
            </a:extLst>
          </p:cNvPr>
          <p:cNvPicPr>
            <a:picLocks noChangeAspect="1"/>
          </p:cNvPicPr>
          <p:nvPr/>
        </p:nvPicPr>
        <p:blipFill>
          <a:blip r:embed="rId3">
            <a:extLst>
              <a:ext uri="{28A0092B-C50C-407E-A947-70E740481C1C}">
                <a14:useLocalDpi xmlns:a14="http://schemas.microsoft.com/office/drawing/2010/main" val="0"/>
              </a:ext>
            </a:extLst>
          </a:blip>
          <a:srcRect b="20785"/>
          <a:stretch>
            <a:fillRect/>
          </a:stretch>
        </p:blipFill>
        <p:spPr>
          <a:xfrm>
            <a:off x="533400" y="4557192"/>
            <a:ext cx="11456588" cy="1274296"/>
          </a:xfrm>
          <a:prstGeom prst="rect">
            <a:avLst/>
          </a:prstGeom>
        </p:spPr>
      </p:pic>
      <p:sp>
        <p:nvSpPr>
          <p:cNvPr id="10" name="TextBox 9">
            <a:extLst>
              <a:ext uri="{FF2B5EF4-FFF2-40B4-BE49-F238E27FC236}">
                <a16:creationId xmlns:a16="http://schemas.microsoft.com/office/drawing/2014/main" id="{CAB52403-6174-E828-AAED-21714A0363FB}"/>
              </a:ext>
            </a:extLst>
          </p:cNvPr>
          <p:cNvSpPr txBox="1"/>
          <p:nvPr/>
        </p:nvSpPr>
        <p:spPr>
          <a:xfrm>
            <a:off x="3581400" y="3800955"/>
            <a:ext cx="4419600"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After Feature Engineering</a:t>
            </a:r>
          </a:p>
        </p:txBody>
      </p:sp>
    </p:spTree>
    <p:extLst>
      <p:ext uri="{BB962C8B-B14F-4D97-AF65-F5344CB8AC3E}">
        <p14:creationId xmlns:p14="http://schemas.microsoft.com/office/powerpoint/2010/main" val="41929273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Conclusion</a:t>
            </a:r>
            <a:endParaRPr lang="en-US" dirty="0">
              <a:solidFill>
                <a:srgbClr val="7030A0"/>
              </a:solidFill>
            </a:endParaRPr>
          </a:p>
        </p:txBody>
      </p:sp>
      <p:sp>
        <p:nvSpPr>
          <p:cNvPr id="4" name="Slide Number Placeholder 3"/>
          <p:cNvSpPr>
            <a:spLocks noGrp="1"/>
          </p:cNvSpPr>
          <p:nvPr>
            <p:ph type="sldNum" sz="quarter" idx="16"/>
          </p:nvPr>
        </p:nvSpPr>
        <p:spPr>
          <a:xfrm>
            <a:off x="9347200" y="5959475"/>
            <a:ext cx="2844800" cy="365125"/>
          </a:xfrm>
        </p:spPr>
        <p:txBody>
          <a:bodyPr/>
          <a:lstStyle/>
          <a:p>
            <a:pPr>
              <a:defRPr/>
            </a:pPr>
            <a:fld id="{4CD333A3-7515-47B8-9EDC-EE0892D9C861}" type="slidenum">
              <a:rPr lang="en-US" smtClean="0"/>
              <a:pPr>
                <a:defRPr/>
              </a:pPr>
              <a:t>24</a:t>
            </a:fld>
            <a:endParaRPr lang="en-US" dirty="0"/>
          </a:p>
        </p:txBody>
      </p:sp>
      <p:sp>
        <p:nvSpPr>
          <p:cNvPr id="5" name="TextBox 4">
            <a:extLst>
              <a:ext uri="{FF2B5EF4-FFF2-40B4-BE49-F238E27FC236}">
                <a16:creationId xmlns:a16="http://schemas.microsoft.com/office/drawing/2014/main" id="{19B37B8D-F57A-2BA3-3A76-E3DD8C73097F}"/>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7" name="Content Placeholder 6">
            <a:extLst>
              <a:ext uri="{FF2B5EF4-FFF2-40B4-BE49-F238E27FC236}">
                <a16:creationId xmlns:a16="http://schemas.microsoft.com/office/drawing/2014/main" id="{038A4C9B-8EEA-66B6-2B9C-48C7663EA67D}"/>
              </a:ext>
            </a:extLst>
          </p:cNvPr>
          <p:cNvSpPr>
            <a:spLocks noGrp="1"/>
          </p:cNvSpPr>
          <p:nvPr>
            <p:ph sz="quarter" idx="13"/>
          </p:nvPr>
        </p:nvSpPr>
        <p:spPr/>
        <p:txBody>
          <a:bodyPr>
            <a:normAutofit fontScale="85000" lnSpcReduction="10000"/>
          </a:bodyPr>
          <a:lstStyle/>
          <a:p>
            <a:pPr algn="just"/>
            <a:r>
              <a:rPr lang="en-US" dirty="0">
                <a:solidFill>
                  <a:schemeClr val="tx1"/>
                </a:solidFill>
                <a:latin typeface="Times New Roman" panose="02020603050405020304" pitchFamily="18" charset="0"/>
                <a:cs typeface="Times New Roman" panose="02020603050405020304" pitchFamily="18" charset="0"/>
              </a:rPr>
              <a:t>The findings indicate that effective feature engineering can significantly improve prediction performance and reduce the dependency on complex deep learning architectures. Although deep learning models are capable of capturing temporal patterns, simpler machine learning models performed better under the engineered feature conditions used in this study.</a:t>
            </a:r>
          </a:p>
          <a:p>
            <a:pPr algn="just"/>
            <a:r>
              <a:rPr lang="en-US" dirty="0">
                <a:solidFill>
                  <a:schemeClr val="tx1"/>
                </a:solidFill>
                <a:latin typeface="Times New Roman" panose="02020603050405020304" pitchFamily="18" charset="0"/>
                <a:cs typeface="Times New Roman" panose="02020603050405020304" pitchFamily="18" charset="0"/>
              </a:rPr>
              <a:t>Overall, this research highlights the importance of model consistency, fair comparative evaluation, and feature engineering in financial time-series forecasting. The proposed framework can serve as a useful reference for future research and decision-support applications in the banking and financial sectors.</a:t>
            </a:r>
          </a:p>
          <a:p>
            <a:endParaRPr lang="en-US" dirty="0"/>
          </a:p>
        </p:txBody>
      </p:sp>
    </p:spTree>
    <p:extLst>
      <p:ext uri="{BB962C8B-B14F-4D97-AF65-F5344CB8AC3E}">
        <p14:creationId xmlns:p14="http://schemas.microsoft.com/office/powerpoint/2010/main" val="28737059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BAAE9-3B4C-FCEC-50FC-12FB4062A6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01CA16-AE0D-D369-FE42-59C7313CB16E}"/>
              </a:ext>
            </a:extLst>
          </p:cNvPr>
          <p:cNvSpPr>
            <a:spLocks noGrp="1"/>
          </p:cNvSpPr>
          <p:nvPr>
            <p:ph type="title"/>
          </p:nvPr>
        </p:nvSpPr>
        <p:spPr>
          <a:xfrm>
            <a:off x="1981200" y="274638"/>
            <a:ext cx="8229600" cy="868362"/>
          </a:xfrm>
        </p:spPr>
        <p:txBody>
          <a:bodyPr/>
          <a:lstStyle/>
          <a:p>
            <a:r>
              <a:rPr lang="en-US" dirty="0">
                <a:solidFill>
                  <a:srgbClr val="7030A0"/>
                </a:solidFill>
                <a:latin typeface="Times New Roman" pitchFamily="18" charset="0"/>
                <a:cs typeface="Times New Roman" pitchFamily="18" charset="0"/>
              </a:rPr>
              <a:t>References</a:t>
            </a:r>
            <a:endParaRPr lang="en-US" dirty="0">
              <a:solidFill>
                <a:srgbClr val="7030A0"/>
              </a:solidFill>
            </a:endParaRPr>
          </a:p>
        </p:txBody>
      </p:sp>
      <p:sp>
        <p:nvSpPr>
          <p:cNvPr id="4" name="Slide Number Placeholder 3">
            <a:extLst>
              <a:ext uri="{FF2B5EF4-FFF2-40B4-BE49-F238E27FC236}">
                <a16:creationId xmlns:a16="http://schemas.microsoft.com/office/drawing/2014/main" id="{F97097F1-FADA-324C-E90E-73FFCAEF9034}"/>
              </a:ext>
            </a:extLst>
          </p:cNvPr>
          <p:cNvSpPr>
            <a:spLocks noGrp="1"/>
          </p:cNvSpPr>
          <p:nvPr>
            <p:ph type="sldNum" sz="quarter" idx="16"/>
          </p:nvPr>
        </p:nvSpPr>
        <p:spPr>
          <a:xfrm>
            <a:off x="9347200" y="5959475"/>
            <a:ext cx="2844800" cy="365125"/>
          </a:xfrm>
        </p:spPr>
        <p:txBody>
          <a:bodyPr/>
          <a:lstStyle/>
          <a:p>
            <a:pPr>
              <a:defRPr/>
            </a:pPr>
            <a:fld id="{4CD333A3-7515-47B8-9EDC-EE0892D9C861}" type="slidenum">
              <a:rPr lang="en-US" smtClean="0"/>
              <a:pPr>
                <a:defRPr/>
              </a:pPr>
              <a:t>25</a:t>
            </a:fld>
            <a:endParaRPr lang="en-US" dirty="0"/>
          </a:p>
        </p:txBody>
      </p:sp>
      <p:sp>
        <p:nvSpPr>
          <p:cNvPr id="5" name="TextBox 4">
            <a:extLst>
              <a:ext uri="{FF2B5EF4-FFF2-40B4-BE49-F238E27FC236}">
                <a16:creationId xmlns:a16="http://schemas.microsoft.com/office/drawing/2014/main" id="{908FB2A1-531C-6EF4-8574-EB5912211BF6}"/>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7" name="Content Placeholder 6">
            <a:extLst>
              <a:ext uri="{FF2B5EF4-FFF2-40B4-BE49-F238E27FC236}">
                <a16:creationId xmlns:a16="http://schemas.microsoft.com/office/drawing/2014/main" id="{49839620-3768-DA55-81BF-FA09A9183AD7}"/>
              </a:ext>
            </a:extLst>
          </p:cNvPr>
          <p:cNvSpPr>
            <a:spLocks noGrp="1"/>
          </p:cNvSpPr>
          <p:nvPr>
            <p:ph sz="quarter" idx="13"/>
          </p:nvPr>
        </p:nvSpPr>
        <p:spPr>
          <a:xfrm>
            <a:off x="609600" y="1676399"/>
            <a:ext cx="10972800" cy="4195207"/>
          </a:xfrm>
        </p:spPr>
        <p:txBody>
          <a:bodyPr>
            <a:normAutofit fontScale="70000" lnSpcReduction="20000"/>
          </a:bodyPr>
          <a:lstStyle/>
          <a:p>
            <a:pPr marL="0" indent="0" algn="just">
              <a:buNone/>
            </a:pPr>
            <a:r>
              <a:rPr lang="en-US" sz="2400" dirty="0">
                <a:solidFill>
                  <a:schemeClr val="tx1"/>
                </a:solidFill>
                <a:latin typeface="Times New Roman" panose="02020603050405020304" pitchFamily="18" charset="0"/>
                <a:cs typeface="Times New Roman" panose="02020603050405020304" pitchFamily="18" charset="0"/>
              </a:rPr>
              <a:t>[1] S. Zaheer et al., “A multi-parameter forecasting for stock time series data using LSTM and deep learning model,” Mathematics, vol. 11, no. 3, p. 590, 2023. </a:t>
            </a:r>
          </a:p>
          <a:p>
            <a:pPr marL="0" indent="0" algn="just">
              <a:buNone/>
            </a:pPr>
            <a:endParaRPr lang="en-US" sz="2400"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sz="2400" dirty="0">
                <a:solidFill>
                  <a:schemeClr val="tx1"/>
                </a:solidFill>
                <a:latin typeface="Times New Roman" panose="02020603050405020304" pitchFamily="18" charset="0"/>
                <a:cs typeface="Times New Roman" panose="02020603050405020304" pitchFamily="18" charset="0"/>
              </a:rPr>
              <a:t>[2] Z. Lin, “Comparative study of LSTM and transformer for A-share stock price prediction,” in Atlantis Highlights in Intelligent Systems, Dordrecht: Atlantis Press International BV, 2023, pp. 72–82. </a:t>
            </a:r>
          </a:p>
          <a:p>
            <a:pPr marL="0" indent="0" algn="just">
              <a:buNone/>
            </a:pPr>
            <a:endParaRPr lang="en-US" sz="2400"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sz="2400" dirty="0">
                <a:solidFill>
                  <a:schemeClr val="tx1"/>
                </a:solidFill>
                <a:latin typeface="Times New Roman" panose="02020603050405020304" pitchFamily="18" charset="0"/>
                <a:cs typeface="Times New Roman" panose="02020603050405020304" pitchFamily="18" charset="0"/>
              </a:rPr>
              <a:t>[3] C. </a:t>
            </a:r>
            <a:r>
              <a:rPr lang="en-US" sz="2400" dirty="0" err="1">
                <a:solidFill>
                  <a:schemeClr val="tx1"/>
                </a:solidFill>
                <a:latin typeface="Times New Roman" panose="02020603050405020304" pitchFamily="18" charset="0"/>
                <a:cs typeface="Times New Roman" panose="02020603050405020304" pitchFamily="18" charset="0"/>
              </a:rPr>
              <a:t>Fjellström</a:t>
            </a:r>
            <a:r>
              <a:rPr lang="en-US" sz="2400" dirty="0">
                <a:solidFill>
                  <a:schemeClr val="tx1"/>
                </a:solidFill>
                <a:latin typeface="Times New Roman" panose="02020603050405020304" pitchFamily="18" charset="0"/>
                <a:cs typeface="Times New Roman" panose="02020603050405020304" pitchFamily="18" charset="0"/>
              </a:rPr>
              <a:t>, “Long short-term memory neural network for financial time series,” </a:t>
            </a:r>
            <a:r>
              <a:rPr lang="en-US" sz="2400" dirty="0" err="1">
                <a:solidFill>
                  <a:schemeClr val="tx1"/>
                </a:solidFill>
                <a:latin typeface="Times New Roman" panose="02020603050405020304" pitchFamily="18" charset="0"/>
                <a:cs typeface="Times New Roman" panose="02020603050405020304" pitchFamily="18" charset="0"/>
              </a:rPr>
              <a:t>arXiv</a:t>
            </a:r>
            <a:r>
              <a:rPr lang="en-US" sz="2400" dirty="0">
                <a:solidFill>
                  <a:schemeClr val="tx1"/>
                </a:solidFill>
                <a:latin typeface="Times New Roman" panose="02020603050405020304" pitchFamily="18" charset="0"/>
                <a:cs typeface="Times New Roman" panose="02020603050405020304" pitchFamily="18" charset="0"/>
              </a:rPr>
              <a:t> [q-fin.ST], 2022. </a:t>
            </a:r>
          </a:p>
          <a:p>
            <a:pPr marL="0" indent="0" algn="just">
              <a:buNone/>
            </a:pPr>
            <a:endParaRPr lang="en-US" sz="2400"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sz="2400" dirty="0">
                <a:solidFill>
                  <a:schemeClr val="tx1"/>
                </a:solidFill>
                <a:latin typeface="Times New Roman" panose="02020603050405020304" pitchFamily="18" charset="0"/>
                <a:cs typeface="Times New Roman" panose="02020603050405020304" pitchFamily="18" charset="0"/>
              </a:rPr>
              <a:t>[4] H. </a:t>
            </a:r>
            <a:r>
              <a:rPr lang="en-US" sz="2400" dirty="0" err="1">
                <a:solidFill>
                  <a:schemeClr val="tx1"/>
                </a:solidFill>
                <a:latin typeface="Times New Roman" panose="02020603050405020304" pitchFamily="18" charset="0"/>
                <a:cs typeface="Times New Roman" panose="02020603050405020304" pitchFamily="18" charset="0"/>
              </a:rPr>
              <a:t>Widiputra</a:t>
            </a:r>
            <a:r>
              <a:rPr lang="en-US" sz="2400" dirty="0">
                <a:solidFill>
                  <a:schemeClr val="tx1"/>
                </a:solidFill>
                <a:latin typeface="Times New Roman" panose="02020603050405020304" pitchFamily="18" charset="0"/>
                <a:cs typeface="Times New Roman" panose="02020603050405020304" pitchFamily="18" charset="0"/>
              </a:rPr>
              <a:t> and E. Juwono, “Parallel multivariate deep learning models for timeseries prediction: A comparative analysis in Asian stock markets,” IAES Int. J. </a:t>
            </a:r>
            <a:r>
              <a:rPr lang="en-US" sz="2400" dirty="0" err="1">
                <a:solidFill>
                  <a:schemeClr val="tx1"/>
                </a:solidFill>
                <a:latin typeface="Times New Roman" panose="02020603050405020304" pitchFamily="18" charset="0"/>
                <a:cs typeface="Times New Roman" panose="02020603050405020304" pitchFamily="18" charset="0"/>
              </a:rPr>
              <a:t>Artif</a:t>
            </a:r>
            <a:r>
              <a:rPr lang="en-US" sz="2400" dirty="0">
                <a:solidFill>
                  <a:schemeClr val="tx1"/>
                </a:solidFill>
                <a:latin typeface="Times New Roman" panose="02020603050405020304" pitchFamily="18" charset="0"/>
                <a:cs typeface="Times New Roman" panose="02020603050405020304" pitchFamily="18" charset="0"/>
              </a:rPr>
              <a:t>. Intell. (IJ-AI), vol. 13, no. 1, p. 475, 2024.</a:t>
            </a:r>
          </a:p>
          <a:p>
            <a:pPr marL="0" indent="0" algn="just">
              <a:buNone/>
            </a:pPr>
            <a:endParaRPr lang="en-US" sz="2400"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sz="2400" dirty="0">
                <a:solidFill>
                  <a:schemeClr val="tx1"/>
                </a:solidFill>
                <a:latin typeface="Times New Roman" panose="02020603050405020304" pitchFamily="18" charset="0"/>
                <a:cs typeface="Times New Roman" panose="02020603050405020304" pitchFamily="18" charset="0"/>
              </a:rPr>
              <a:t> [5] B. Pashshoev and D. A. </a:t>
            </a:r>
            <a:r>
              <a:rPr lang="en-US" sz="2400" dirty="0" err="1">
                <a:solidFill>
                  <a:schemeClr val="tx1"/>
                </a:solidFill>
                <a:latin typeface="Times New Roman" panose="02020603050405020304" pitchFamily="18" charset="0"/>
                <a:cs typeface="Times New Roman" panose="02020603050405020304" pitchFamily="18" charset="0"/>
              </a:rPr>
              <a:t>Petrusevich</a:t>
            </a:r>
            <a:r>
              <a:rPr lang="en-US" sz="2400" dirty="0">
                <a:solidFill>
                  <a:schemeClr val="tx1"/>
                </a:solidFill>
                <a:latin typeface="Times New Roman" panose="02020603050405020304" pitchFamily="18" charset="0"/>
                <a:cs typeface="Times New Roman" panose="02020603050405020304" pitchFamily="18" charset="0"/>
              </a:rPr>
              <a:t>, “Neural network analysis in time series forecasting,” </a:t>
            </a:r>
            <a:r>
              <a:rPr lang="en-US" sz="2400" dirty="0" err="1">
                <a:solidFill>
                  <a:schemeClr val="tx1"/>
                </a:solidFill>
                <a:latin typeface="Times New Roman" panose="02020603050405020304" pitchFamily="18" charset="0"/>
                <a:cs typeface="Times New Roman" panose="02020603050405020304" pitchFamily="18" charset="0"/>
              </a:rPr>
              <a:t>Rossijskij</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tehnologičeskij</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žurnal</a:t>
            </a:r>
            <a:r>
              <a:rPr lang="en-US" sz="2400" dirty="0">
                <a:solidFill>
                  <a:schemeClr val="tx1"/>
                </a:solidFill>
                <a:latin typeface="Times New Roman" panose="02020603050405020304" pitchFamily="18" charset="0"/>
                <a:cs typeface="Times New Roman" panose="02020603050405020304" pitchFamily="18" charset="0"/>
              </a:rPr>
              <a:t>, vol. 12, no. 4, pp. 106–116, 2024. </a:t>
            </a:r>
          </a:p>
          <a:p>
            <a:pPr marL="0" indent="0" algn="just">
              <a:buNone/>
            </a:pPr>
            <a:endParaRPr lang="en-US" sz="2400"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sz="2400" dirty="0">
                <a:solidFill>
                  <a:schemeClr val="tx1"/>
                </a:solidFill>
                <a:latin typeface="Times New Roman" panose="02020603050405020304" pitchFamily="18" charset="0"/>
                <a:cs typeface="Times New Roman" panose="02020603050405020304" pitchFamily="18" charset="0"/>
              </a:rPr>
              <a:t>[6] G. Velarde, P. </a:t>
            </a:r>
            <a:r>
              <a:rPr lang="en-US" sz="2400" dirty="0" err="1">
                <a:solidFill>
                  <a:schemeClr val="tx1"/>
                </a:solidFill>
                <a:latin typeface="Times New Roman" panose="02020603050405020304" pitchFamily="18" charset="0"/>
                <a:cs typeface="Times New Roman" panose="02020603050405020304" pitchFamily="18" charset="0"/>
              </a:rPr>
              <a:t>Brañez</a:t>
            </a:r>
            <a:r>
              <a:rPr lang="en-US" sz="2400" dirty="0">
                <a:solidFill>
                  <a:schemeClr val="tx1"/>
                </a:solidFill>
                <a:latin typeface="Times New Roman" panose="02020603050405020304" pitchFamily="18" charset="0"/>
                <a:cs typeface="Times New Roman" panose="02020603050405020304" pitchFamily="18" charset="0"/>
              </a:rPr>
              <a:t>, A. Bueno, R. Heredia, and M. Lopez-Ledezma, “An open source and reproducible implementation of LSTM and GRU networks for time series forecasting,” in The 8th International Conference on Time Series and Forecasting, 2022, vol. 323, p. 30. </a:t>
            </a:r>
          </a:p>
        </p:txBody>
      </p:sp>
    </p:spTree>
    <p:extLst>
      <p:ext uri="{BB962C8B-B14F-4D97-AF65-F5344CB8AC3E}">
        <p14:creationId xmlns:p14="http://schemas.microsoft.com/office/powerpoint/2010/main" val="19054695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DD944-E056-CAAD-0BED-910EBFF4CE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51AE58-D633-8140-392B-54B238D5CA78}"/>
              </a:ext>
            </a:extLst>
          </p:cNvPr>
          <p:cNvSpPr>
            <a:spLocks noGrp="1"/>
          </p:cNvSpPr>
          <p:nvPr>
            <p:ph type="title"/>
          </p:nvPr>
        </p:nvSpPr>
        <p:spPr>
          <a:xfrm>
            <a:off x="1981200" y="99219"/>
            <a:ext cx="8229600" cy="868362"/>
          </a:xfrm>
        </p:spPr>
        <p:txBody>
          <a:bodyPr/>
          <a:lstStyle/>
          <a:p>
            <a:r>
              <a:rPr lang="en-US" dirty="0">
                <a:solidFill>
                  <a:srgbClr val="7030A0"/>
                </a:solidFill>
                <a:latin typeface="Times New Roman" pitchFamily="18" charset="0"/>
                <a:cs typeface="Times New Roman" pitchFamily="18" charset="0"/>
              </a:rPr>
              <a:t>References</a:t>
            </a:r>
            <a:endParaRPr lang="en-US" dirty="0">
              <a:solidFill>
                <a:srgbClr val="7030A0"/>
              </a:solidFill>
            </a:endParaRPr>
          </a:p>
        </p:txBody>
      </p:sp>
      <p:sp>
        <p:nvSpPr>
          <p:cNvPr id="4" name="Slide Number Placeholder 3">
            <a:extLst>
              <a:ext uri="{FF2B5EF4-FFF2-40B4-BE49-F238E27FC236}">
                <a16:creationId xmlns:a16="http://schemas.microsoft.com/office/drawing/2014/main" id="{33C70E99-0A05-A3C2-3BDF-BF084EBFCA07}"/>
              </a:ext>
            </a:extLst>
          </p:cNvPr>
          <p:cNvSpPr>
            <a:spLocks noGrp="1"/>
          </p:cNvSpPr>
          <p:nvPr>
            <p:ph type="sldNum" sz="quarter" idx="16"/>
          </p:nvPr>
        </p:nvSpPr>
        <p:spPr>
          <a:xfrm>
            <a:off x="9347200" y="5959475"/>
            <a:ext cx="2844800" cy="365125"/>
          </a:xfrm>
        </p:spPr>
        <p:txBody>
          <a:bodyPr/>
          <a:lstStyle/>
          <a:p>
            <a:pPr>
              <a:defRPr/>
            </a:pPr>
            <a:fld id="{4CD333A3-7515-47B8-9EDC-EE0892D9C861}" type="slidenum">
              <a:rPr lang="en-US" smtClean="0"/>
              <a:pPr>
                <a:defRPr/>
              </a:pPr>
              <a:t>26</a:t>
            </a:fld>
            <a:endParaRPr lang="en-US" dirty="0"/>
          </a:p>
        </p:txBody>
      </p:sp>
      <p:sp>
        <p:nvSpPr>
          <p:cNvPr id="5" name="TextBox 4">
            <a:extLst>
              <a:ext uri="{FF2B5EF4-FFF2-40B4-BE49-F238E27FC236}">
                <a16:creationId xmlns:a16="http://schemas.microsoft.com/office/drawing/2014/main" id="{E53E409B-3F93-429C-A742-C8D673AF8485}"/>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7" name="Content Placeholder 6">
            <a:extLst>
              <a:ext uri="{FF2B5EF4-FFF2-40B4-BE49-F238E27FC236}">
                <a16:creationId xmlns:a16="http://schemas.microsoft.com/office/drawing/2014/main" id="{950A64BA-0718-AAB1-7ADE-857CC4E1AD2F}"/>
              </a:ext>
            </a:extLst>
          </p:cNvPr>
          <p:cNvSpPr>
            <a:spLocks noGrp="1"/>
          </p:cNvSpPr>
          <p:nvPr>
            <p:ph sz="quarter" idx="13"/>
          </p:nvPr>
        </p:nvSpPr>
        <p:spPr>
          <a:xfrm>
            <a:off x="457200" y="884237"/>
            <a:ext cx="11049000" cy="5334001"/>
          </a:xfrm>
        </p:spPr>
        <p:txBody>
          <a:bodyPr>
            <a:noAutofit/>
          </a:bodyPr>
          <a:lstStyle/>
          <a:p>
            <a:pPr marL="0" indent="0" algn="just">
              <a:buNone/>
            </a:pPr>
            <a:r>
              <a:rPr lang="en-US" sz="1600" dirty="0">
                <a:solidFill>
                  <a:schemeClr val="tx1"/>
                </a:solidFill>
                <a:latin typeface="Times New Roman" panose="02020603050405020304" pitchFamily="18" charset="0"/>
                <a:cs typeface="Times New Roman" panose="02020603050405020304" pitchFamily="18" charset="0"/>
              </a:rPr>
              <a:t>[7] T. Shi and K. Shide, “A comparative analysis of LSTM, GRU, and Transformer models for construction cost prediction with multidimensional feature integration,” J. Asian Archit. Build. Eng., vol. 25, no. 1, pp. 634–649, 2026. </a:t>
            </a:r>
          </a:p>
          <a:p>
            <a:pPr marL="0" indent="0" algn="just">
              <a:buNone/>
            </a:pPr>
            <a:endParaRPr lang="en-US" sz="1600"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sz="1600" dirty="0">
                <a:solidFill>
                  <a:schemeClr val="tx1"/>
                </a:solidFill>
                <a:latin typeface="Times New Roman" panose="02020603050405020304" pitchFamily="18" charset="0"/>
                <a:cs typeface="Times New Roman" panose="02020603050405020304" pitchFamily="18" charset="0"/>
              </a:rPr>
              <a:t>[8] M. A. B. Jeet, R. M. Haque, M. A. I. Sayem, A. Arman, and R. M. Rahman, “Using deep learning models and </a:t>
            </a:r>
            <a:r>
              <a:rPr lang="en-US" sz="1600" dirty="0" err="1">
                <a:solidFill>
                  <a:schemeClr val="tx1"/>
                </a:solidFill>
                <a:latin typeface="Times New Roman" panose="02020603050405020304" pitchFamily="18" charset="0"/>
                <a:cs typeface="Times New Roman" panose="02020603050405020304" pitchFamily="18" charset="0"/>
              </a:rPr>
              <a:t>FinBERT</a:t>
            </a:r>
            <a:r>
              <a:rPr lang="en-US" sz="1600" dirty="0">
                <a:solidFill>
                  <a:schemeClr val="tx1"/>
                </a:solidFill>
                <a:latin typeface="Times New Roman" panose="02020603050405020304" pitchFamily="18" charset="0"/>
                <a:cs typeface="Times New Roman" panose="02020603050405020304" pitchFamily="18" charset="0"/>
              </a:rPr>
              <a:t> to predict the stock price of top banks in the Dhaka stock exchange,” in 2024 IEEE/ACIS 24th International Conference on Computer and Information Science (ICIS), 2024, pp. 121–126. </a:t>
            </a:r>
          </a:p>
          <a:p>
            <a:pPr marL="0" indent="0" algn="just">
              <a:buNone/>
            </a:pPr>
            <a:endParaRPr lang="en-US" sz="1600"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sz="1600" dirty="0">
                <a:solidFill>
                  <a:schemeClr val="tx1"/>
                </a:solidFill>
                <a:latin typeface="Times New Roman" panose="02020603050405020304" pitchFamily="18" charset="0"/>
                <a:cs typeface="Times New Roman" panose="02020603050405020304" pitchFamily="18" charset="0"/>
              </a:rPr>
              <a:t>[9] T. Muhammad et al., “Transformer-based deep learning model for stock price prediction: A case study on Bangladesh stock market,” </a:t>
            </a:r>
            <a:r>
              <a:rPr lang="en-US" sz="1600" dirty="0" err="1">
                <a:solidFill>
                  <a:schemeClr val="tx1"/>
                </a:solidFill>
                <a:latin typeface="Times New Roman" panose="02020603050405020304" pitchFamily="18" charset="0"/>
                <a:cs typeface="Times New Roman" panose="02020603050405020304" pitchFamily="18" charset="0"/>
              </a:rPr>
              <a:t>arXiv</a:t>
            </a:r>
            <a:r>
              <a:rPr lang="en-US" sz="1600" dirty="0">
                <a:solidFill>
                  <a:schemeClr val="tx1"/>
                </a:solidFill>
                <a:latin typeface="Times New Roman" panose="02020603050405020304" pitchFamily="18" charset="0"/>
                <a:cs typeface="Times New Roman" panose="02020603050405020304" pitchFamily="18" charset="0"/>
              </a:rPr>
              <a:t> [q-fin.ST], 2022. </a:t>
            </a:r>
          </a:p>
          <a:p>
            <a:pPr marL="0" indent="0" algn="just">
              <a:buNone/>
            </a:pPr>
            <a:endParaRPr lang="en-US" sz="1600"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sz="1600" dirty="0">
                <a:solidFill>
                  <a:schemeClr val="tx1"/>
                </a:solidFill>
                <a:latin typeface="Times New Roman" panose="02020603050405020304" pitchFamily="18" charset="0"/>
                <a:cs typeface="Times New Roman" panose="02020603050405020304" pitchFamily="18" charset="0"/>
              </a:rPr>
              <a:t>[10] M. A. Islam, M. R. Sikder, S. M. Ishtiaq, and A. Sattar, “Stock market prediction of Bangladesh using multivariate long short-term memory with sentiment identification,” Int. J. </a:t>
            </a:r>
            <a:r>
              <a:rPr lang="en-US" sz="1600" dirty="0" err="1">
                <a:solidFill>
                  <a:schemeClr val="tx1"/>
                </a:solidFill>
                <a:latin typeface="Times New Roman" panose="02020603050405020304" pitchFamily="18" charset="0"/>
                <a:cs typeface="Times New Roman" panose="02020603050405020304" pitchFamily="18" charset="0"/>
              </a:rPr>
              <a:t>Electr</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Comput</a:t>
            </a:r>
            <a:r>
              <a:rPr lang="en-US" sz="1600" dirty="0">
                <a:solidFill>
                  <a:schemeClr val="tx1"/>
                </a:solidFill>
                <a:latin typeface="Times New Roman" panose="02020603050405020304" pitchFamily="18" charset="0"/>
                <a:cs typeface="Times New Roman" panose="02020603050405020304" pitchFamily="18" charset="0"/>
              </a:rPr>
              <a:t>. Eng. (IJECE), vol. 13, no. 5, p. 5696, 2023.</a:t>
            </a:r>
          </a:p>
          <a:p>
            <a:pPr marL="0" indent="0" algn="just">
              <a:buNone/>
            </a:pPr>
            <a:endParaRPr lang="en-US" sz="1600"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sz="1600" dirty="0">
                <a:solidFill>
                  <a:schemeClr val="tx1"/>
                </a:solidFill>
                <a:latin typeface="Times New Roman" panose="02020603050405020304" pitchFamily="18" charset="0"/>
                <a:cs typeface="Times New Roman" panose="02020603050405020304" pitchFamily="18" charset="0"/>
              </a:rPr>
              <a:t>[11] M. N. R. Khan, O. Al Tanim, M. S. Salsabil, S. M. R. Reza, K. M. Hasib, and M. S. Alam, “A multi-modal deep learning approach for predicting Dhaka stock exchange,” in 2023 IEEE 13th Annual Computing and Communication Workshop and Conference (CCWC), 2023, pp. 0879–0885. </a:t>
            </a:r>
          </a:p>
          <a:p>
            <a:pPr marL="0" indent="0" algn="just">
              <a:buNone/>
            </a:pPr>
            <a:endParaRPr lang="en-US" sz="1600" dirty="0">
              <a:solidFill>
                <a:schemeClr val="tx1"/>
              </a:solidFill>
              <a:latin typeface="Times New Roman" panose="02020603050405020304" pitchFamily="18" charset="0"/>
              <a:cs typeface="Times New Roman" panose="02020603050405020304" pitchFamily="18" charset="0"/>
            </a:endParaRPr>
          </a:p>
          <a:p>
            <a:pPr marL="0" indent="0" algn="just">
              <a:buNone/>
            </a:pPr>
            <a:r>
              <a:rPr lang="en-US" sz="1600" dirty="0">
                <a:solidFill>
                  <a:schemeClr val="tx1"/>
                </a:solidFill>
                <a:latin typeface="Times New Roman" panose="02020603050405020304" pitchFamily="18" charset="0"/>
                <a:cs typeface="Times New Roman" panose="02020603050405020304" pitchFamily="18" charset="0"/>
              </a:rPr>
              <a:t>[12] M. S. I. Yousuf, S. M. R. H. </a:t>
            </a:r>
            <a:r>
              <a:rPr lang="en-US" sz="1600" dirty="0" err="1">
                <a:solidFill>
                  <a:schemeClr val="tx1"/>
                </a:solidFill>
                <a:latin typeface="Times New Roman" panose="02020603050405020304" pitchFamily="18" charset="0"/>
                <a:cs typeface="Times New Roman" panose="02020603050405020304" pitchFamily="18" charset="0"/>
              </a:rPr>
              <a:t>Nijhum</a:t>
            </a:r>
            <a:r>
              <a:rPr lang="en-US" sz="1600" dirty="0">
                <a:solidFill>
                  <a:schemeClr val="tx1"/>
                </a:solidFill>
                <a:latin typeface="Times New Roman" panose="02020603050405020304" pitchFamily="18" charset="0"/>
                <a:cs typeface="Times New Roman" panose="02020603050405020304" pitchFamily="18" charset="0"/>
              </a:rPr>
              <a:t>, and M. I. Khan, “</a:t>
            </a:r>
            <a:r>
              <a:rPr lang="en-US" sz="1600" dirty="0" err="1">
                <a:solidFill>
                  <a:schemeClr val="tx1"/>
                </a:solidFill>
                <a:latin typeface="Times New Roman" panose="02020603050405020304" pitchFamily="18" charset="0"/>
                <a:cs typeface="Times New Roman" panose="02020603050405020304" pitchFamily="18" charset="0"/>
              </a:rPr>
              <a:t>HybStock</a:t>
            </a:r>
            <a:r>
              <a:rPr lang="en-US" sz="1600" dirty="0">
                <a:solidFill>
                  <a:schemeClr val="tx1"/>
                </a:solidFill>
                <a:latin typeface="Times New Roman" panose="02020603050405020304" pitchFamily="18" charset="0"/>
                <a:cs typeface="Times New Roman" panose="02020603050405020304" pitchFamily="18" charset="0"/>
              </a:rPr>
              <a:t>: A hybrid deep learning-based model to predict stock market on Dhaka stock exchange,” in 2024 6th International Conference on Electrical Engineering and Information &amp; Communication Technology (ICEEICT), 2024.</a:t>
            </a:r>
          </a:p>
        </p:txBody>
      </p:sp>
    </p:spTree>
    <p:extLst>
      <p:ext uri="{BB962C8B-B14F-4D97-AF65-F5344CB8AC3E}">
        <p14:creationId xmlns:p14="http://schemas.microsoft.com/office/powerpoint/2010/main" val="27148096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A1CDA-7AF6-2DE7-C89C-1A2601D64D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389690-4F09-4160-F5E4-D1F1979E37DB}"/>
              </a:ext>
            </a:extLst>
          </p:cNvPr>
          <p:cNvSpPr>
            <a:spLocks noGrp="1"/>
          </p:cNvSpPr>
          <p:nvPr>
            <p:ph type="title"/>
          </p:nvPr>
        </p:nvSpPr>
        <p:spPr>
          <a:xfrm>
            <a:off x="1981200" y="122238"/>
            <a:ext cx="8229600" cy="868362"/>
          </a:xfrm>
        </p:spPr>
        <p:txBody>
          <a:bodyPr/>
          <a:lstStyle/>
          <a:p>
            <a:r>
              <a:rPr lang="en-US" dirty="0">
                <a:solidFill>
                  <a:srgbClr val="7030A0"/>
                </a:solidFill>
                <a:latin typeface="Times New Roman" pitchFamily="18" charset="0"/>
                <a:cs typeface="Times New Roman" pitchFamily="18" charset="0"/>
              </a:rPr>
              <a:t>References</a:t>
            </a:r>
            <a:endParaRPr lang="en-US" dirty="0">
              <a:solidFill>
                <a:srgbClr val="7030A0"/>
              </a:solidFill>
            </a:endParaRPr>
          </a:p>
        </p:txBody>
      </p:sp>
      <p:sp>
        <p:nvSpPr>
          <p:cNvPr id="4" name="Slide Number Placeholder 3">
            <a:extLst>
              <a:ext uri="{FF2B5EF4-FFF2-40B4-BE49-F238E27FC236}">
                <a16:creationId xmlns:a16="http://schemas.microsoft.com/office/drawing/2014/main" id="{E35F2CE4-40AC-D3F9-697A-DD8977B68576}"/>
              </a:ext>
            </a:extLst>
          </p:cNvPr>
          <p:cNvSpPr>
            <a:spLocks noGrp="1"/>
          </p:cNvSpPr>
          <p:nvPr>
            <p:ph type="sldNum" sz="quarter" idx="16"/>
          </p:nvPr>
        </p:nvSpPr>
        <p:spPr>
          <a:xfrm>
            <a:off x="9347200" y="5959475"/>
            <a:ext cx="2844800" cy="365125"/>
          </a:xfrm>
        </p:spPr>
        <p:txBody>
          <a:bodyPr/>
          <a:lstStyle/>
          <a:p>
            <a:pPr>
              <a:defRPr/>
            </a:pPr>
            <a:fld id="{4CD333A3-7515-47B8-9EDC-EE0892D9C861}" type="slidenum">
              <a:rPr lang="en-US" smtClean="0"/>
              <a:pPr>
                <a:defRPr/>
              </a:pPr>
              <a:t>27</a:t>
            </a:fld>
            <a:endParaRPr lang="en-US" dirty="0"/>
          </a:p>
        </p:txBody>
      </p:sp>
      <p:sp>
        <p:nvSpPr>
          <p:cNvPr id="5" name="TextBox 4">
            <a:extLst>
              <a:ext uri="{FF2B5EF4-FFF2-40B4-BE49-F238E27FC236}">
                <a16:creationId xmlns:a16="http://schemas.microsoft.com/office/drawing/2014/main" id="{66C4DEE5-61E5-A287-4746-BC05C2D0151C}"/>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7" name="Content Placeholder 6">
            <a:extLst>
              <a:ext uri="{FF2B5EF4-FFF2-40B4-BE49-F238E27FC236}">
                <a16:creationId xmlns:a16="http://schemas.microsoft.com/office/drawing/2014/main" id="{871939FC-AF77-DDC9-F2D8-E7446E4CC2C1}"/>
              </a:ext>
            </a:extLst>
          </p:cNvPr>
          <p:cNvSpPr>
            <a:spLocks noGrp="1"/>
          </p:cNvSpPr>
          <p:nvPr>
            <p:ph sz="quarter" idx="13"/>
          </p:nvPr>
        </p:nvSpPr>
        <p:spPr>
          <a:xfrm>
            <a:off x="457200" y="914400"/>
            <a:ext cx="11125200" cy="5410200"/>
          </a:xfrm>
        </p:spPr>
        <p:txBody>
          <a:bodyPr>
            <a:normAutofit fontScale="92500" lnSpcReduction="10000"/>
          </a:bodyPr>
          <a:lstStyle/>
          <a:p>
            <a:pPr marL="0" indent="0">
              <a:buNone/>
            </a:pPr>
            <a:r>
              <a:rPr lang="en-US" sz="1600" dirty="0">
                <a:solidFill>
                  <a:schemeClr val="tx1"/>
                </a:solidFill>
                <a:latin typeface="Times New Roman" panose="02020603050405020304" pitchFamily="18" charset="0"/>
                <a:cs typeface="Times New Roman" panose="02020603050405020304" pitchFamily="18" charset="0"/>
              </a:rPr>
              <a:t>[13] M. Z. Islam, Gannon University, PA, USA. BBA- Accounting &amp; Information Systems (AIS), United International University, MBA- Accounting &amp; Information Systems (AIS), University of Dhaka, Dhaka, Bangladesh, M. M. H. Chowdhury, M. M. Sarker, Business Development Manager, UNICAP Securities Limited, Dhaka, Bangladesh. MBA-Northern University Bangladesh. BBS-Accounting, Government College of Commerce, Chattogram. Under the National University, Bangladesh, and Executive Commercial, Bengal Group of Industries, Dhaka, Bangladesh. MBA. </a:t>
            </a:r>
            <a:r>
              <a:rPr lang="en-US" sz="1600" dirty="0" err="1">
                <a:solidFill>
                  <a:schemeClr val="tx1"/>
                </a:solidFill>
                <a:latin typeface="Times New Roman" panose="02020603050405020304" pitchFamily="18" charset="0"/>
                <a:cs typeface="Times New Roman" panose="02020603050405020304" pitchFamily="18" charset="0"/>
              </a:rPr>
              <a:t>BSSAccounting</a:t>
            </a:r>
            <a:r>
              <a:rPr lang="en-US" sz="1600" dirty="0">
                <a:solidFill>
                  <a:schemeClr val="tx1"/>
                </a:solidFill>
                <a:latin typeface="Times New Roman" panose="02020603050405020304" pitchFamily="18" charset="0"/>
                <a:cs typeface="Times New Roman" panose="02020603050405020304" pitchFamily="18" charset="0"/>
              </a:rPr>
              <a:t>, University of Chittagong, Bangladesh. “The impact of big data analytics on stock price prediction in the Bangladesh stock market: A machine learning approach,” International Journal of Science and Business, vol. 28, no. 1, pp. 219– 228, 2023.</a:t>
            </a:r>
          </a:p>
          <a:p>
            <a:pPr marL="0" indent="0">
              <a:buNone/>
            </a:pPr>
            <a:endParaRPr lang="en-US" sz="1600" dirty="0">
              <a:solidFill>
                <a:schemeClr val="tx1"/>
              </a:solidFill>
              <a:latin typeface="Times New Roman" panose="02020603050405020304" pitchFamily="18" charset="0"/>
              <a:cs typeface="Times New Roman" panose="02020603050405020304" pitchFamily="18" charset="0"/>
            </a:endParaRPr>
          </a:p>
          <a:p>
            <a:pPr marL="0" indent="0">
              <a:buNone/>
            </a:pPr>
            <a:r>
              <a:rPr lang="en-US" sz="1600" dirty="0">
                <a:solidFill>
                  <a:schemeClr val="tx1"/>
                </a:solidFill>
                <a:latin typeface="Times New Roman" panose="02020603050405020304" pitchFamily="18" charset="0"/>
                <a:cs typeface="Times New Roman" panose="02020603050405020304" pitchFamily="18" charset="0"/>
              </a:rPr>
              <a:t> [14] S. Islam, M. S. Sikder, M. F. Hossain, and P. Chakraborty, “Predicting the daily closing price of selected shares on the Dhaka Stock Exchange using machine learning techniques,” SN Bus. Econ., vol. 1, no. 4, 2021. </a:t>
            </a:r>
          </a:p>
          <a:p>
            <a:pPr marL="0" indent="0">
              <a:buNone/>
            </a:pPr>
            <a:endParaRPr lang="en-US" sz="1600" dirty="0">
              <a:solidFill>
                <a:schemeClr val="tx1"/>
              </a:solidFill>
              <a:latin typeface="Times New Roman" panose="02020603050405020304" pitchFamily="18" charset="0"/>
              <a:cs typeface="Times New Roman" panose="02020603050405020304" pitchFamily="18" charset="0"/>
            </a:endParaRPr>
          </a:p>
          <a:p>
            <a:pPr marL="0" indent="0">
              <a:buNone/>
            </a:pPr>
            <a:r>
              <a:rPr lang="en-US" sz="1600" dirty="0">
                <a:solidFill>
                  <a:schemeClr val="tx1"/>
                </a:solidFill>
                <a:latin typeface="Times New Roman" panose="02020603050405020304" pitchFamily="18" charset="0"/>
                <a:cs typeface="Times New Roman" panose="02020603050405020304" pitchFamily="18" charset="0"/>
              </a:rPr>
              <a:t>[15] R. Parvin, “The relationship between Bangladesh’s financial development, exchange rates, and stock market capitalization: An empirical study using the NARDL model and machine learning,” </a:t>
            </a:r>
            <a:r>
              <a:rPr lang="en-US" sz="1600" dirty="0" err="1">
                <a:solidFill>
                  <a:schemeClr val="tx1"/>
                </a:solidFill>
                <a:latin typeface="Times New Roman" panose="02020603050405020304" pitchFamily="18" charset="0"/>
                <a:cs typeface="Times New Roman" panose="02020603050405020304" pitchFamily="18" charset="0"/>
              </a:rPr>
              <a:t>Pertanika</a:t>
            </a:r>
            <a:r>
              <a:rPr lang="en-US" sz="1600" dirty="0">
                <a:solidFill>
                  <a:schemeClr val="tx1"/>
                </a:solidFill>
                <a:latin typeface="Times New Roman" panose="02020603050405020304" pitchFamily="18" charset="0"/>
                <a:cs typeface="Times New Roman" panose="02020603050405020304" pitchFamily="18" charset="0"/>
              </a:rPr>
              <a:t> J. Sci. Technol., vol. 30, no. 4, pp. 2493–2508, 2022. </a:t>
            </a:r>
          </a:p>
          <a:p>
            <a:pPr marL="0" indent="0">
              <a:buNone/>
            </a:pPr>
            <a:endParaRPr lang="en-US" sz="1600" dirty="0">
              <a:solidFill>
                <a:schemeClr val="tx1"/>
              </a:solidFill>
              <a:latin typeface="Times New Roman" panose="02020603050405020304" pitchFamily="18" charset="0"/>
              <a:cs typeface="Times New Roman" panose="02020603050405020304" pitchFamily="18" charset="0"/>
            </a:endParaRPr>
          </a:p>
          <a:p>
            <a:pPr marL="0" indent="0">
              <a:buNone/>
            </a:pPr>
            <a:r>
              <a:rPr lang="en-US" sz="1600" dirty="0">
                <a:solidFill>
                  <a:schemeClr val="tx1"/>
                </a:solidFill>
                <a:latin typeface="Times New Roman" panose="02020603050405020304" pitchFamily="18" charset="0"/>
                <a:cs typeface="Times New Roman" panose="02020603050405020304" pitchFamily="18" charset="0"/>
              </a:rPr>
              <a:t>[16] M. N. R. Khan, S. M. R. Reza, O. Al Tanim, M. S. Salsabil, K. M. Hasib, and M. S. Alam, “A hybrid method based on machine learning to predict the stock prices in Bangladesh,” in 2022 IEEE 13th Annual Information Technology, Electronics and Mobile Communication Conference (IEMCON), 2022.</a:t>
            </a:r>
          </a:p>
          <a:p>
            <a:pPr marL="0" indent="0">
              <a:buNone/>
            </a:pPr>
            <a:endParaRPr lang="en-US" sz="1600" dirty="0">
              <a:solidFill>
                <a:schemeClr val="tx1"/>
              </a:solidFill>
              <a:latin typeface="Times New Roman" panose="02020603050405020304" pitchFamily="18" charset="0"/>
              <a:cs typeface="Times New Roman" panose="02020603050405020304" pitchFamily="18" charset="0"/>
            </a:endParaRPr>
          </a:p>
          <a:p>
            <a:pPr marL="0" indent="0">
              <a:buNone/>
            </a:pPr>
            <a:r>
              <a:rPr lang="en-US" sz="1600" dirty="0">
                <a:solidFill>
                  <a:schemeClr val="tx1"/>
                </a:solidFill>
                <a:latin typeface="Times New Roman" panose="02020603050405020304" pitchFamily="18" charset="0"/>
                <a:cs typeface="Times New Roman" panose="02020603050405020304" pitchFamily="18" charset="0"/>
              </a:rPr>
              <a:t>[17] A. I. Kabir, S. Vyas, S. Mitra, M. M. Uddin, and </a:t>
            </a:r>
            <a:r>
              <a:rPr lang="en-US" sz="1600" dirty="0" err="1">
                <a:solidFill>
                  <a:schemeClr val="tx1"/>
                </a:solidFill>
                <a:latin typeface="Times New Roman" panose="02020603050405020304" pitchFamily="18" charset="0"/>
                <a:cs typeface="Times New Roman" panose="02020603050405020304" pitchFamily="18" charset="0"/>
              </a:rPr>
              <a:t>Jakowan</a:t>
            </a:r>
            <a:r>
              <a:rPr lang="en-US" sz="1600" dirty="0">
                <a:solidFill>
                  <a:schemeClr val="tx1"/>
                </a:solidFill>
                <a:latin typeface="Times New Roman" panose="02020603050405020304" pitchFamily="18" charset="0"/>
                <a:cs typeface="Times New Roman" panose="02020603050405020304" pitchFamily="18" charset="0"/>
              </a:rPr>
              <a:t>, “Evaluating the machine learning-based momentum stock trading strategies with back-testing: An emerging market perspective,” in AIP Conference Proceedings, 2024, vol. 2919, p. 090001. </a:t>
            </a:r>
          </a:p>
          <a:p>
            <a:pPr marL="0" indent="0">
              <a:buNone/>
            </a:pPr>
            <a:endParaRPr lang="en-US" sz="1600" dirty="0">
              <a:solidFill>
                <a:schemeClr val="tx1"/>
              </a:solidFill>
              <a:latin typeface="Times New Roman" panose="02020603050405020304" pitchFamily="18" charset="0"/>
              <a:cs typeface="Times New Roman" panose="02020603050405020304" pitchFamily="18" charset="0"/>
            </a:endParaRPr>
          </a:p>
          <a:p>
            <a:pPr marL="0" indent="0">
              <a:buNone/>
            </a:pPr>
            <a:r>
              <a:rPr lang="en-US" sz="1600" dirty="0">
                <a:solidFill>
                  <a:schemeClr val="tx1"/>
                </a:solidFill>
                <a:latin typeface="Times New Roman" panose="02020603050405020304" pitchFamily="18" charset="0"/>
                <a:cs typeface="Times New Roman" panose="02020603050405020304" pitchFamily="18" charset="0"/>
              </a:rPr>
              <a:t>[18] A. Mahmud, “Unveiling the Drivers of Stock Prices and Volatility in the Banking Sector of Bangladesh: An Explainable Machine Learning Approach,” 2025, p. Vol 14, Issue 1 &amp; 2.</a:t>
            </a:r>
          </a:p>
        </p:txBody>
      </p:sp>
    </p:spTree>
    <p:extLst>
      <p:ext uri="{BB962C8B-B14F-4D97-AF65-F5344CB8AC3E}">
        <p14:creationId xmlns:p14="http://schemas.microsoft.com/office/powerpoint/2010/main" val="40262650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0B510-6A64-A647-B36B-DB3A4C2C50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E6E96A-825B-C3B8-D5A9-96F01E3A97D8}"/>
              </a:ext>
            </a:extLst>
          </p:cNvPr>
          <p:cNvSpPr>
            <a:spLocks noGrp="1"/>
          </p:cNvSpPr>
          <p:nvPr>
            <p:ph type="title"/>
          </p:nvPr>
        </p:nvSpPr>
        <p:spPr>
          <a:xfrm>
            <a:off x="1981200" y="122238"/>
            <a:ext cx="8229600" cy="868362"/>
          </a:xfrm>
        </p:spPr>
        <p:txBody>
          <a:bodyPr/>
          <a:lstStyle/>
          <a:p>
            <a:r>
              <a:rPr lang="en-US" dirty="0">
                <a:solidFill>
                  <a:srgbClr val="7030A0"/>
                </a:solidFill>
                <a:latin typeface="Times New Roman" pitchFamily="18" charset="0"/>
                <a:cs typeface="Times New Roman" pitchFamily="18" charset="0"/>
              </a:rPr>
              <a:t>Drive Link</a:t>
            </a:r>
            <a:endParaRPr lang="en-US" dirty="0">
              <a:solidFill>
                <a:srgbClr val="7030A0"/>
              </a:solidFill>
            </a:endParaRPr>
          </a:p>
        </p:txBody>
      </p:sp>
      <p:sp>
        <p:nvSpPr>
          <p:cNvPr id="4" name="Slide Number Placeholder 3">
            <a:extLst>
              <a:ext uri="{FF2B5EF4-FFF2-40B4-BE49-F238E27FC236}">
                <a16:creationId xmlns:a16="http://schemas.microsoft.com/office/drawing/2014/main" id="{6729645F-F951-0788-3505-1C3E0F2FD2C0}"/>
              </a:ext>
            </a:extLst>
          </p:cNvPr>
          <p:cNvSpPr>
            <a:spLocks noGrp="1"/>
          </p:cNvSpPr>
          <p:nvPr>
            <p:ph type="sldNum" sz="quarter" idx="16"/>
          </p:nvPr>
        </p:nvSpPr>
        <p:spPr>
          <a:xfrm>
            <a:off x="9347200" y="5959475"/>
            <a:ext cx="2844800" cy="365125"/>
          </a:xfrm>
        </p:spPr>
        <p:txBody>
          <a:bodyPr/>
          <a:lstStyle/>
          <a:p>
            <a:pPr>
              <a:defRPr/>
            </a:pPr>
            <a:fld id="{4CD333A3-7515-47B8-9EDC-EE0892D9C861}" type="slidenum">
              <a:rPr lang="en-US" smtClean="0"/>
              <a:pPr>
                <a:defRPr/>
              </a:pPr>
              <a:t>28</a:t>
            </a:fld>
            <a:endParaRPr lang="en-US" dirty="0"/>
          </a:p>
        </p:txBody>
      </p:sp>
      <p:sp>
        <p:nvSpPr>
          <p:cNvPr id="5" name="TextBox 4">
            <a:extLst>
              <a:ext uri="{FF2B5EF4-FFF2-40B4-BE49-F238E27FC236}">
                <a16:creationId xmlns:a16="http://schemas.microsoft.com/office/drawing/2014/main" id="{3D1EA9AA-18CD-7FB2-6C33-F6D49BF8133D}"/>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
        <p:nvSpPr>
          <p:cNvPr id="7" name="Content Placeholder 6">
            <a:extLst>
              <a:ext uri="{FF2B5EF4-FFF2-40B4-BE49-F238E27FC236}">
                <a16:creationId xmlns:a16="http://schemas.microsoft.com/office/drawing/2014/main" id="{AA8A7E54-FFA3-2ED8-E1AB-448A4F7BAEE5}"/>
              </a:ext>
            </a:extLst>
          </p:cNvPr>
          <p:cNvSpPr>
            <a:spLocks noGrp="1"/>
          </p:cNvSpPr>
          <p:nvPr>
            <p:ph sz="quarter" idx="13"/>
          </p:nvPr>
        </p:nvSpPr>
        <p:spPr>
          <a:xfrm>
            <a:off x="1181100" y="1299607"/>
            <a:ext cx="9372600" cy="4572000"/>
          </a:xfrm>
        </p:spPr>
        <p:txBody>
          <a:bodyPr>
            <a:normAutofit/>
          </a:bodyPr>
          <a:lstStyle/>
          <a:p>
            <a:pPr marL="0" indent="0">
              <a:buNone/>
            </a:pPr>
            <a:r>
              <a:rPr lang="en-US" sz="2800" dirty="0">
                <a:solidFill>
                  <a:schemeClr val="tx1"/>
                </a:solidFill>
                <a:latin typeface="Times New Roman" panose="02020603050405020304" pitchFamily="18" charset="0"/>
                <a:cs typeface="Times New Roman" panose="02020603050405020304" pitchFamily="18" charset="0"/>
                <a:hlinkClick r:id="rId2"/>
              </a:rPr>
              <a:t>Drive link</a:t>
            </a:r>
            <a:endParaRPr lang="en-US" sz="2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55207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lstStyle/>
          <a:p>
            <a:endParaRPr lang="en-US" dirty="0">
              <a:solidFill>
                <a:srgbClr val="7030A0"/>
              </a:solidFill>
            </a:endParaRPr>
          </a:p>
        </p:txBody>
      </p:sp>
      <p:sp>
        <p:nvSpPr>
          <p:cNvPr id="3" name="Content Placeholder 2"/>
          <p:cNvSpPr>
            <a:spLocks noGrp="1"/>
          </p:cNvSpPr>
          <p:nvPr>
            <p:ph sz="quarter" idx="13"/>
          </p:nvPr>
        </p:nvSpPr>
        <p:spPr/>
        <p:txBody>
          <a:bodyPr>
            <a:normAutofit/>
          </a:bodyPr>
          <a:lstStyle/>
          <a:p>
            <a:pPr marL="0" indent="0" algn="ctr">
              <a:buNone/>
            </a:pPr>
            <a:endParaRPr lang="en-US" sz="6000" b="1" dirty="0">
              <a:solidFill>
                <a:srgbClr val="7030A0"/>
              </a:solidFill>
              <a:latin typeface="Times New Roman" pitchFamily="18" charset="0"/>
              <a:cs typeface="Times New Roman" pitchFamily="18" charset="0"/>
            </a:endParaRPr>
          </a:p>
          <a:p>
            <a:pPr marL="0" indent="0" algn="ctr">
              <a:buNone/>
            </a:pPr>
            <a:r>
              <a:rPr lang="en-US" sz="6000" b="1" dirty="0">
                <a:solidFill>
                  <a:srgbClr val="7030A0"/>
                </a:solidFill>
                <a:latin typeface="Times New Roman" pitchFamily="18" charset="0"/>
                <a:cs typeface="Times New Roman" pitchFamily="18" charset="0"/>
              </a:rPr>
              <a:t>THANK YOU</a:t>
            </a:r>
          </a:p>
          <a:p>
            <a:pPr marL="0" indent="0" algn="r">
              <a:buNone/>
            </a:pPr>
            <a:endParaRPr lang="en-US" sz="3000" dirty="0">
              <a:solidFill>
                <a:schemeClr val="tx1"/>
              </a:solidFill>
              <a:latin typeface="Times New Roman" pitchFamily="18" charset="0"/>
              <a:cs typeface="Times New Roman" pitchFamily="18" charset="0"/>
            </a:endParaRPr>
          </a:p>
        </p:txBody>
      </p:sp>
      <p:sp>
        <p:nvSpPr>
          <p:cNvPr id="4" name="Slide Number Placeholder 3"/>
          <p:cNvSpPr>
            <a:spLocks noGrp="1"/>
          </p:cNvSpPr>
          <p:nvPr>
            <p:ph type="sldNum" sz="quarter" idx="16"/>
          </p:nvPr>
        </p:nvSpPr>
        <p:spPr>
          <a:xfrm>
            <a:off x="9350248" y="5959475"/>
            <a:ext cx="2844800" cy="365125"/>
          </a:xfrm>
        </p:spPr>
        <p:txBody>
          <a:bodyPr/>
          <a:lstStyle/>
          <a:p>
            <a:pPr>
              <a:defRPr/>
            </a:pPr>
            <a:fld id="{4CD333A3-7515-47B8-9EDC-EE0892D9C861}" type="slidenum">
              <a:rPr lang="en-US" smtClean="0"/>
              <a:pPr>
                <a:defRPr/>
              </a:pPr>
              <a:t>29</a:t>
            </a:fld>
            <a:endParaRPr lang="en-US" dirty="0"/>
          </a:p>
        </p:txBody>
      </p:sp>
      <p:sp>
        <p:nvSpPr>
          <p:cNvPr id="5" name="TextBox 4">
            <a:extLst>
              <a:ext uri="{FF2B5EF4-FFF2-40B4-BE49-F238E27FC236}">
                <a16:creationId xmlns:a16="http://schemas.microsoft.com/office/drawing/2014/main" id="{2EBB629C-0461-0D8C-DA5C-C136AD5443E5}"/>
              </a:ext>
            </a:extLst>
          </p:cNvPr>
          <p:cNvSpPr txBox="1"/>
          <p:nvPr/>
        </p:nvSpPr>
        <p:spPr>
          <a:xfrm>
            <a:off x="8915400" y="6412468"/>
            <a:ext cx="3276600" cy="369332"/>
          </a:xfrm>
          <a:prstGeom prst="rect">
            <a:avLst/>
          </a:prstGeom>
          <a:solidFill>
            <a:srgbClr val="4F81BD"/>
          </a:solidFill>
        </p:spPr>
        <p:txBody>
          <a:bodyPr wrap="square" rtlCol="0">
            <a:spAutoFit/>
          </a:bodyPr>
          <a:lstStyle/>
          <a:p>
            <a:pPr algn="r"/>
            <a:r>
              <a:rPr lang="en-US" b="1" dirty="0">
                <a:solidFill>
                  <a:schemeClr val="bg1"/>
                </a:solidFill>
              </a:rPr>
              <a:t>B.Sc. Final-Defense</a:t>
            </a:r>
          </a:p>
        </p:txBody>
      </p:sp>
    </p:spTree>
    <p:extLst>
      <p:ext uri="{BB962C8B-B14F-4D97-AF65-F5344CB8AC3E}">
        <p14:creationId xmlns:p14="http://schemas.microsoft.com/office/powerpoint/2010/main" val="2459516608"/>
      </p:ext>
    </p:extLst>
  </p:cSld>
  <p:clrMapOvr>
    <a:masterClrMapping/>
  </p:clrMapOvr>
</p:sld>
</file>

<file path=ppt/theme/theme1.xml><?xml version="1.0" encoding="utf-8"?>
<a:theme xmlns:a="http://schemas.openxmlformats.org/drawingml/2006/main" name="New Microsoft PowerPoint Presentati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New Microsoft PowerPoint Presentation</Template>
  <TotalTime>1750</TotalTime>
  <Words>3306</Words>
  <Application>Microsoft Office PowerPoint</Application>
  <PresentationFormat>Widescreen</PresentationFormat>
  <Paragraphs>461</Paragraphs>
  <Slides>29</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29</vt:i4>
      </vt:variant>
    </vt:vector>
  </HeadingPairs>
  <TitlesOfParts>
    <vt:vector size="34" baseType="lpstr">
      <vt:lpstr>Arial</vt:lpstr>
      <vt:lpstr>Calibri</vt:lpstr>
      <vt:lpstr>Times New Roman</vt:lpstr>
      <vt:lpstr>Wingdings</vt:lpstr>
      <vt:lpstr>New Microsoft PowerPoint Presentation</vt:lpstr>
      <vt:lpstr>Evaluating the Consistency of Machine Learning and Deep Learning Models for Banking Stock Prediction Under Feature-Engineered Conditions: A Multi-Bank Study in Bangladesh</vt:lpstr>
      <vt:lpstr>Outline</vt:lpstr>
      <vt:lpstr>Introduction</vt:lpstr>
      <vt:lpstr>Objective</vt:lpstr>
      <vt:lpstr>Background Study</vt:lpstr>
      <vt:lpstr>Background Study</vt:lpstr>
      <vt:lpstr>Background Study</vt:lpstr>
      <vt:lpstr>Background Study</vt:lpstr>
      <vt:lpstr>Background Study</vt:lpstr>
      <vt:lpstr>Background Study</vt:lpstr>
      <vt:lpstr>Gap Analysis</vt:lpstr>
      <vt:lpstr>Methodology</vt:lpstr>
      <vt:lpstr>Feature Engineering</vt:lpstr>
      <vt:lpstr>Model Architecture</vt:lpstr>
      <vt:lpstr>Model Architecture</vt:lpstr>
      <vt:lpstr>Result and Analysis</vt:lpstr>
      <vt:lpstr>Result and Analysis</vt:lpstr>
      <vt:lpstr>Result and Analysis</vt:lpstr>
      <vt:lpstr>BRAC BANK</vt:lpstr>
      <vt:lpstr>CITY BANK</vt:lpstr>
      <vt:lpstr>EASTERN BANK</vt:lpstr>
      <vt:lpstr>Novelty of the Work</vt:lpstr>
      <vt:lpstr>Sample dataset</vt:lpstr>
      <vt:lpstr>Conclusion</vt:lpstr>
      <vt:lpstr>References</vt:lpstr>
      <vt:lpstr>References</vt:lpstr>
      <vt:lpstr>References</vt:lpstr>
      <vt:lpstr>Drive Link</vt:lpstr>
      <vt:lpstr>PowerPoint Presentation</vt:lpstr>
    </vt:vector>
  </TitlesOfParts>
  <Company>Acer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Valued Acer Customer</dc:creator>
  <cp:lastModifiedBy>Abu Obayed</cp:lastModifiedBy>
  <cp:revision>283</cp:revision>
  <dcterms:created xsi:type="dcterms:W3CDTF">2011-07-17T02:56:35Z</dcterms:created>
  <dcterms:modified xsi:type="dcterms:W3CDTF">2026-05-09T06:12:58Z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0-bc88714345d2_Enabled">
    <vt:lpwstr>true</vt:lpwstr>
  </property>
  <property fmtid="{D5CDD505-2E9C-101B-9397-08002B2CF9AE}" pid="3" name="MSIP_Label_defa4170-0d19-0005-0000-bc88714345d2_SetDate">
    <vt:lpwstr>2026-05-09T05:44:41Z</vt:lpwstr>
  </property>
  <property fmtid="{D5CDD505-2E9C-101B-9397-08002B2CF9AE}" pid="4" name="MSIP_Label_defa4170-0d19-0005-0000-bc88714345d2_Method">
    <vt:lpwstr>Privileged</vt:lpwstr>
  </property>
  <property fmtid="{D5CDD505-2E9C-101B-9397-08002B2CF9AE}" pid="5" name="MSIP_Label_defa4170-0d19-0005-0000-bc88714345d2_Name">
    <vt:lpwstr>defa4170-0d19-0005-0000-bc88714345d2</vt:lpwstr>
  </property>
  <property fmtid="{D5CDD505-2E9C-101B-9397-08002B2CF9AE}" pid="6" name="MSIP_Label_defa4170-0d19-0005-0000-bc88714345d2_SiteId">
    <vt:lpwstr>70eb603e-6e91-45d9-aaa1-ec6691e167fa</vt:lpwstr>
  </property>
  <property fmtid="{D5CDD505-2E9C-101B-9397-08002B2CF9AE}" pid="7" name="MSIP_Label_defa4170-0d19-0005-0000-bc88714345d2_ActionId">
    <vt:lpwstr>619751a7-e387-496d-a6ca-58a43767ba50</vt:lpwstr>
  </property>
  <property fmtid="{D5CDD505-2E9C-101B-9397-08002B2CF9AE}" pid="8" name="MSIP_Label_defa4170-0d19-0005-0000-bc88714345d2_ContentBits">
    <vt:lpwstr>0</vt:lpwstr>
  </property>
  <property fmtid="{D5CDD505-2E9C-101B-9397-08002B2CF9AE}" pid="9" name="MSIP_Label_defa4170-0d19-0005-0000-bc88714345d2_Tag">
    <vt:lpwstr>10, 0, 1, 1</vt:lpwstr>
  </property>
</Properties>
</file>